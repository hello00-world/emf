
<file path=[Content_Types].xml><?xml version="1.0" encoding="utf-8"?>
<Types xmlns="http://schemas.openxmlformats.org/package/2006/content-types">
  <Default Extension="jpg" ContentType="image/jp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3" d="100"/>
          <a:sy n="73" d="100"/>
        </p:scale>
        <p:origin x="4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111515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스마트폰 센서만으로 학습 집중 환경을 측정하는 안드로이드 앱, EMF Quantum Focus를 소개합니다. 자기장과 움직임을 재서 '지금 이 자리'의 집중 환경을 숫자와 맵으로 보여 줍니다.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공부를 방해하는 요인은 소음, 폰 사용, 주변 전자기기처럼 여러 가지가 겹칩니다. 기존 집중 앱은 타이머나 차단 중심이라 '지금 이 자리'의 환경 자체는 재지 않습니다. 전문 EMF 계측기는 비싸고 일상 학습에 맞지 않죠. 그래서 스마트폰만으로 환경을 상대 비교하는 도구를 만들었습니다.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앱의 핵심 독창성은 다섯 가지입니다. 자기장 데이터를 Focus Score로 묶어 집중 세션·알림과 연동했고, 원시 센서는 온디바이스로만 처리합니다. 홈·AR·미니맵의 3모드 시각화, 8자 보정 기반 상대 비교, 그리고 사용자가 고르는 민감도 프리셋입니다. 집중 타이머가 아니라 내 자리의 환경을 재는 집중 코치입니다.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핵심 기능은 홈 화면, 몰입 대시보드입니다. 실시간 0~100 Focus Score 게이지가 이중 링으로 표시되고, 25분 집중 세션을 시작·종료할 수 있습니다. 점수가 임계 이하로 떨어지면 알림 모드가 작동하고, 오늘의 집중 통계가 로컬에 저장됩니다. 다른 탭으로 이동해도 세션과 알림은 계속 유지됩니다.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번째는 공간 시각화 3모드입니다. AR EMF 스캔은 카메라 영상 위에 자기장 크기·방향을 색과 곡선, 화살표로 겹쳐 보여 줍니다. EMF 미니맵은 책상을 위에서 내려본 탑다운 지도로 EMF 피크와 완성도를 누적합니다. 집중 구역 찾기는 주변을 걸으며 스캔해 Focus Score가 가장 높은 위치를 찾아 줍니다. 화면처럼 95.9점 구역을 잡아냈죠.</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동작 원리 첫 번째, 센서와 신호 처리입니다. 핵심 입력은 3축 마그네토미터, 위치 추정용 선형 가속도, 그리고 AR 배경용 후면 카메라입니다. 신호는 8자 보정으로 기기 오프셋을 지우고, 롤링 평균으로 DC를 제거한 뒤 고역 통과 필터를 거칩니다. 크기와 분산을 구하고 128점 FFT로 50·60Hz 전력선 비율을 추정합니다. 중요한 건, 폰이 있는 그 위치의 자기장만 잰다는 점입니다.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원리 두 번째는 Focus Score와 알림입니다. 점수는 100점에서 자기장 변동, 전력선 비율, 움직임, 맵 미완성도를 가중치만큼 빼서 계산합니다. 오른쪽 영상은 실측인데, 전자기기에 가까이 가자 점수가 급락하고 임계 경고가 떴습니다. 알림은 1초마다 검사하고, 한 번 닫으면 기준보다 4점 이상 회복했다가 다시 떨어져야 재알림이 뜨는 히스테리시스를 둡니다. 영상을 클릭해 재생해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원리 세 번째, AR 오버레이와 구역 스캔입니다. AR은 카메라 프리뷰 위에 2D 그림을 겹치는 방식으로, ARCore나 ARKit을 쓰는 진짜 SLAM AR은 아닙니다. 마그네토미터의 방향 성분으로 화살표와 곡선을 그립니다. 영상을 클릭하면, 전자기력선이 초록에서 빨강으로 바뀌며 위험도가 올라가는 순간을 볼 수 있습니다. 구역 스캔은 시작점을 원점으로, 25cm 격자에 격자당 3샘플 이상 쌓아 최고 점수 위치를 찾습니다.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 스택입니다. 앱은 Flutter와 Dart, Material 3로 만들었고, 상태 관리는 provider의 EnvironmentProvider로 중앙 집중했습니다. 센서는 sensors_plus, 카메라는 camera와 permission_handler, 저장은 shared_preferences입니다. AI는 선택적으로 http를 통해 Gemini를 요약 통계에만 씁니다. FFT, HPF, 이동평균 같은 신호처리는 직접 구현했습니다. 전체 아키텍처는 센서에서 신호처리, provider를 거쳐 4탭 UI로 흐릅니다.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신뢰성 근거입니다. 이 앱의 신뢰성은 의학적·학업 성과 보장이 아니라, 측정 일관성과 투명한 한계 고지, 반복 가능한 상대 비교에서 나옵니다. 같은 조건에서 반복 측정의 일관성, 규칙 기반 알림, 한계의 투명한 고지는 보장합니다. 하지만 절대 EMF 정확도나 ICNIRP 준수, 학업 성과 인과, AR의 미터급 정밀도는 보장하지 않습니다. 설계 방향은 마그네토미터 보정 문헌, 인터럽션 비용 HCI, 인지부하·자기조절학습 이론이 간접적으로 뒷받침합니다.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한계점을 정직하게 말씀드립니다. 의료·계측기가 아니고 ICNIRP 밴드는 UX 참고용입니다. 자기장은 폰 위치 한 점만 재고, 카메라로 원격 측정하지 않습니다. 위치는 가속도 적분이라 장거리에서 드리프트가 생깁니다. AR은 3D 공간 고정 앵커가 없는 가짜 AR이고, Score 가중치는 벤치 튜닝 전이라 기기별 편차가 있습니다. Gemini는 키가 없으면 로컬 스텁으로 동작합니다. 한계를 숨기지 않는 것 자체가 이 제품의 신뢰성 전략입니다.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보완 방향은 곧 신뢰 근거를 더하는 일입니다. 정확도는 ARCore·ARKit SLAM 연동과 보정 강화로, 검증은 알림 ON·OFF와 자기보고를 보는 소규모 파일럿으로 채웁니다. UX는 홈 위젯과 사용자 정의 임계값, 알림 채널을, 프라이버시는 온디바이스 LLM 대체를 검토합니다. 설명력은 점수 하락 요인을 분해해 보여 주는 UI로, 플랫폼은 iOS IPA 빌드로 넓힙니다.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확장 가능성입니다. 수직으로는 개인화 Score와 주간 리포트, B2B 도서관·스터디카페 프리셋, OS 방해금지 연동이 있고, 수평으로는 센서 코어를 SDK화하고 소음·조도를 더한 멀티모달 점수, 시설용 익명 좌석 추천으로 넓힐 수 있습니다. 정리하면, 전문 계측기를 대체하지 않고 일상 학습에서 환경을 의식하게 만드는 스마트폰 네이티브 집중 도구입니다. 감사합니다. 질문 받겠습니다.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7.jpg"/><Relationship Id="rId5"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5692" y="0"/>
            <a:ext cx="18288000" cy="10287000"/>
          </a:xfrm>
          <a:prstGeom prst="rect">
            <a:avLst/>
          </a:prstGeom>
          <a:solidFill>
            <a:srgbClr val="0C1730"/>
          </a:solidFill>
          <a:ln/>
        </p:spPr>
        <p:txBody>
          <a:bodyPr/>
          <a:lstStyle/>
          <a:p>
            <a:endParaRPr lang="ko-KR" altLang="en-US"/>
          </a:p>
        </p:txBody>
      </p:sp>
      <p:sp>
        <p:nvSpPr>
          <p:cNvPr id="3" name="Shape 1"/>
          <p:cNvSpPr/>
          <p:nvPr/>
        </p:nvSpPr>
        <p:spPr>
          <a:xfrm>
            <a:off x="13335000" y="1143000"/>
            <a:ext cx="6477000" cy="6477000"/>
          </a:xfrm>
          <a:prstGeom prst="ellipse">
            <a:avLst/>
          </a:prstGeom>
          <a:ln w="9525">
            <a:solidFill>
              <a:srgbClr val="6FE3D2">
                <a:alpha val="18000"/>
              </a:srgbClr>
            </a:solidFill>
            <a:prstDash val="solid"/>
          </a:ln>
        </p:spPr>
        <p:txBody>
          <a:bodyPr/>
          <a:lstStyle/>
          <a:p>
            <a:endParaRPr lang="ko-KR" altLang="en-US"/>
          </a:p>
        </p:txBody>
      </p:sp>
      <p:sp>
        <p:nvSpPr>
          <p:cNvPr id="4" name="Shape 2"/>
          <p:cNvSpPr/>
          <p:nvPr/>
        </p:nvSpPr>
        <p:spPr>
          <a:xfrm>
            <a:off x="14613487" y="2802486"/>
            <a:ext cx="3158027" cy="3158027"/>
          </a:xfrm>
          <a:prstGeom prst="ellipse">
            <a:avLst/>
          </a:prstGeom>
          <a:ln w="9525">
            <a:solidFill>
              <a:srgbClr val="6FE3D2">
                <a:alpha val="24000"/>
              </a:srgbClr>
            </a:solidFill>
            <a:prstDash val="solid"/>
          </a:ln>
        </p:spPr>
        <p:txBody>
          <a:bodyPr/>
          <a:lstStyle/>
          <a:p>
            <a:endParaRPr lang="ko-KR" altLang="en-US"/>
          </a:p>
        </p:txBody>
      </p:sp>
      <p:sp>
        <p:nvSpPr>
          <p:cNvPr id="5" name="Shape 3"/>
          <p:cNvSpPr/>
          <p:nvPr/>
        </p:nvSpPr>
        <p:spPr>
          <a:xfrm>
            <a:off x="15621000" y="4095750"/>
            <a:ext cx="762000" cy="762000"/>
          </a:xfrm>
          <a:prstGeom prst="ellipse">
            <a:avLst/>
          </a:prstGeom>
          <a:solidFill>
            <a:srgbClr val="6FE3D2">
              <a:alpha val="10000"/>
            </a:srgbClr>
          </a:solidFill>
          <a:ln/>
        </p:spPr>
        <p:txBody>
          <a:bodyPr/>
          <a:lstStyle/>
          <a:p>
            <a:endParaRPr lang="ko-KR" altLang="en-US"/>
          </a:p>
        </p:txBody>
      </p:sp>
      <p:sp>
        <p:nvSpPr>
          <p:cNvPr id="6" name="Text 4"/>
          <p:cNvSpPr/>
          <p:nvPr/>
        </p:nvSpPr>
        <p:spPr>
          <a:xfrm>
            <a:off x="1047750" y="2819400"/>
            <a:ext cx="1443335" cy="314325"/>
          </a:xfrm>
          <a:prstGeom prst="rect">
            <a:avLst/>
          </a:prstGeom>
          <a:noFill/>
          <a:ln/>
        </p:spPr>
        <p:txBody>
          <a:bodyPr wrap="square" lIns="25400" tIns="25400" rIns="25400" bIns="25400" rtlCol="0" anchor="t">
            <a:normAutofit fontScale="92500"/>
          </a:bodyPr>
          <a:lstStyle/>
          <a:p>
            <a:pPr marL="0" indent="0" algn="l">
              <a:buNone/>
            </a:pPr>
            <a:r>
              <a:rPr lang="en-US" sz="1875" kern="0" spc="413" dirty="0">
                <a:solidFill>
                  <a:schemeClr val="bg1"/>
                </a:solidFill>
                <a:latin typeface="Courier New" pitchFamily="34" charset="0"/>
                <a:ea typeface="Courier New" pitchFamily="34" charset="-122"/>
                <a:cs typeface="Courier New" pitchFamily="34" charset="-120"/>
              </a:rPr>
              <a:t>PROJECT</a:t>
            </a:r>
            <a:endParaRPr lang="en-US" sz="1875" dirty="0">
              <a:solidFill>
                <a:schemeClr val="bg1"/>
              </a:solidFill>
            </a:endParaRPr>
          </a:p>
        </p:txBody>
      </p:sp>
      <p:sp>
        <p:nvSpPr>
          <p:cNvPr id="7" name="Text 5"/>
          <p:cNvSpPr/>
          <p:nvPr/>
        </p:nvSpPr>
        <p:spPr>
          <a:xfrm>
            <a:off x="2586335" y="2819400"/>
            <a:ext cx="271611" cy="314325"/>
          </a:xfrm>
          <a:prstGeom prst="rect">
            <a:avLst/>
          </a:prstGeom>
          <a:noFill/>
          <a:ln/>
        </p:spPr>
        <p:txBody>
          <a:bodyPr wrap="square" lIns="25400" tIns="25400" rIns="25400" bIns="25400" rtlCol="0" anchor="t">
            <a:normAutofit fontScale="92500"/>
          </a:bodyPr>
          <a:lstStyle/>
          <a:p>
            <a:pPr marL="0" indent="0" algn="l">
              <a:buNone/>
            </a:pPr>
            <a:r>
              <a:rPr lang="en-US" sz="1875" kern="0" spc="413" dirty="0">
                <a:solidFill>
                  <a:srgbClr val="6FE3D2"/>
                </a:solidFill>
                <a:latin typeface="Courier New" pitchFamily="34" charset="0"/>
                <a:ea typeface="Courier New" pitchFamily="34" charset="-122"/>
                <a:cs typeface="Courier New" pitchFamily="34" charset="-120"/>
              </a:rPr>
              <a:t>·</a:t>
            </a:r>
            <a:endParaRPr lang="en-US" sz="1875" dirty="0"/>
          </a:p>
        </p:txBody>
      </p:sp>
      <p:sp>
        <p:nvSpPr>
          <p:cNvPr id="8" name="Text 6"/>
          <p:cNvSpPr/>
          <p:nvPr/>
        </p:nvSpPr>
        <p:spPr>
          <a:xfrm>
            <a:off x="2953196" y="2819400"/>
            <a:ext cx="4379421" cy="619125"/>
          </a:xfrm>
          <a:prstGeom prst="rect">
            <a:avLst/>
          </a:prstGeom>
          <a:noFill/>
          <a:ln/>
        </p:spPr>
        <p:txBody>
          <a:bodyPr wrap="square" lIns="25400" tIns="25400" rIns="25400" bIns="25400" rtlCol="0" anchor="t">
            <a:normAutofit/>
          </a:bodyPr>
          <a:lstStyle/>
          <a:p>
            <a:pPr marL="0" indent="0" algn="l">
              <a:buNone/>
            </a:pPr>
            <a:r>
              <a:rPr lang="en-US" sz="1875" kern="0" spc="413" dirty="0">
                <a:solidFill>
                  <a:srgbClr val="6FE3D2"/>
                </a:solidFill>
                <a:latin typeface="Courier New" pitchFamily="34" charset="0"/>
                <a:ea typeface="Courier New" pitchFamily="34" charset="-122"/>
                <a:cs typeface="Courier New" pitchFamily="34" charset="-120"/>
              </a:rPr>
              <a:t>BUILD V1.0.0 (</a:t>
            </a:r>
            <a:r>
              <a:rPr lang="ko-KR" altLang="en-US" sz="1875" kern="0" spc="413" dirty="0">
                <a:solidFill>
                  <a:srgbClr val="6FE3D2"/>
                </a:solidFill>
                <a:latin typeface="Courier New" pitchFamily="34" charset="0"/>
                <a:ea typeface="Courier New" pitchFamily="34" charset="-122"/>
                <a:cs typeface="Courier New" pitchFamily="34" charset="-120"/>
              </a:rPr>
              <a:t>최종 </a:t>
            </a:r>
            <a:r>
              <a:rPr lang="en-US" sz="1875" kern="0" spc="413" dirty="0">
                <a:solidFill>
                  <a:srgbClr val="6FE3D2"/>
                </a:solidFill>
                <a:latin typeface="Courier New" pitchFamily="34" charset="0"/>
                <a:ea typeface="Courier New" pitchFamily="34" charset="-122"/>
                <a:cs typeface="Courier New" pitchFamily="34" charset="-120"/>
              </a:rPr>
              <a:t>APK)</a:t>
            </a:r>
            <a:endParaRPr lang="en-US" sz="1875" dirty="0"/>
          </a:p>
        </p:txBody>
      </p:sp>
      <p:sp>
        <p:nvSpPr>
          <p:cNvPr id="9" name="Text 7"/>
          <p:cNvSpPr/>
          <p:nvPr/>
        </p:nvSpPr>
        <p:spPr>
          <a:xfrm>
            <a:off x="1047750" y="3476625"/>
            <a:ext cx="16678275" cy="1257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9600" b="1" kern="0" spc="-192" dirty="0">
                <a:solidFill>
                  <a:srgbClr val="EAEFF7"/>
                </a:solidFill>
                <a:latin typeface="Helvetica" pitchFamily="34" charset="0"/>
                <a:ea typeface="Helvetica" pitchFamily="34" charset="-122"/>
                <a:cs typeface="Helvetica" pitchFamily="34" charset="-120"/>
              </a:rPr>
              <a:t>EMF </a:t>
            </a:r>
            <a:r>
              <a:rPr lang="en-US" sz="9600" b="1" kern="0" spc="-192" dirty="0">
                <a:solidFill>
                  <a:srgbClr val="6FE3D2"/>
                </a:solidFill>
                <a:latin typeface="Helvetica" pitchFamily="34" charset="0"/>
                <a:ea typeface="Helvetica" pitchFamily="34" charset="-122"/>
                <a:cs typeface="Helvetica" pitchFamily="34" charset="-120"/>
              </a:rPr>
              <a:t>Focus</a:t>
            </a:r>
            <a:endParaRPr lang="en-US" sz="9600" dirty="0"/>
          </a:p>
        </p:txBody>
      </p:sp>
      <p:sp>
        <p:nvSpPr>
          <p:cNvPr id="10" name="Text 8"/>
          <p:cNvSpPr/>
          <p:nvPr/>
        </p:nvSpPr>
        <p:spPr>
          <a:xfrm>
            <a:off x="1047750" y="4981575"/>
            <a:ext cx="16678275" cy="619125"/>
          </a:xfrm>
          <a:prstGeom prst="rect">
            <a:avLst/>
          </a:prstGeom>
          <a:noFill/>
          <a:ln/>
        </p:spPr>
        <p:txBody>
          <a:bodyPr wrap="square" lIns="25400" tIns="25400" rIns="25400" bIns="25400" rtlCol="0" anchor="t">
            <a:normAutofit/>
          </a:bodyPr>
          <a:lstStyle/>
          <a:p>
            <a:pPr marL="0" indent="0" algn="l">
              <a:buNone/>
            </a:pPr>
            <a:r>
              <a:rPr lang="en-US" sz="3150" b="1" dirty="0">
                <a:solidFill>
                  <a:srgbClr val="C3CEE2"/>
                </a:solidFill>
                <a:latin typeface="Helvetica" pitchFamily="34" charset="0"/>
                <a:ea typeface="Helvetica" pitchFamily="34" charset="-122"/>
                <a:cs typeface="Helvetica" pitchFamily="34" charset="-120"/>
              </a:rPr>
              <a:t>스마트폰 센서 기반 학습 집중 환경 스캐너</a:t>
            </a:r>
            <a:endParaRPr lang="en-US" sz="3150" dirty="0"/>
          </a:p>
        </p:txBody>
      </p:sp>
      <p:sp>
        <p:nvSpPr>
          <p:cNvPr id="11" name="Text 9"/>
          <p:cNvSpPr/>
          <p:nvPr/>
        </p:nvSpPr>
        <p:spPr>
          <a:xfrm>
            <a:off x="1047750" y="5772150"/>
            <a:ext cx="11576685" cy="4667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250" dirty="0" err="1">
                <a:solidFill>
                  <a:schemeClr val="bg1"/>
                </a:solidFill>
                <a:latin typeface="Helvetica" pitchFamily="34" charset="0"/>
                <a:ea typeface="Helvetica" pitchFamily="34" charset="-122"/>
                <a:cs typeface="Helvetica" pitchFamily="34" charset="-120"/>
              </a:rPr>
              <a:t>자기장을</a:t>
            </a:r>
            <a:r>
              <a:rPr lang="en-US" sz="2250" dirty="0">
                <a:solidFill>
                  <a:schemeClr val="bg1"/>
                </a:solidFill>
                <a:latin typeface="Helvetica" pitchFamily="34" charset="0"/>
                <a:ea typeface="Helvetica" pitchFamily="34" charset="-122"/>
                <a:cs typeface="Helvetica" pitchFamily="34" charset="-120"/>
              </a:rPr>
              <a:t> </a:t>
            </a:r>
            <a:r>
              <a:rPr lang="ko-KR" altLang="en-US" sz="2250" dirty="0">
                <a:solidFill>
                  <a:schemeClr val="bg1"/>
                </a:solidFill>
                <a:latin typeface="Helvetica" pitchFamily="34" charset="0"/>
                <a:ea typeface="Helvetica" pitchFamily="34" charset="-122"/>
                <a:cs typeface="Helvetica" pitchFamily="34" charset="-120"/>
              </a:rPr>
              <a:t>측정하여</a:t>
            </a:r>
            <a:r>
              <a:rPr lang="en-US" sz="2250" dirty="0">
                <a:solidFill>
                  <a:schemeClr val="bg1"/>
                </a:solidFill>
                <a:latin typeface="Helvetica" pitchFamily="34" charset="0"/>
                <a:ea typeface="Helvetica" pitchFamily="34" charset="-122"/>
                <a:cs typeface="Helvetica" pitchFamily="34" charset="-120"/>
              </a:rPr>
              <a:t> </a:t>
            </a:r>
            <a:r>
              <a:rPr lang="en-US" sz="2250" dirty="0">
                <a:solidFill>
                  <a:schemeClr val="accent4"/>
                </a:solidFill>
                <a:latin typeface="Helvetica" pitchFamily="34" charset="0"/>
                <a:ea typeface="Helvetica" pitchFamily="34" charset="-122"/>
                <a:cs typeface="Helvetica" pitchFamily="34" charset="-120"/>
              </a:rPr>
              <a:t>「지금 이 자리」</a:t>
            </a:r>
            <a:r>
              <a:rPr lang="en-US" sz="2250" dirty="0">
                <a:solidFill>
                  <a:schemeClr val="bg1"/>
                </a:solidFill>
                <a:latin typeface="Helvetica" pitchFamily="34" charset="0"/>
                <a:ea typeface="Helvetica" pitchFamily="34" charset="-122"/>
                <a:cs typeface="Helvetica" pitchFamily="34" charset="-120"/>
              </a:rPr>
              <a:t>의 집중 환경을 숫자와 맵으로 보여 주는 Android 앱</a:t>
            </a:r>
            <a:endParaRPr lang="en-US" sz="2250" dirty="0">
              <a:solidFill>
                <a:schemeClr val="bg1"/>
              </a:solidFill>
            </a:endParaRPr>
          </a:p>
        </p:txBody>
      </p:sp>
      <p:sp>
        <p:nvSpPr>
          <p:cNvPr id="12" name="Text 10"/>
          <p:cNvSpPr/>
          <p:nvPr/>
        </p:nvSpPr>
        <p:spPr>
          <a:xfrm>
            <a:off x="1047750" y="6810375"/>
            <a:ext cx="317883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60" dirty="0">
                <a:solidFill>
                  <a:schemeClr val="bg1"/>
                </a:solidFill>
                <a:latin typeface="Courier New" pitchFamily="34" charset="0"/>
                <a:ea typeface="Courier New" pitchFamily="34" charset="-122"/>
                <a:cs typeface="Courier New" pitchFamily="34" charset="-120"/>
              </a:rPr>
              <a:t>TEAM</a:t>
            </a:r>
            <a:endParaRPr lang="en-US" sz="1800" dirty="0">
              <a:solidFill>
                <a:schemeClr val="bg1"/>
              </a:solidFill>
            </a:endParaRPr>
          </a:p>
        </p:txBody>
      </p:sp>
      <p:sp>
        <p:nvSpPr>
          <p:cNvPr id="13" name="Text 11"/>
          <p:cNvSpPr/>
          <p:nvPr/>
        </p:nvSpPr>
        <p:spPr>
          <a:xfrm>
            <a:off x="1047750" y="7143750"/>
            <a:ext cx="3178836" cy="323850"/>
          </a:xfrm>
          <a:prstGeom prst="rect">
            <a:avLst/>
          </a:prstGeom>
          <a:noFill/>
          <a:ln/>
        </p:spPr>
        <p:txBody>
          <a:bodyPr wrap="square" lIns="25400" tIns="25400" rIns="25400" bIns="25400" rtlCol="0" anchor="t">
            <a:normAutofit lnSpcReduction="10000"/>
          </a:bodyPr>
          <a:lstStyle/>
          <a:p>
            <a:pPr marL="0" indent="0" algn="l">
              <a:buNone/>
            </a:pPr>
            <a:r>
              <a:rPr lang="en-US" sz="1800" kern="0" spc="108" dirty="0">
                <a:solidFill>
                  <a:srgbClr val="EAEFF7"/>
                </a:solidFill>
                <a:latin typeface="Courier New" pitchFamily="34" charset="0"/>
                <a:ea typeface="Courier New" pitchFamily="34" charset="-122"/>
                <a:cs typeface="Courier New" pitchFamily="34" charset="-120"/>
              </a:rPr>
              <a:t>김남호 · 박종혁 · 이유찬</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C16"/>
        </a:solidFill>
        <a:effectLst/>
      </p:bgPr>
    </p:bg>
    <p:spTree>
      <p:nvGrpSpPr>
        <p:cNvPr id="1" name=""/>
        <p:cNvGrpSpPr/>
        <p:nvPr/>
      </p:nvGrpSpPr>
      <p:grpSpPr>
        <a:xfrm>
          <a:off x="0" y="0"/>
          <a:ext cx="0" cy="0"/>
          <a:chOff x="0" y="0"/>
          <a:chExt cx="0" cy="0"/>
        </a:xfrm>
      </p:grpSpPr>
      <p:sp>
        <p:nvSpPr>
          <p:cNvPr id="2" name="Text 0"/>
          <p:cNvSpPr/>
          <p:nvPr/>
        </p:nvSpPr>
        <p:spPr>
          <a:xfrm>
            <a:off x="1062037" y="814983"/>
            <a:ext cx="47252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kern="0" spc="390" dirty="0">
                <a:solidFill>
                  <a:schemeClr val="bg1"/>
                </a:solidFill>
                <a:latin typeface="Courier New" pitchFamily="34" charset="0"/>
                <a:ea typeface="Courier New" pitchFamily="34" charset="-122"/>
                <a:cs typeface="Courier New" pitchFamily="34" charset="-120"/>
              </a:rPr>
              <a:t>02</a:t>
            </a:r>
            <a:endParaRPr lang="en-US" sz="1950" dirty="0">
              <a:solidFill>
                <a:schemeClr val="bg1"/>
              </a:solidFill>
            </a:endParaRPr>
          </a:p>
        </p:txBody>
      </p:sp>
      <p:sp>
        <p:nvSpPr>
          <p:cNvPr id="3" name="Text 1"/>
          <p:cNvSpPr/>
          <p:nvPr/>
        </p:nvSpPr>
        <p:spPr>
          <a:xfrm>
            <a:off x="1504541" y="823913"/>
            <a:ext cx="2653041" cy="342900"/>
          </a:xfrm>
          <a:prstGeom prst="rect">
            <a:avLst/>
          </a:prstGeom>
          <a:noFill/>
          <a:ln/>
        </p:spPr>
        <p:txBody>
          <a:bodyPr wrap="square" lIns="25400" tIns="25400" rIns="25400" bIns="25400" rtlCol="0" anchor="t">
            <a:normAutofit lnSpcReduction="10000"/>
          </a:bodyPr>
          <a:lstStyle/>
          <a:p>
            <a:pPr marL="0" indent="0" algn="l">
              <a:buNone/>
            </a:pPr>
            <a:r>
              <a:rPr lang="ko-KR" altLang="en-US" sz="1950" kern="0" spc="390" dirty="0">
                <a:solidFill>
                  <a:srgbClr val="6FE3D2"/>
                </a:solidFill>
                <a:latin typeface="Courier New" pitchFamily="34" charset="0"/>
                <a:cs typeface="Courier New" pitchFamily="34" charset="-120"/>
              </a:rPr>
              <a:t>제작동기</a:t>
            </a:r>
            <a:endParaRPr lang="en-US" sz="1950" dirty="0"/>
          </a:p>
        </p:txBody>
      </p:sp>
      <p:sp>
        <p:nvSpPr>
          <p:cNvPr id="4" name="Text 2"/>
          <p:cNvSpPr/>
          <p:nvPr/>
        </p:nvSpPr>
        <p:spPr>
          <a:xfrm>
            <a:off x="1047750" y="1409700"/>
            <a:ext cx="16678275" cy="952500"/>
          </a:xfrm>
          <a:prstGeom prst="rect">
            <a:avLst/>
          </a:prstGeom>
          <a:noFill/>
          <a:ln/>
        </p:spPr>
        <p:txBody>
          <a:bodyPr wrap="square" lIns="25400" tIns="25400" rIns="25400" bIns="25400" rtlCol="0" anchor="t">
            <a:normAutofit/>
          </a:bodyPr>
          <a:lstStyle/>
          <a:p>
            <a:pPr marL="0" indent="0" algn="l">
              <a:buNone/>
            </a:pPr>
            <a:r>
              <a:rPr lang="ko-KR" altLang="en-US" sz="4950" b="1" kern="0" spc="-49" dirty="0">
                <a:solidFill>
                  <a:srgbClr val="EAEFF7"/>
                </a:solidFill>
                <a:latin typeface="Helvetica" pitchFamily="34" charset="0"/>
                <a:cs typeface="Helvetica" pitchFamily="34" charset="-120"/>
              </a:rPr>
              <a:t>제작 동기</a:t>
            </a:r>
            <a:endParaRPr lang="en-US" sz="4950" dirty="0"/>
          </a:p>
        </p:txBody>
      </p:sp>
      <p:sp>
        <p:nvSpPr>
          <p:cNvPr id="5" name="Shape 3"/>
          <p:cNvSpPr/>
          <p:nvPr/>
        </p:nvSpPr>
        <p:spPr>
          <a:xfrm>
            <a:off x="1047750" y="2838450"/>
            <a:ext cx="13335000" cy="1032421"/>
          </a:xfrm>
          <a:prstGeom prst="roundRect">
            <a:avLst>
              <a:gd name="adj" fmla="val 12916"/>
            </a:avLst>
          </a:prstGeom>
          <a:solidFill>
            <a:srgbClr val="0E1626"/>
          </a:solidFill>
          <a:ln w="9525">
            <a:solidFill>
              <a:srgbClr val="213049"/>
            </a:solidFill>
            <a:prstDash val="solid"/>
          </a:ln>
        </p:spPr>
        <p:txBody>
          <a:bodyPr/>
          <a:lstStyle/>
          <a:p>
            <a:endParaRPr lang="ko-KR" altLang="en-US"/>
          </a:p>
        </p:txBody>
      </p:sp>
      <p:sp>
        <p:nvSpPr>
          <p:cNvPr id="6" name="Text 4"/>
          <p:cNvSpPr/>
          <p:nvPr/>
        </p:nvSpPr>
        <p:spPr>
          <a:xfrm>
            <a:off x="1381125" y="3133725"/>
            <a:ext cx="419249"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6FE3D2"/>
                </a:solidFill>
                <a:latin typeface="Courier New" pitchFamily="34" charset="0"/>
                <a:ea typeface="Courier New" pitchFamily="34" charset="-122"/>
                <a:cs typeface="Courier New" pitchFamily="34" charset="-120"/>
              </a:rPr>
              <a:t>01</a:t>
            </a:r>
            <a:endParaRPr lang="en-US" sz="2250" b="1" dirty="0"/>
          </a:p>
        </p:txBody>
      </p:sp>
      <p:sp>
        <p:nvSpPr>
          <p:cNvPr id="7" name="Text 5"/>
          <p:cNvSpPr/>
          <p:nvPr/>
        </p:nvSpPr>
        <p:spPr>
          <a:xfrm>
            <a:off x="1800374" y="3057747"/>
            <a:ext cx="9860877" cy="47997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400" b="1" dirty="0">
                <a:solidFill>
                  <a:schemeClr val="bg1"/>
                </a:solidFill>
                <a:latin typeface="Helvetica" pitchFamily="34" charset="0"/>
                <a:ea typeface="Helvetica" pitchFamily="34" charset="-122"/>
                <a:cs typeface="Helvetica" pitchFamily="34" charset="-120"/>
              </a:rPr>
              <a:t>공부 방해 요인은 소음·스마트폰 사용·주변 전자기기가 </a:t>
            </a:r>
            <a:r>
              <a:rPr lang="en-US" sz="2400" b="1" dirty="0" err="1">
                <a:solidFill>
                  <a:schemeClr val="bg1"/>
                </a:solidFill>
                <a:latin typeface="Helvetica" pitchFamily="34" charset="0"/>
                <a:ea typeface="Helvetica" pitchFamily="34" charset="-122"/>
                <a:cs typeface="Helvetica" pitchFamily="34" charset="-120"/>
              </a:rPr>
              <a:t>복합적으로</a:t>
            </a:r>
            <a:r>
              <a:rPr lang="en-US" sz="2400" b="1" dirty="0">
                <a:solidFill>
                  <a:schemeClr val="bg1"/>
                </a:solidFill>
                <a:latin typeface="Helvetica" pitchFamily="34" charset="0"/>
                <a:ea typeface="Helvetica" pitchFamily="34" charset="-122"/>
                <a:cs typeface="Helvetica" pitchFamily="34" charset="-120"/>
              </a:rPr>
              <a:t> </a:t>
            </a:r>
            <a:r>
              <a:rPr lang="en-US" sz="2400" b="1" dirty="0" err="1">
                <a:solidFill>
                  <a:schemeClr val="bg1"/>
                </a:solidFill>
                <a:latin typeface="Helvetica" pitchFamily="34" charset="0"/>
                <a:ea typeface="Helvetica" pitchFamily="34" charset="-122"/>
                <a:cs typeface="Helvetica" pitchFamily="34" charset="-120"/>
              </a:rPr>
              <a:t>작용</a:t>
            </a:r>
            <a:endParaRPr lang="en-US" sz="2400" b="1" dirty="0">
              <a:solidFill>
                <a:schemeClr val="bg1"/>
              </a:solidFill>
            </a:endParaRPr>
          </a:p>
        </p:txBody>
      </p:sp>
      <p:sp>
        <p:nvSpPr>
          <p:cNvPr id="8" name="Shape 6"/>
          <p:cNvSpPr/>
          <p:nvPr/>
        </p:nvSpPr>
        <p:spPr>
          <a:xfrm>
            <a:off x="1047750" y="4080421"/>
            <a:ext cx="13335000" cy="1032421"/>
          </a:xfrm>
          <a:prstGeom prst="roundRect">
            <a:avLst>
              <a:gd name="adj" fmla="val 12916"/>
            </a:avLst>
          </a:prstGeom>
          <a:solidFill>
            <a:srgbClr val="0E1626"/>
          </a:solidFill>
          <a:ln w="9525">
            <a:solidFill>
              <a:srgbClr val="213049"/>
            </a:solidFill>
            <a:prstDash val="solid"/>
          </a:ln>
        </p:spPr>
        <p:txBody>
          <a:bodyPr/>
          <a:lstStyle/>
          <a:p>
            <a:endParaRPr lang="ko-KR" altLang="en-US"/>
          </a:p>
        </p:txBody>
      </p:sp>
      <p:sp>
        <p:nvSpPr>
          <p:cNvPr id="9" name="Text 7"/>
          <p:cNvSpPr/>
          <p:nvPr/>
        </p:nvSpPr>
        <p:spPr>
          <a:xfrm>
            <a:off x="1381125" y="4375696"/>
            <a:ext cx="419249"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6FE3D2"/>
                </a:solidFill>
                <a:latin typeface="Courier New" pitchFamily="34" charset="0"/>
                <a:ea typeface="Courier New" pitchFamily="34" charset="-122"/>
                <a:cs typeface="Courier New" pitchFamily="34" charset="-120"/>
              </a:rPr>
              <a:t>02</a:t>
            </a:r>
            <a:endParaRPr lang="en-US" sz="2250" b="1" dirty="0"/>
          </a:p>
        </p:txBody>
      </p:sp>
      <p:sp>
        <p:nvSpPr>
          <p:cNvPr id="10" name="Text 8"/>
          <p:cNvSpPr/>
          <p:nvPr/>
        </p:nvSpPr>
        <p:spPr>
          <a:xfrm>
            <a:off x="1971824" y="4375696"/>
            <a:ext cx="11221352" cy="47997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400" b="1" dirty="0">
                <a:solidFill>
                  <a:schemeClr val="bg1"/>
                </a:solidFill>
                <a:latin typeface="Helvetica" pitchFamily="34" charset="0"/>
                <a:ea typeface="Helvetica" pitchFamily="34" charset="-122"/>
                <a:cs typeface="Helvetica" pitchFamily="34" charset="-120"/>
              </a:rPr>
              <a:t>기존 집중 앱은 타이머·앱 </a:t>
            </a:r>
            <a:r>
              <a:rPr lang="en-US" sz="2400" b="1" dirty="0" err="1">
                <a:solidFill>
                  <a:schemeClr val="bg1"/>
                </a:solidFill>
                <a:latin typeface="Helvetica" pitchFamily="34" charset="0"/>
                <a:ea typeface="Helvetica" pitchFamily="34" charset="-122"/>
                <a:cs typeface="Helvetica" pitchFamily="34" charset="-120"/>
              </a:rPr>
              <a:t>차단</a:t>
            </a:r>
            <a:r>
              <a:rPr lang="en-US" sz="2400" b="1" dirty="0">
                <a:solidFill>
                  <a:schemeClr val="bg1"/>
                </a:solidFill>
                <a:latin typeface="Helvetica" pitchFamily="34" charset="0"/>
                <a:ea typeface="Helvetica" pitchFamily="34" charset="-122"/>
                <a:cs typeface="Helvetica" pitchFamily="34" charset="-120"/>
              </a:rPr>
              <a:t> </a:t>
            </a:r>
            <a:r>
              <a:rPr lang="en-US" sz="2400" b="1" dirty="0" err="1">
                <a:solidFill>
                  <a:schemeClr val="bg1"/>
                </a:solidFill>
                <a:latin typeface="Helvetica" pitchFamily="34" charset="0"/>
                <a:ea typeface="Helvetica" pitchFamily="34" charset="-122"/>
                <a:cs typeface="Helvetica" pitchFamily="34" charset="-120"/>
              </a:rPr>
              <a:t>중심</a:t>
            </a:r>
            <a:r>
              <a:rPr lang="en-US" sz="2400" b="1" dirty="0">
                <a:solidFill>
                  <a:schemeClr val="bg1"/>
                </a:solidFill>
                <a:latin typeface="Helvetica" pitchFamily="34" charset="0"/>
                <a:ea typeface="Helvetica" pitchFamily="34" charset="-122"/>
                <a:cs typeface="Helvetica" pitchFamily="34" charset="-120"/>
              </a:rPr>
              <a:t> &gt; 「</a:t>
            </a:r>
            <a:r>
              <a:rPr lang="ko-KR" altLang="en-US" sz="2400" b="1" dirty="0">
                <a:solidFill>
                  <a:schemeClr val="bg1"/>
                </a:solidFill>
                <a:latin typeface="Helvetica" pitchFamily="34" charset="0"/>
                <a:ea typeface="Helvetica" pitchFamily="34" charset="-122"/>
                <a:cs typeface="Helvetica" pitchFamily="34" charset="-120"/>
              </a:rPr>
              <a:t>현재 </a:t>
            </a:r>
            <a:r>
              <a:rPr lang="en-US" sz="2400" b="1" dirty="0" err="1">
                <a:solidFill>
                  <a:schemeClr val="bg1"/>
                </a:solidFill>
                <a:latin typeface="Helvetica" pitchFamily="34" charset="0"/>
                <a:ea typeface="Helvetica" pitchFamily="34" charset="-122"/>
                <a:cs typeface="Helvetica" pitchFamily="34" charset="-120"/>
              </a:rPr>
              <a:t>자리</a:t>
            </a:r>
            <a:r>
              <a:rPr lang="en-US" sz="2400" b="1" dirty="0">
                <a:solidFill>
                  <a:schemeClr val="bg1"/>
                </a:solidFill>
                <a:latin typeface="Helvetica" pitchFamily="34" charset="0"/>
                <a:ea typeface="Helvetica" pitchFamily="34" charset="-122"/>
                <a:cs typeface="Helvetica" pitchFamily="34" charset="-120"/>
              </a:rPr>
              <a:t>」 </a:t>
            </a:r>
            <a:r>
              <a:rPr lang="en-US" sz="2400" b="1" dirty="0" err="1">
                <a:solidFill>
                  <a:schemeClr val="bg1"/>
                </a:solidFill>
                <a:latin typeface="Helvetica" pitchFamily="34" charset="0"/>
                <a:ea typeface="Helvetica" pitchFamily="34" charset="-122"/>
                <a:cs typeface="Helvetica" pitchFamily="34" charset="-120"/>
              </a:rPr>
              <a:t>환경은</a:t>
            </a:r>
            <a:r>
              <a:rPr lang="en-US" sz="2400" b="1" dirty="0">
                <a:solidFill>
                  <a:schemeClr val="bg1"/>
                </a:solidFill>
                <a:latin typeface="Helvetica" pitchFamily="34" charset="0"/>
                <a:ea typeface="Helvetica" pitchFamily="34" charset="-122"/>
                <a:cs typeface="Helvetica" pitchFamily="34" charset="-120"/>
              </a:rPr>
              <a:t> </a:t>
            </a:r>
            <a:r>
              <a:rPr lang="en-US" sz="2400" b="1" dirty="0" err="1">
                <a:solidFill>
                  <a:schemeClr val="bg1"/>
                </a:solidFill>
                <a:latin typeface="Helvetica" pitchFamily="34" charset="0"/>
                <a:ea typeface="Helvetica" pitchFamily="34" charset="-122"/>
                <a:cs typeface="Helvetica" pitchFamily="34" charset="-120"/>
              </a:rPr>
              <a:t>측정</a:t>
            </a:r>
            <a:r>
              <a:rPr lang="ko-KR" altLang="en-US" sz="2400" b="1" dirty="0">
                <a:solidFill>
                  <a:schemeClr val="bg1"/>
                </a:solidFill>
                <a:latin typeface="Helvetica" pitchFamily="34" charset="0"/>
                <a:ea typeface="Helvetica" pitchFamily="34" charset="-122"/>
                <a:cs typeface="Helvetica" pitchFamily="34" charset="-120"/>
              </a:rPr>
              <a:t>하지 않음</a:t>
            </a:r>
            <a:r>
              <a:rPr lang="en-US" sz="2400" b="1" dirty="0">
                <a:solidFill>
                  <a:schemeClr val="bg1"/>
                </a:solidFill>
                <a:latin typeface="Helvetica" pitchFamily="34" charset="0"/>
                <a:ea typeface="Helvetica" pitchFamily="34" charset="-122"/>
                <a:cs typeface="Helvetica" pitchFamily="34" charset="-120"/>
              </a:rPr>
              <a:t>.</a:t>
            </a:r>
            <a:endParaRPr lang="en-US" sz="2400" b="1" dirty="0">
              <a:solidFill>
                <a:schemeClr val="bg1"/>
              </a:solidFill>
            </a:endParaRPr>
          </a:p>
        </p:txBody>
      </p:sp>
      <p:sp>
        <p:nvSpPr>
          <p:cNvPr id="11" name="Shape 9"/>
          <p:cNvSpPr/>
          <p:nvPr/>
        </p:nvSpPr>
        <p:spPr>
          <a:xfrm>
            <a:off x="1047750" y="5322391"/>
            <a:ext cx="13335000" cy="1032421"/>
          </a:xfrm>
          <a:prstGeom prst="roundRect">
            <a:avLst>
              <a:gd name="adj" fmla="val 12916"/>
            </a:avLst>
          </a:prstGeom>
          <a:solidFill>
            <a:srgbClr val="0E1626"/>
          </a:solidFill>
          <a:ln w="9525">
            <a:solidFill>
              <a:srgbClr val="213049"/>
            </a:solidFill>
            <a:prstDash val="solid"/>
          </a:ln>
        </p:spPr>
        <p:txBody>
          <a:bodyPr/>
          <a:lstStyle/>
          <a:p>
            <a:endParaRPr lang="ko-KR" altLang="en-US"/>
          </a:p>
        </p:txBody>
      </p:sp>
      <p:sp>
        <p:nvSpPr>
          <p:cNvPr id="12" name="Text 10"/>
          <p:cNvSpPr/>
          <p:nvPr/>
        </p:nvSpPr>
        <p:spPr>
          <a:xfrm>
            <a:off x="1381125" y="5617666"/>
            <a:ext cx="419249"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6FE3D2"/>
                </a:solidFill>
                <a:latin typeface="Courier New" pitchFamily="34" charset="0"/>
                <a:ea typeface="Courier New" pitchFamily="34" charset="-122"/>
                <a:cs typeface="Courier New" pitchFamily="34" charset="-120"/>
              </a:rPr>
              <a:t>03</a:t>
            </a:r>
            <a:endParaRPr lang="en-US" sz="2250" b="1" dirty="0"/>
          </a:p>
        </p:txBody>
      </p:sp>
      <p:sp>
        <p:nvSpPr>
          <p:cNvPr id="13" name="Text 11"/>
          <p:cNvSpPr/>
          <p:nvPr/>
        </p:nvSpPr>
        <p:spPr>
          <a:xfrm>
            <a:off x="1971824" y="5551214"/>
            <a:ext cx="10033025" cy="47997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400" b="1" dirty="0">
                <a:solidFill>
                  <a:schemeClr val="bg1"/>
                </a:solidFill>
                <a:latin typeface="Helvetica" pitchFamily="34" charset="0"/>
                <a:ea typeface="Helvetica" pitchFamily="34" charset="-122"/>
                <a:cs typeface="Helvetica" pitchFamily="34" charset="-120"/>
              </a:rPr>
              <a:t>전문 EMF 계측기는 </a:t>
            </a:r>
            <a:r>
              <a:rPr lang="en-US" sz="2400" b="1" dirty="0" err="1">
                <a:solidFill>
                  <a:schemeClr val="bg1"/>
                </a:solidFill>
                <a:latin typeface="Helvetica" pitchFamily="34" charset="0"/>
                <a:ea typeface="Helvetica" pitchFamily="34" charset="-122"/>
                <a:cs typeface="Helvetica" pitchFamily="34" charset="-120"/>
              </a:rPr>
              <a:t>비용·휴대성·즉</a:t>
            </a:r>
            <a:r>
              <a:rPr lang="ko-KR" altLang="en-US" sz="2400" b="1" dirty="0" err="1">
                <a:solidFill>
                  <a:schemeClr val="bg1"/>
                </a:solidFill>
                <a:latin typeface="Helvetica" pitchFamily="34" charset="0"/>
                <a:ea typeface="Helvetica" pitchFamily="34" charset="-122"/>
                <a:cs typeface="Helvetica" pitchFamily="34" charset="-120"/>
              </a:rPr>
              <a:t>각적인</a:t>
            </a:r>
            <a:r>
              <a:rPr lang="en-US" sz="2400" b="1" dirty="0">
                <a:solidFill>
                  <a:schemeClr val="bg1"/>
                </a:solidFill>
                <a:latin typeface="Helvetica" pitchFamily="34" charset="0"/>
                <a:ea typeface="Helvetica" pitchFamily="34" charset="-122"/>
                <a:cs typeface="Helvetica" pitchFamily="34" charset="-120"/>
              </a:rPr>
              <a:t> </a:t>
            </a:r>
            <a:r>
              <a:rPr lang="en-US" sz="2400" b="1" dirty="0" err="1">
                <a:solidFill>
                  <a:schemeClr val="bg1"/>
                </a:solidFill>
                <a:latin typeface="Helvetica" pitchFamily="34" charset="0"/>
                <a:ea typeface="Helvetica" pitchFamily="34" charset="-122"/>
                <a:cs typeface="Helvetica" pitchFamily="34" charset="-120"/>
              </a:rPr>
              <a:t>피드백</a:t>
            </a:r>
            <a:r>
              <a:rPr lang="en-US" sz="2400" b="1" dirty="0">
                <a:solidFill>
                  <a:schemeClr val="bg1"/>
                </a:solidFill>
                <a:latin typeface="Helvetica" pitchFamily="34" charset="0"/>
                <a:ea typeface="Helvetica" pitchFamily="34" charset="-122"/>
                <a:cs typeface="Helvetica" pitchFamily="34" charset="-120"/>
              </a:rPr>
              <a:t> </a:t>
            </a:r>
            <a:r>
              <a:rPr lang="ko-KR" altLang="en-US" sz="2400" b="1" dirty="0">
                <a:solidFill>
                  <a:schemeClr val="bg1"/>
                </a:solidFill>
                <a:latin typeface="Helvetica" pitchFamily="34" charset="0"/>
                <a:ea typeface="Helvetica" pitchFamily="34" charset="-122"/>
                <a:cs typeface="Helvetica" pitchFamily="34" charset="-120"/>
              </a:rPr>
              <a:t>측</a:t>
            </a:r>
            <a:r>
              <a:rPr lang="en-US" sz="2400" b="1" dirty="0" err="1">
                <a:solidFill>
                  <a:schemeClr val="bg1"/>
                </a:solidFill>
                <a:latin typeface="Helvetica" pitchFamily="34" charset="0"/>
                <a:ea typeface="Helvetica" pitchFamily="34" charset="-122"/>
                <a:cs typeface="Helvetica" pitchFamily="34" charset="-120"/>
              </a:rPr>
              <a:t>면에서</a:t>
            </a:r>
            <a:r>
              <a:rPr lang="en-US" sz="2400" b="1" dirty="0">
                <a:solidFill>
                  <a:schemeClr val="bg1"/>
                </a:solidFill>
                <a:latin typeface="Helvetica" pitchFamily="34" charset="0"/>
                <a:ea typeface="Helvetica" pitchFamily="34" charset="-122"/>
                <a:cs typeface="Helvetica" pitchFamily="34" charset="-120"/>
              </a:rPr>
              <a:t> 일상 </a:t>
            </a:r>
            <a:r>
              <a:rPr lang="en-US" sz="2400" b="1" dirty="0" err="1">
                <a:solidFill>
                  <a:schemeClr val="bg1"/>
                </a:solidFill>
                <a:latin typeface="Helvetica" pitchFamily="34" charset="0"/>
                <a:ea typeface="Helvetica" pitchFamily="34" charset="-122"/>
                <a:cs typeface="Helvetica" pitchFamily="34" charset="-120"/>
              </a:rPr>
              <a:t>학습에</a:t>
            </a:r>
            <a:r>
              <a:rPr lang="en-US" sz="2400" b="1" dirty="0">
                <a:solidFill>
                  <a:schemeClr val="bg1"/>
                </a:solidFill>
                <a:latin typeface="Helvetica" pitchFamily="34" charset="0"/>
                <a:ea typeface="Helvetica" pitchFamily="34" charset="-122"/>
                <a:cs typeface="Helvetica" pitchFamily="34" charset="-120"/>
              </a:rPr>
              <a:t> </a:t>
            </a:r>
            <a:r>
              <a:rPr lang="en-US" sz="2400" b="1" dirty="0" err="1">
                <a:solidFill>
                  <a:schemeClr val="bg1"/>
                </a:solidFill>
                <a:latin typeface="Helvetica" pitchFamily="34" charset="0"/>
                <a:ea typeface="Helvetica" pitchFamily="34" charset="-122"/>
                <a:cs typeface="Helvetica" pitchFamily="34" charset="-120"/>
              </a:rPr>
              <a:t>부적합</a:t>
            </a:r>
            <a:endParaRPr lang="en-US" sz="2400" dirty="0"/>
          </a:p>
        </p:txBody>
      </p:sp>
      <p:sp>
        <p:nvSpPr>
          <p:cNvPr id="14" name="Shape 12"/>
          <p:cNvSpPr/>
          <p:nvPr/>
        </p:nvSpPr>
        <p:spPr>
          <a:xfrm>
            <a:off x="1047750" y="6735812"/>
            <a:ext cx="28575" cy="466725"/>
          </a:xfrm>
          <a:prstGeom prst="rect">
            <a:avLst/>
          </a:prstGeom>
          <a:solidFill>
            <a:srgbClr val="6FE3D2"/>
          </a:solidFill>
          <a:ln/>
        </p:spPr>
        <p:txBody>
          <a:bodyPr/>
          <a:lstStyle/>
          <a:p>
            <a:endParaRPr lang="ko-KR" altLang="en-US"/>
          </a:p>
        </p:txBody>
      </p:sp>
      <p:sp>
        <p:nvSpPr>
          <p:cNvPr id="15" name="Text 13"/>
          <p:cNvSpPr/>
          <p:nvPr/>
        </p:nvSpPr>
        <p:spPr>
          <a:xfrm>
            <a:off x="1343025" y="6840587"/>
            <a:ext cx="789533" cy="295275"/>
          </a:xfrm>
          <a:prstGeom prst="rect">
            <a:avLst/>
          </a:prstGeom>
          <a:noFill/>
          <a:ln/>
        </p:spPr>
        <p:txBody>
          <a:bodyPr wrap="square" lIns="25400" tIns="25400" rIns="25400" bIns="25400" rtlCol="0" anchor="t">
            <a:normAutofit fontScale="92500" lnSpcReduction="10000"/>
          </a:bodyPr>
          <a:lstStyle/>
          <a:p>
            <a:pPr marL="0" indent="0" algn="l">
              <a:buNone/>
            </a:pPr>
            <a:r>
              <a:rPr lang="ko-KR" altLang="en-US" b="1" kern="0" spc="324" dirty="0">
                <a:solidFill>
                  <a:srgbClr val="6FE3D2"/>
                </a:solidFill>
                <a:latin typeface="Courier New" pitchFamily="34" charset="0"/>
                <a:cs typeface="Courier New" pitchFamily="34" charset="-120"/>
              </a:rPr>
              <a:t>결론</a:t>
            </a:r>
            <a:endParaRPr lang="en-US" sz="1800" b="1" dirty="0"/>
          </a:p>
        </p:txBody>
      </p:sp>
      <p:sp>
        <p:nvSpPr>
          <p:cNvPr id="16" name="Text 14"/>
          <p:cNvSpPr/>
          <p:nvPr/>
        </p:nvSpPr>
        <p:spPr>
          <a:xfrm>
            <a:off x="2265907" y="6735812"/>
            <a:ext cx="10489699" cy="504825"/>
          </a:xfrm>
          <a:prstGeom prst="rect">
            <a:avLst/>
          </a:prstGeom>
          <a:noFill/>
          <a:ln/>
        </p:spPr>
        <p:txBody>
          <a:bodyPr wrap="square" lIns="25400" tIns="25400" rIns="25400" bIns="25400" rtlCol="0" anchor="t">
            <a:normAutofit/>
          </a:bodyPr>
          <a:lstStyle/>
          <a:p>
            <a:pPr marL="0" indent="0" algn="l">
              <a:buNone/>
            </a:pPr>
            <a:r>
              <a:rPr lang="en-US" sz="2550" b="1" dirty="0">
                <a:solidFill>
                  <a:schemeClr val="bg1"/>
                </a:solidFill>
                <a:latin typeface="Helvetica" pitchFamily="34" charset="0"/>
                <a:ea typeface="Helvetica" pitchFamily="34" charset="-122"/>
                <a:cs typeface="Helvetica" pitchFamily="34" charset="-120"/>
              </a:rPr>
              <a:t>스마트폰만으로 환경을 </a:t>
            </a:r>
            <a:r>
              <a:rPr lang="en-US" sz="2550" b="1" dirty="0" err="1">
                <a:solidFill>
                  <a:schemeClr val="bg1"/>
                </a:solidFill>
                <a:latin typeface="Helvetica" pitchFamily="34" charset="0"/>
                <a:ea typeface="Helvetica" pitchFamily="34" charset="-122"/>
                <a:cs typeface="Helvetica" pitchFamily="34" charset="-120"/>
              </a:rPr>
              <a:t>상대적으로</a:t>
            </a:r>
            <a:r>
              <a:rPr lang="en-US" sz="2550" b="1" dirty="0">
                <a:solidFill>
                  <a:schemeClr val="bg1"/>
                </a:solidFill>
                <a:latin typeface="Helvetica" pitchFamily="34" charset="0"/>
                <a:ea typeface="Helvetica" pitchFamily="34" charset="-122"/>
                <a:cs typeface="Helvetica" pitchFamily="34" charset="-120"/>
              </a:rPr>
              <a:t> </a:t>
            </a:r>
            <a:r>
              <a:rPr lang="ko-KR" altLang="en-US" sz="2550" b="1" dirty="0">
                <a:solidFill>
                  <a:schemeClr val="bg1"/>
                </a:solidFill>
                <a:latin typeface="Helvetica" pitchFamily="34" charset="0"/>
                <a:ea typeface="Helvetica" pitchFamily="34" charset="-122"/>
                <a:cs typeface="Helvetica" pitchFamily="34" charset="-120"/>
              </a:rPr>
              <a:t>측정</a:t>
            </a:r>
            <a:r>
              <a:rPr lang="en-US" sz="2550" b="1" dirty="0" err="1">
                <a:solidFill>
                  <a:schemeClr val="bg1"/>
                </a:solidFill>
                <a:latin typeface="Helvetica" pitchFamily="34" charset="0"/>
                <a:ea typeface="Helvetica" pitchFamily="34" charset="-122"/>
                <a:cs typeface="Helvetica" pitchFamily="34" charset="-120"/>
              </a:rPr>
              <a:t>하고</a:t>
            </a:r>
            <a:r>
              <a:rPr lang="en-US" sz="2550" b="1" dirty="0">
                <a:solidFill>
                  <a:schemeClr val="bg1"/>
                </a:solidFill>
                <a:latin typeface="Helvetica" pitchFamily="34" charset="0"/>
                <a:ea typeface="Helvetica" pitchFamily="34" charset="-122"/>
                <a:cs typeface="Helvetica" pitchFamily="34" charset="-120"/>
              </a:rPr>
              <a:t>, 집중 습관을 돕는 도구</a:t>
            </a:r>
            <a:endParaRPr lang="en-US" sz="255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C16"/>
        </a:solidFill>
        <a:effectLst/>
      </p:bgPr>
    </p:bg>
    <p:spTree>
      <p:nvGrpSpPr>
        <p:cNvPr id="1" name=""/>
        <p:cNvGrpSpPr/>
        <p:nvPr/>
      </p:nvGrpSpPr>
      <p:grpSpPr>
        <a:xfrm>
          <a:off x="0" y="0"/>
          <a:ext cx="0" cy="0"/>
          <a:chOff x="0" y="0"/>
          <a:chExt cx="0" cy="0"/>
        </a:xfrm>
      </p:grpSpPr>
      <p:sp>
        <p:nvSpPr>
          <p:cNvPr id="2" name="Text 0"/>
          <p:cNvSpPr/>
          <p:nvPr/>
        </p:nvSpPr>
        <p:spPr>
          <a:xfrm>
            <a:off x="1047750" y="796018"/>
            <a:ext cx="47252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kern="0" spc="390" dirty="0">
                <a:solidFill>
                  <a:schemeClr val="bg1"/>
                </a:solidFill>
                <a:latin typeface="Courier New" pitchFamily="34" charset="0"/>
                <a:ea typeface="Courier New" pitchFamily="34" charset="-122"/>
                <a:cs typeface="Courier New" pitchFamily="34" charset="-120"/>
              </a:rPr>
              <a:t>03</a:t>
            </a:r>
            <a:endParaRPr lang="en-US" sz="1950" dirty="0">
              <a:solidFill>
                <a:schemeClr val="bg1"/>
              </a:solidFill>
            </a:endParaRPr>
          </a:p>
        </p:txBody>
      </p:sp>
      <p:sp>
        <p:nvSpPr>
          <p:cNvPr id="3" name="Text 1"/>
          <p:cNvSpPr/>
          <p:nvPr/>
        </p:nvSpPr>
        <p:spPr>
          <a:xfrm>
            <a:off x="1520279" y="814388"/>
            <a:ext cx="4591891" cy="342900"/>
          </a:xfrm>
          <a:prstGeom prst="rect">
            <a:avLst/>
          </a:prstGeom>
          <a:noFill/>
          <a:ln/>
        </p:spPr>
        <p:txBody>
          <a:bodyPr wrap="square" lIns="25400" tIns="25400" rIns="25400" bIns="25400" rtlCol="0" anchor="t">
            <a:normAutofit lnSpcReduction="10000"/>
          </a:bodyPr>
          <a:lstStyle/>
          <a:p>
            <a:pPr marL="0" indent="0" algn="l">
              <a:buNone/>
            </a:pPr>
            <a:r>
              <a:rPr lang="en-US" sz="1950" kern="0" spc="390" dirty="0" err="1">
                <a:solidFill>
                  <a:srgbClr val="6FE3D2"/>
                </a:solidFill>
                <a:latin typeface="Courier New" pitchFamily="34" charset="0"/>
                <a:ea typeface="Courier New" pitchFamily="34" charset="-122"/>
                <a:cs typeface="Courier New" pitchFamily="34" charset="-120"/>
              </a:rPr>
              <a:t>독창성</a:t>
            </a:r>
            <a:endParaRPr lang="en-US" sz="1950" dirty="0"/>
          </a:p>
        </p:txBody>
      </p:sp>
      <p:sp>
        <p:nvSpPr>
          <p:cNvPr id="4" name="Text 2"/>
          <p:cNvSpPr/>
          <p:nvPr/>
        </p:nvSpPr>
        <p:spPr>
          <a:xfrm>
            <a:off x="1047750" y="1390650"/>
            <a:ext cx="16678275" cy="952500"/>
          </a:xfrm>
          <a:prstGeom prst="rect">
            <a:avLst/>
          </a:prstGeom>
          <a:noFill/>
          <a:ln/>
        </p:spPr>
        <p:txBody>
          <a:bodyPr wrap="square" lIns="25400" tIns="25400" rIns="25400" bIns="25400" rtlCol="0" anchor="t">
            <a:normAutofit/>
          </a:bodyPr>
          <a:lstStyle/>
          <a:p>
            <a:pPr marL="0" indent="0" algn="l">
              <a:buNone/>
            </a:pPr>
            <a:r>
              <a:rPr lang="ko-KR" altLang="en-US" sz="4950" b="1" kern="0" spc="-49" dirty="0">
                <a:solidFill>
                  <a:srgbClr val="EAEFF7"/>
                </a:solidFill>
                <a:latin typeface="Helvetica" pitchFamily="34" charset="0"/>
                <a:cs typeface="Helvetica" pitchFamily="34" charset="-120"/>
              </a:rPr>
              <a:t>기존에 존재하지 않는 구성</a:t>
            </a:r>
            <a:endParaRPr lang="en-US" sz="4950" dirty="0"/>
          </a:p>
        </p:txBody>
      </p:sp>
      <p:sp>
        <p:nvSpPr>
          <p:cNvPr id="5" name="Shape 3"/>
          <p:cNvSpPr/>
          <p:nvPr/>
        </p:nvSpPr>
        <p:spPr>
          <a:xfrm>
            <a:off x="1047750" y="2724150"/>
            <a:ext cx="5257800" cy="2289572"/>
          </a:xfrm>
          <a:prstGeom prst="roundRect">
            <a:avLst>
              <a:gd name="adj" fmla="val 5824"/>
            </a:avLst>
          </a:prstGeom>
          <a:solidFill>
            <a:srgbClr val="0E1626"/>
          </a:solidFill>
          <a:ln w="9525">
            <a:solidFill>
              <a:srgbClr val="213049"/>
            </a:solidFill>
            <a:prstDash val="solid"/>
          </a:ln>
        </p:spPr>
        <p:txBody>
          <a:bodyPr/>
          <a:lstStyle/>
          <a:p>
            <a:endParaRPr lang="ko-KR" altLang="en-US"/>
          </a:p>
        </p:txBody>
      </p:sp>
      <p:sp>
        <p:nvSpPr>
          <p:cNvPr id="6" name="Text 4"/>
          <p:cNvSpPr/>
          <p:nvPr/>
        </p:nvSpPr>
        <p:spPr>
          <a:xfrm>
            <a:off x="1343025" y="3019425"/>
            <a:ext cx="4807268"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6FE3D2"/>
                </a:solidFill>
                <a:latin typeface="Courier New" pitchFamily="34" charset="0"/>
                <a:ea typeface="Courier New" pitchFamily="34" charset="-122"/>
                <a:cs typeface="Courier New" pitchFamily="34" charset="-120"/>
              </a:rPr>
              <a:t>01 · CORE</a:t>
            </a:r>
            <a:endParaRPr lang="en-US" sz="1800" dirty="0"/>
          </a:p>
        </p:txBody>
      </p:sp>
      <p:sp>
        <p:nvSpPr>
          <p:cNvPr id="7" name="Text 5"/>
          <p:cNvSpPr/>
          <p:nvPr/>
        </p:nvSpPr>
        <p:spPr>
          <a:xfrm>
            <a:off x="1343025" y="3409950"/>
            <a:ext cx="4807268" cy="476250"/>
          </a:xfrm>
          <a:prstGeom prst="rect">
            <a:avLst/>
          </a:prstGeom>
          <a:noFill/>
          <a:ln/>
        </p:spPr>
        <p:txBody>
          <a:bodyPr wrap="square" lIns="25400" tIns="25400" rIns="25400" bIns="25400" rtlCol="0" anchor="t">
            <a:normAutofit/>
          </a:bodyPr>
          <a:lstStyle/>
          <a:p>
            <a:pPr marL="0" indent="0" algn="l">
              <a:buNone/>
            </a:pPr>
            <a:r>
              <a:rPr lang="en-US" sz="2400" b="1" dirty="0">
                <a:solidFill>
                  <a:srgbClr val="EAEFF7"/>
                </a:solidFill>
                <a:latin typeface="Helvetica" pitchFamily="34" charset="0"/>
                <a:ea typeface="Helvetica" pitchFamily="34" charset="-122"/>
                <a:cs typeface="Helvetica" pitchFamily="34" charset="-120"/>
              </a:rPr>
              <a:t>EMF + 집중 UX 결합</a:t>
            </a:r>
            <a:endParaRPr lang="en-US" sz="2400" dirty="0"/>
          </a:p>
        </p:txBody>
      </p:sp>
      <p:sp>
        <p:nvSpPr>
          <p:cNvPr id="8" name="Text 6"/>
          <p:cNvSpPr/>
          <p:nvPr/>
        </p:nvSpPr>
        <p:spPr>
          <a:xfrm>
            <a:off x="1343025" y="3981450"/>
            <a:ext cx="4807268" cy="756047"/>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b="1" dirty="0">
                <a:solidFill>
                  <a:schemeClr val="bg1"/>
                </a:solidFill>
                <a:latin typeface="Helvetica" pitchFamily="34" charset="0"/>
                <a:ea typeface="Helvetica" pitchFamily="34" charset="-122"/>
                <a:cs typeface="Helvetica" pitchFamily="34" charset="-120"/>
              </a:rPr>
              <a:t>자기장 데이터 → Focus Score(0–100) → </a:t>
            </a:r>
          </a:p>
          <a:p>
            <a:pPr marL="0" indent="0" algn="l">
              <a:lnSpc>
                <a:spcPct val="145000"/>
              </a:lnSpc>
              <a:buNone/>
            </a:pPr>
            <a:r>
              <a:rPr lang="en-US" sz="1950" b="1" dirty="0" err="1">
                <a:solidFill>
                  <a:schemeClr val="bg1"/>
                </a:solidFill>
                <a:latin typeface="Helvetica" pitchFamily="34" charset="0"/>
                <a:ea typeface="Helvetica" pitchFamily="34" charset="-122"/>
                <a:cs typeface="Helvetica" pitchFamily="34" charset="-120"/>
              </a:rPr>
              <a:t>집중</a:t>
            </a:r>
            <a:r>
              <a:rPr lang="en-US" sz="1950" b="1" dirty="0">
                <a:solidFill>
                  <a:schemeClr val="bg1"/>
                </a:solidFill>
                <a:latin typeface="Helvetica" pitchFamily="34" charset="0"/>
                <a:ea typeface="Helvetica" pitchFamily="34" charset="-122"/>
                <a:cs typeface="Helvetica" pitchFamily="34" charset="-120"/>
              </a:rPr>
              <a:t> </a:t>
            </a:r>
            <a:r>
              <a:rPr lang="en-US" sz="1950" b="1" dirty="0" err="1">
                <a:solidFill>
                  <a:schemeClr val="bg1"/>
                </a:solidFill>
                <a:latin typeface="Helvetica" pitchFamily="34" charset="0"/>
                <a:ea typeface="Helvetica" pitchFamily="34" charset="-122"/>
                <a:cs typeface="Helvetica" pitchFamily="34" charset="-120"/>
              </a:rPr>
              <a:t>세션·알림으로</a:t>
            </a:r>
            <a:r>
              <a:rPr lang="en-US" sz="1950" b="1" dirty="0">
                <a:solidFill>
                  <a:schemeClr val="bg1"/>
                </a:solidFill>
                <a:latin typeface="Helvetica" pitchFamily="34" charset="0"/>
                <a:ea typeface="Helvetica" pitchFamily="34" charset="-122"/>
                <a:cs typeface="Helvetica" pitchFamily="34" charset="-120"/>
              </a:rPr>
              <a:t> </a:t>
            </a:r>
            <a:r>
              <a:rPr lang="en-US" sz="1950" b="1" dirty="0" err="1">
                <a:solidFill>
                  <a:schemeClr val="bg1"/>
                </a:solidFill>
                <a:latin typeface="Helvetica" pitchFamily="34" charset="0"/>
                <a:ea typeface="Helvetica" pitchFamily="34" charset="-122"/>
                <a:cs typeface="Helvetica" pitchFamily="34" charset="-120"/>
              </a:rPr>
              <a:t>연동</a:t>
            </a:r>
            <a:endParaRPr lang="en-US" sz="1950" b="1" dirty="0">
              <a:solidFill>
                <a:schemeClr val="bg1"/>
              </a:solidFill>
            </a:endParaRPr>
          </a:p>
        </p:txBody>
      </p:sp>
      <p:sp>
        <p:nvSpPr>
          <p:cNvPr id="9" name="Shape 7"/>
          <p:cNvSpPr/>
          <p:nvPr/>
        </p:nvSpPr>
        <p:spPr>
          <a:xfrm>
            <a:off x="6515100" y="2724150"/>
            <a:ext cx="5257800" cy="2289572"/>
          </a:xfrm>
          <a:prstGeom prst="roundRect">
            <a:avLst>
              <a:gd name="adj" fmla="val 5824"/>
            </a:avLst>
          </a:prstGeom>
          <a:solidFill>
            <a:srgbClr val="0E1626"/>
          </a:solidFill>
          <a:ln w="9525">
            <a:solidFill>
              <a:srgbClr val="213049"/>
            </a:solidFill>
            <a:prstDash val="solid"/>
          </a:ln>
        </p:spPr>
        <p:txBody>
          <a:bodyPr/>
          <a:lstStyle/>
          <a:p>
            <a:endParaRPr lang="ko-KR" altLang="en-US"/>
          </a:p>
        </p:txBody>
      </p:sp>
      <p:sp>
        <p:nvSpPr>
          <p:cNvPr id="10" name="Text 8"/>
          <p:cNvSpPr/>
          <p:nvPr/>
        </p:nvSpPr>
        <p:spPr>
          <a:xfrm>
            <a:off x="6810375" y="3019425"/>
            <a:ext cx="4807268"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6FE3D2"/>
                </a:solidFill>
                <a:latin typeface="Courier New" pitchFamily="34" charset="0"/>
                <a:ea typeface="Courier New" pitchFamily="34" charset="-122"/>
                <a:cs typeface="Courier New" pitchFamily="34" charset="-120"/>
              </a:rPr>
              <a:t>02 · PRIVACY</a:t>
            </a:r>
            <a:endParaRPr lang="en-US" sz="1800" dirty="0"/>
          </a:p>
        </p:txBody>
      </p:sp>
      <p:sp>
        <p:nvSpPr>
          <p:cNvPr id="11" name="Text 9"/>
          <p:cNvSpPr/>
          <p:nvPr/>
        </p:nvSpPr>
        <p:spPr>
          <a:xfrm>
            <a:off x="6810375" y="3409950"/>
            <a:ext cx="4807268" cy="476250"/>
          </a:xfrm>
          <a:prstGeom prst="rect">
            <a:avLst/>
          </a:prstGeom>
          <a:noFill/>
          <a:ln/>
        </p:spPr>
        <p:txBody>
          <a:bodyPr wrap="square" lIns="25400" tIns="25400" rIns="25400" bIns="25400" rtlCol="0" anchor="t">
            <a:normAutofit/>
          </a:bodyPr>
          <a:lstStyle/>
          <a:p>
            <a:pPr marL="0" indent="0" algn="l">
              <a:buNone/>
            </a:pPr>
            <a:r>
              <a:rPr lang="en-US" sz="2400" b="1" dirty="0">
                <a:solidFill>
                  <a:srgbClr val="EAEFF7"/>
                </a:solidFill>
                <a:latin typeface="Helvetica" pitchFamily="34" charset="0"/>
                <a:ea typeface="Helvetica" pitchFamily="34" charset="-122"/>
                <a:cs typeface="Helvetica" pitchFamily="34" charset="-120"/>
              </a:rPr>
              <a:t>온디바이스 우선</a:t>
            </a:r>
            <a:endParaRPr lang="en-US" sz="2400" dirty="0"/>
          </a:p>
        </p:txBody>
      </p:sp>
      <p:sp>
        <p:nvSpPr>
          <p:cNvPr id="12" name="Text 10"/>
          <p:cNvSpPr/>
          <p:nvPr/>
        </p:nvSpPr>
        <p:spPr>
          <a:xfrm>
            <a:off x="6810375" y="3981450"/>
            <a:ext cx="4807268" cy="756047"/>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b="1" dirty="0">
                <a:solidFill>
                  <a:schemeClr val="bg1"/>
                </a:solidFill>
                <a:latin typeface="Helvetica" pitchFamily="34" charset="0"/>
                <a:ea typeface="Helvetica" pitchFamily="34" charset="-122"/>
                <a:cs typeface="Helvetica" pitchFamily="34" charset="-120"/>
              </a:rPr>
              <a:t>원시 센서는 기기 내 처리, 클라우드는 선택적 Gemini </a:t>
            </a:r>
            <a:r>
              <a:rPr lang="en-US" sz="1950" b="1" dirty="0" err="1">
                <a:solidFill>
                  <a:schemeClr val="bg1"/>
                </a:solidFill>
                <a:latin typeface="Helvetica" pitchFamily="34" charset="0"/>
                <a:ea typeface="Helvetica" pitchFamily="34" charset="-122"/>
                <a:cs typeface="Helvetica" pitchFamily="34" charset="-120"/>
              </a:rPr>
              <a:t>요약만</a:t>
            </a:r>
            <a:r>
              <a:rPr lang="en-US" sz="1950" b="1" dirty="0">
                <a:solidFill>
                  <a:schemeClr val="bg1"/>
                </a:solidFill>
                <a:latin typeface="Helvetica" pitchFamily="34" charset="0"/>
                <a:ea typeface="Helvetica" pitchFamily="34" charset="-122"/>
                <a:cs typeface="Helvetica" pitchFamily="34" charset="-120"/>
              </a:rPr>
              <a:t>(</a:t>
            </a:r>
            <a:r>
              <a:rPr lang="ko-KR" altLang="en-US" sz="1950" b="1" dirty="0">
                <a:solidFill>
                  <a:schemeClr val="bg1"/>
                </a:solidFill>
                <a:latin typeface="Helvetica" pitchFamily="34" charset="0"/>
                <a:ea typeface="Helvetica" pitchFamily="34" charset="-122"/>
                <a:cs typeface="Helvetica" pitchFamily="34" charset="-120"/>
              </a:rPr>
              <a:t>보안 문제 해결</a:t>
            </a:r>
            <a:r>
              <a:rPr lang="en-US" altLang="ko-KR" sz="1950" b="1" dirty="0">
                <a:solidFill>
                  <a:schemeClr val="bg1"/>
                </a:solidFill>
                <a:latin typeface="Helvetica" pitchFamily="34" charset="0"/>
                <a:ea typeface="Helvetica" pitchFamily="34" charset="-122"/>
                <a:cs typeface="Helvetica" pitchFamily="34" charset="-120"/>
              </a:rPr>
              <a:t>)</a:t>
            </a:r>
            <a:endParaRPr lang="en-US" sz="1950" b="1" dirty="0">
              <a:solidFill>
                <a:schemeClr val="bg1"/>
              </a:solidFill>
            </a:endParaRPr>
          </a:p>
        </p:txBody>
      </p:sp>
      <p:sp>
        <p:nvSpPr>
          <p:cNvPr id="13" name="Shape 11"/>
          <p:cNvSpPr/>
          <p:nvPr/>
        </p:nvSpPr>
        <p:spPr>
          <a:xfrm>
            <a:off x="11982450" y="2717619"/>
            <a:ext cx="5257800" cy="2289572"/>
          </a:xfrm>
          <a:prstGeom prst="roundRect">
            <a:avLst>
              <a:gd name="adj" fmla="val 5824"/>
            </a:avLst>
          </a:prstGeom>
          <a:solidFill>
            <a:srgbClr val="0E1626"/>
          </a:solidFill>
          <a:ln w="9525">
            <a:solidFill>
              <a:srgbClr val="213049"/>
            </a:solidFill>
            <a:prstDash val="solid"/>
          </a:ln>
        </p:spPr>
        <p:txBody>
          <a:bodyPr/>
          <a:lstStyle/>
          <a:p>
            <a:endParaRPr lang="ko-KR" altLang="en-US"/>
          </a:p>
        </p:txBody>
      </p:sp>
      <p:sp>
        <p:nvSpPr>
          <p:cNvPr id="14" name="Text 12"/>
          <p:cNvSpPr/>
          <p:nvPr/>
        </p:nvSpPr>
        <p:spPr>
          <a:xfrm>
            <a:off x="12277725" y="3019425"/>
            <a:ext cx="4807268"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6FE3D2"/>
                </a:solidFill>
                <a:latin typeface="Courier New" pitchFamily="34" charset="0"/>
                <a:ea typeface="Courier New" pitchFamily="34" charset="-122"/>
                <a:cs typeface="Courier New" pitchFamily="34" charset="-120"/>
              </a:rPr>
              <a:t>03 · VIEW</a:t>
            </a:r>
            <a:endParaRPr lang="en-US" sz="1800" dirty="0"/>
          </a:p>
        </p:txBody>
      </p:sp>
      <p:sp>
        <p:nvSpPr>
          <p:cNvPr id="15" name="Text 13"/>
          <p:cNvSpPr/>
          <p:nvPr/>
        </p:nvSpPr>
        <p:spPr>
          <a:xfrm>
            <a:off x="12277725" y="3409950"/>
            <a:ext cx="4807268" cy="476250"/>
          </a:xfrm>
          <a:prstGeom prst="rect">
            <a:avLst/>
          </a:prstGeom>
          <a:noFill/>
          <a:ln/>
        </p:spPr>
        <p:txBody>
          <a:bodyPr wrap="square" lIns="25400" tIns="25400" rIns="25400" bIns="25400" rtlCol="0" anchor="t">
            <a:normAutofit/>
          </a:bodyPr>
          <a:lstStyle/>
          <a:p>
            <a:pPr marL="0" indent="0" algn="l">
              <a:buNone/>
            </a:pPr>
            <a:r>
              <a:rPr lang="en-US" sz="2400" b="1" dirty="0">
                <a:solidFill>
                  <a:srgbClr val="EAEFF7"/>
                </a:solidFill>
                <a:latin typeface="Helvetica" pitchFamily="34" charset="0"/>
                <a:ea typeface="Helvetica" pitchFamily="34" charset="-122"/>
                <a:cs typeface="Helvetica" pitchFamily="34" charset="-120"/>
              </a:rPr>
              <a:t>공간 시각화 3모드</a:t>
            </a:r>
            <a:endParaRPr lang="en-US" sz="2400" dirty="0"/>
          </a:p>
        </p:txBody>
      </p:sp>
      <p:sp>
        <p:nvSpPr>
          <p:cNvPr id="16" name="Text 14"/>
          <p:cNvSpPr/>
          <p:nvPr/>
        </p:nvSpPr>
        <p:spPr>
          <a:xfrm>
            <a:off x="12277725" y="3981450"/>
            <a:ext cx="4807268" cy="756047"/>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b="1" dirty="0">
                <a:solidFill>
                  <a:schemeClr val="bg1"/>
                </a:solidFill>
                <a:latin typeface="Helvetica" pitchFamily="34" charset="0"/>
                <a:ea typeface="Helvetica" pitchFamily="34" charset="-122"/>
                <a:cs typeface="Helvetica" pitchFamily="34" charset="-120"/>
              </a:rPr>
              <a:t>홈(점수·세션) / AR(카메라+오버레이) / </a:t>
            </a:r>
          </a:p>
          <a:p>
            <a:pPr marL="0" indent="0" algn="l">
              <a:lnSpc>
                <a:spcPct val="145000"/>
              </a:lnSpc>
              <a:buNone/>
            </a:pPr>
            <a:r>
              <a:rPr lang="en-US" sz="1950" b="1" dirty="0" err="1">
                <a:solidFill>
                  <a:schemeClr val="bg1"/>
                </a:solidFill>
                <a:latin typeface="Helvetica" pitchFamily="34" charset="0"/>
                <a:ea typeface="Helvetica" pitchFamily="34" charset="-122"/>
                <a:cs typeface="Helvetica" pitchFamily="34" charset="-120"/>
              </a:rPr>
              <a:t>미니맵·구역</a:t>
            </a:r>
            <a:r>
              <a:rPr lang="en-US" sz="1950" b="1" dirty="0">
                <a:solidFill>
                  <a:schemeClr val="bg1"/>
                </a:solidFill>
                <a:latin typeface="Helvetica" pitchFamily="34" charset="0"/>
                <a:ea typeface="Helvetica" pitchFamily="34" charset="-122"/>
                <a:cs typeface="Helvetica" pitchFamily="34" charset="-120"/>
              </a:rPr>
              <a:t>(위치 </a:t>
            </a:r>
            <a:r>
              <a:rPr lang="en-US" sz="1950" b="1" dirty="0" err="1">
                <a:solidFill>
                  <a:schemeClr val="bg1"/>
                </a:solidFill>
                <a:latin typeface="Helvetica" pitchFamily="34" charset="0"/>
                <a:ea typeface="Helvetica" pitchFamily="34" charset="-122"/>
                <a:cs typeface="Helvetica" pitchFamily="34" charset="-120"/>
              </a:rPr>
              <a:t>탐색</a:t>
            </a:r>
            <a:r>
              <a:rPr lang="en-US" sz="1950" b="1" dirty="0">
                <a:solidFill>
                  <a:schemeClr val="bg1"/>
                </a:solidFill>
                <a:latin typeface="Helvetica" pitchFamily="34" charset="0"/>
                <a:ea typeface="Helvetica" pitchFamily="34" charset="-122"/>
                <a:cs typeface="Helvetica" pitchFamily="34" charset="-120"/>
              </a:rPr>
              <a:t>)</a:t>
            </a:r>
            <a:endParaRPr lang="en-US" sz="1950" b="1" dirty="0">
              <a:solidFill>
                <a:schemeClr val="bg1"/>
              </a:solidFill>
            </a:endParaRPr>
          </a:p>
        </p:txBody>
      </p:sp>
      <p:sp>
        <p:nvSpPr>
          <p:cNvPr id="17" name="Shape 15"/>
          <p:cNvSpPr/>
          <p:nvPr/>
        </p:nvSpPr>
        <p:spPr>
          <a:xfrm>
            <a:off x="1047750" y="5223272"/>
            <a:ext cx="5257800" cy="2289572"/>
          </a:xfrm>
          <a:prstGeom prst="roundRect">
            <a:avLst>
              <a:gd name="adj" fmla="val 5824"/>
            </a:avLst>
          </a:prstGeom>
          <a:solidFill>
            <a:srgbClr val="0E1626"/>
          </a:solidFill>
          <a:ln w="9525">
            <a:solidFill>
              <a:srgbClr val="213049"/>
            </a:solidFill>
            <a:prstDash val="solid"/>
          </a:ln>
        </p:spPr>
        <p:txBody>
          <a:bodyPr/>
          <a:lstStyle/>
          <a:p>
            <a:endParaRPr lang="ko-KR" altLang="en-US"/>
          </a:p>
        </p:txBody>
      </p:sp>
      <p:sp>
        <p:nvSpPr>
          <p:cNvPr id="18" name="Text 16"/>
          <p:cNvSpPr/>
          <p:nvPr/>
        </p:nvSpPr>
        <p:spPr>
          <a:xfrm>
            <a:off x="1343025" y="5518547"/>
            <a:ext cx="4807268"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6FE3D2"/>
                </a:solidFill>
                <a:latin typeface="Courier New" pitchFamily="34" charset="0"/>
                <a:ea typeface="Courier New" pitchFamily="34" charset="-122"/>
                <a:cs typeface="Courier New" pitchFamily="34" charset="-120"/>
              </a:rPr>
              <a:t>04 · CALIBRATE</a:t>
            </a:r>
            <a:endParaRPr lang="en-US" sz="1800" dirty="0"/>
          </a:p>
        </p:txBody>
      </p:sp>
      <p:sp>
        <p:nvSpPr>
          <p:cNvPr id="19" name="Text 17"/>
          <p:cNvSpPr/>
          <p:nvPr/>
        </p:nvSpPr>
        <p:spPr>
          <a:xfrm>
            <a:off x="1343025" y="5909072"/>
            <a:ext cx="4807268" cy="476250"/>
          </a:xfrm>
          <a:prstGeom prst="rect">
            <a:avLst/>
          </a:prstGeom>
          <a:noFill/>
          <a:ln/>
        </p:spPr>
        <p:txBody>
          <a:bodyPr wrap="square" lIns="25400" tIns="25400" rIns="25400" bIns="25400" rtlCol="0" anchor="t">
            <a:normAutofit/>
          </a:bodyPr>
          <a:lstStyle/>
          <a:p>
            <a:pPr marL="0" indent="0" algn="l">
              <a:buNone/>
            </a:pPr>
            <a:r>
              <a:rPr lang="en-US" sz="2400" b="1" dirty="0">
                <a:solidFill>
                  <a:srgbClr val="EAEFF7"/>
                </a:solidFill>
                <a:latin typeface="Helvetica" pitchFamily="34" charset="0"/>
                <a:ea typeface="Helvetica" pitchFamily="34" charset="-122"/>
                <a:cs typeface="Helvetica" pitchFamily="34" charset="-120"/>
              </a:rPr>
              <a:t>8자 보정 + 상대 비교</a:t>
            </a:r>
            <a:endParaRPr lang="en-US" sz="2400" dirty="0"/>
          </a:p>
        </p:txBody>
      </p:sp>
      <p:sp>
        <p:nvSpPr>
          <p:cNvPr id="20" name="Text 18"/>
          <p:cNvSpPr/>
          <p:nvPr/>
        </p:nvSpPr>
        <p:spPr>
          <a:xfrm>
            <a:off x="1343025" y="6480572"/>
            <a:ext cx="4807268" cy="756047"/>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b="1" dirty="0">
                <a:solidFill>
                  <a:schemeClr val="bg1"/>
                </a:solidFill>
                <a:latin typeface="Helvetica" pitchFamily="34" charset="0"/>
                <a:ea typeface="Helvetica" pitchFamily="34" charset="-122"/>
                <a:cs typeface="Helvetica" pitchFamily="34" charset="-120"/>
              </a:rPr>
              <a:t>기기·환경 편차 보정 → 같은 자세·같은 기기에서 전후 </a:t>
            </a:r>
            <a:r>
              <a:rPr lang="en-US" sz="1950" b="1" dirty="0" err="1">
                <a:solidFill>
                  <a:schemeClr val="bg1"/>
                </a:solidFill>
                <a:latin typeface="Helvetica" pitchFamily="34" charset="0"/>
                <a:ea typeface="Helvetica" pitchFamily="34" charset="-122"/>
                <a:cs typeface="Helvetica" pitchFamily="34" charset="-120"/>
              </a:rPr>
              <a:t>비교에</a:t>
            </a:r>
            <a:r>
              <a:rPr lang="en-US" sz="1950" b="1" dirty="0">
                <a:solidFill>
                  <a:schemeClr val="bg1"/>
                </a:solidFill>
                <a:latin typeface="Helvetica" pitchFamily="34" charset="0"/>
                <a:ea typeface="Helvetica" pitchFamily="34" charset="-122"/>
                <a:cs typeface="Helvetica" pitchFamily="34" charset="-120"/>
              </a:rPr>
              <a:t> </a:t>
            </a:r>
            <a:r>
              <a:rPr lang="en-US" sz="1950" b="1" dirty="0" err="1">
                <a:solidFill>
                  <a:schemeClr val="bg1"/>
                </a:solidFill>
                <a:latin typeface="Helvetica" pitchFamily="34" charset="0"/>
                <a:ea typeface="Helvetica" pitchFamily="34" charset="-122"/>
                <a:cs typeface="Helvetica" pitchFamily="34" charset="-120"/>
              </a:rPr>
              <a:t>최적화</a:t>
            </a:r>
            <a:endParaRPr lang="en-US" sz="1950" b="1" dirty="0">
              <a:solidFill>
                <a:schemeClr val="bg1"/>
              </a:solidFill>
            </a:endParaRPr>
          </a:p>
        </p:txBody>
      </p:sp>
      <p:sp>
        <p:nvSpPr>
          <p:cNvPr id="21" name="Shape 19"/>
          <p:cNvSpPr/>
          <p:nvPr/>
        </p:nvSpPr>
        <p:spPr>
          <a:xfrm>
            <a:off x="6515100" y="5223272"/>
            <a:ext cx="5257800" cy="2289572"/>
          </a:xfrm>
          <a:prstGeom prst="roundRect">
            <a:avLst>
              <a:gd name="adj" fmla="val 5824"/>
            </a:avLst>
          </a:prstGeom>
          <a:solidFill>
            <a:srgbClr val="0E1626"/>
          </a:solidFill>
          <a:ln w="9525">
            <a:solidFill>
              <a:srgbClr val="213049"/>
            </a:solidFill>
            <a:prstDash val="solid"/>
          </a:ln>
        </p:spPr>
        <p:txBody>
          <a:bodyPr/>
          <a:lstStyle/>
          <a:p>
            <a:endParaRPr lang="ko-KR" altLang="en-US"/>
          </a:p>
        </p:txBody>
      </p:sp>
      <p:sp>
        <p:nvSpPr>
          <p:cNvPr id="22" name="Text 20"/>
          <p:cNvSpPr/>
          <p:nvPr/>
        </p:nvSpPr>
        <p:spPr>
          <a:xfrm>
            <a:off x="6810375" y="5518547"/>
            <a:ext cx="4807268"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6FE3D2"/>
                </a:solidFill>
                <a:latin typeface="Courier New" pitchFamily="34" charset="0"/>
                <a:ea typeface="Courier New" pitchFamily="34" charset="-122"/>
                <a:cs typeface="Courier New" pitchFamily="34" charset="-120"/>
              </a:rPr>
              <a:t>05 · PRESET</a:t>
            </a:r>
            <a:endParaRPr lang="en-US" sz="1800" dirty="0"/>
          </a:p>
        </p:txBody>
      </p:sp>
      <p:sp>
        <p:nvSpPr>
          <p:cNvPr id="23" name="Text 21"/>
          <p:cNvSpPr/>
          <p:nvPr/>
        </p:nvSpPr>
        <p:spPr>
          <a:xfrm>
            <a:off x="6810375" y="5909072"/>
            <a:ext cx="4807268" cy="476250"/>
          </a:xfrm>
          <a:prstGeom prst="rect">
            <a:avLst/>
          </a:prstGeom>
          <a:noFill/>
          <a:ln/>
        </p:spPr>
        <p:txBody>
          <a:bodyPr wrap="square" lIns="25400" tIns="25400" rIns="25400" bIns="25400" rtlCol="0" anchor="t">
            <a:normAutofit/>
          </a:bodyPr>
          <a:lstStyle/>
          <a:p>
            <a:pPr marL="0" indent="0" algn="l">
              <a:buNone/>
            </a:pPr>
            <a:r>
              <a:rPr lang="en-US" sz="2400" b="1" dirty="0">
                <a:solidFill>
                  <a:srgbClr val="EAEFF7"/>
                </a:solidFill>
                <a:latin typeface="Helvetica" pitchFamily="34" charset="0"/>
                <a:ea typeface="Helvetica" pitchFamily="34" charset="-122"/>
                <a:cs typeface="Helvetica" pitchFamily="34" charset="-120"/>
              </a:rPr>
              <a:t>민감도 프리셋</a:t>
            </a:r>
            <a:endParaRPr lang="en-US" sz="2400" dirty="0"/>
          </a:p>
        </p:txBody>
      </p:sp>
      <p:sp>
        <p:nvSpPr>
          <p:cNvPr id="24" name="Text 22"/>
          <p:cNvSpPr/>
          <p:nvPr/>
        </p:nvSpPr>
        <p:spPr>
          <a:xfrm>
            <a:off x="6810375" y="6480572"/>
            <a:ext cx="4807268" cy="756047"/>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b="1" dirty="0">
                <a:solidFill>
                  <a:schemeClr val="bg1"/>
                </a:solidFill>
                <a:latin typeface="Helvetica" pitchFamily="34" charset="0"/>
                <a:ea typeface="Helvetica" pitchFamily="34" charset="-122"/>
                <a:cs typeface="Helvetica" pitchFamily="34" charset="-120"/>
              </a:rPr>
              <a:t>일반(≤60) / 도서관(≤63) / 민감(≤70)  </a:t>
            </a:r>
          </a:p>
          <a:p>
            <a:pPr marL="0" indent="0" algn="l">
              <a:lnSpc>
                <a:spcPct val="145000"/>
              </a:lnSpc>
              <a:buNone/>
            </a:pPr>
            <a:r>
              <a:rPr lang="en-US" sz="1950" b="1" dirty="0">
                <a:solidFill>
                  <a:schemeClr val="bg1"/>
                </a:solidFill>
                <a:latin typeface="Helvetica" pitchFamily="34" charset="0"/>
                <a:ea typeface="Helvetica" pitchFamily="34" charset="-122"/>
                <a:cs typeface="Helvetica" pitchFamily="34" charset="-120"/>
              </a:rPr>
              <a:t>=&gt; </a:t>
            </a:r>
            <a:r>
              <a:rPr lang="en-US" sz="1950" b="1" dirty="0" err="1">
                <a:solidFill>
                  <a:schemeClr val="bg1"/>
                </a:solidFill>
                <a:latin typeface="Helvetica" pitchFamily="34" charset="0"/>
                <a:ea typeface="Helvetica" pitchFamily="34" charset="-122"/>
                <a:cs typeface="Helvetica" pitchFamily="34" charset="-120"/>
              </a:rPr>
              <a:t>사용자</a:t>
            </a:r>
            <a:r>
              <a:rPr lang="en-US" sz="1950" b="1" dirty="0">
                <a:solidFill>
                  <a:schemeClr val="bg1"/>
                </a:solidFill>
                <a:latin typeface="Helvetica" pitchFamily="34" charset="0"/>
                <a:ea typeface="Helvetica" pitchFamily="34" charset="-122"/>
                <a:cs typeface="Helvetica" pitchFamily="34" charset="-120"/>
              </a:rPr>
              <a:t> 선택형 알림.</a:t>
            </a:r>
            <a:endParaRPr lang="en-US" sz="1950" b="1" dirty="0">
              <a:solidFill>
                <a:schemeClr val="bg1"/>
              </a:solidFill>
            </a:endParaRPr>
          </a:p>
        </p:txBody>
      </p:sp>
      <p:sp>
        <p:nvSpPr>
          <p:cNvPr id="25" name="Shape 23"/>
          <p:cNvSpPr/>
          <p:nvPr/>
        </p:nvSpPr>
        <p:spPr>
          <a:xfrm>
            <a:off x="11982450" y="5223272"/>
            <a:ext cx="5257800" cy="2289572"/>
          </a:xfrm>
          <a:prstGeom prst="roundRect">
            <a:avLst>
              <a:gd name="adj" fmla="val 5824"/>
            </a:avLst>
          </a:prstGeom>
          <a:solidFill>
            <a:srgbClr val="103631">
              <a:alpha val="50000"/>
            </a:srgbClr>
          </a:solidFill>
          <a:ln w="9525">
            <a:solidFill>
              <a:srgbClr val="1F8B7A"/>
            </a:solidFill>
            <a:prstDash val="solid"/>
          </a:ln>
        </p:spPr>
        <p:txBody>
          <a:bodyPr/>
          <a:lstStyle/>
          <a:p>
            <a:endParaRPr lang="ko-KR" altLang="en-US"/>
          </a:p>
        </p:txBody>
      </p:sp>
      <p:sp>
        <p:nvSpPr>
          <p:cNvPr id="26" name="Text 24"/>
          <p:cNvSpPr/>
          <p:nvPr/>
        </p:nvSpPr>
        <p:spPr>
          <a:xfrm>
            <a:off x="12547147" y="5858606"/>
            <a:ext cx="4397828" cy="1018903"/>
          </a:xfrm>
          <a:prstGeom prst="rect">
            <a:avLst/>
          </a:prstGeom>
          <a:noFill/>
          <a:ln/>
        </p:spPr>
        <p:txBody>
          <a:bodyPr wrap="square" lIns="25400" tIns="25400" rIns="25400" bIns="25400" rtlCol="0" anchor="t">
            <a:normAutofit/>
          </a:bodyPr>
          <a:lstStyle/>
          <a:p>
            <a:pPr marL="0" indent="0" algn="l">
              <a:lnSpc>
                <a:spcPct val="140000"/>
              </a:lnSpc>
              <a:buNone/>
            </a:pPr>
            <a:r>
              <a:rPr lang="en-US" sz="2250" b="1" dirty="0">
                <a:solidFill>
                  <a:srgbClr val="EAEFF7"/>
                </a:solidFill>
                <a:latin typeface="Helvetica" pitchFamily="34" charset="0"/>
                <a:ea typeface="Helvetica" pitchFamily="34" charset="-122"/>
                <a:cs typeface="Helvetica" pitchFamily="34" charset="-120"/>
              </a:rPr>
              <a:t>「집중 </a:t>
            </a:r>
            <a:r>
              <a:rPr lang="en-US" sz="2250" b="1" dirty="0" err="1">
                <a:solidFill>
                  <a:srgbClr val="EAEFF7"/>
                </a:solidFill>
                <a:latin typeface="Helvetica" pitchFamily="34" charset="0"/>
                <a:ea typeface="Helvetica" pitchFamily="34" charset="-122"/>
                <a:cs typeface="Helvetica" pitchFamily="34" charset="-120"/>
              </a:rPr>
              <a:t>타이머</a:t>
            </a:r>
            <a:r>
              <a:rPr lang="en-US" sz="2250" b="1" dirty="0">
                <a:solidFill>
                  <a:srgbClr val="EAEFF7"/>
                </a:solidFill>
                <a:latin typeface="Helvetica" pitchFamily="34" charset="0"/>
                <a:ea typeface="Helvetica" pitchFamily="34" charset="-122"/>
                <a:cs typeface="Helvetica" pitchFamily="34" charset="-120"/>
              </a:rPr>
              <a:t> </a:t>
            </a:r>
            <a:r>
              <a:rPr lang="ko-KR" altLang="en-US" sz="2250" b="1" dirty="0">
                <a:solidFill>
                  <a:srgbClr val="EAEFF7"/>
                </a:solidFill>
                <a:latin typeface="Helvetica" pitchFamily="34" charset="0"/>
                <a:ea typeface="Helvetica" pitchFamily="34" charset="-122"/>
                <a:cs typeface="Helvetica" pitchFamily="34" charset="-120"/>
              </a:rPr>
              <a:t>기능</a:t>
            </a:r>
            <a:r>
              <a:rPr lang="en-US" sz="2250" b="1" dirty="0">
                <a:solidFill>
                  <a:srgbClr val="EAEFF7"/>
                </a:solidFill>
                <a:latin typeface="Helvetica" pitchFamily="34" charset="0"/>
                <a:ea typeface="Helvetica" pitchFamily="34" charset="-122"/>
                <a:cs typeface="Helvetica" pitchFamily="34" charset="-120"/>
              </a:rPr>
              <a:t>이 </a:t>
            </a:r>
            <a:r>
              <a:rPr lang="en-US" sz="2250" b="1" dirty="0" err="1">
                <a:solidFill>
                  <a:srgbClr val="EAEFF7"/>
                </a:solidFill>
                <a:latin typeface="Helvetica" pitchFamily="34" charset="0"/>
                <a:ea typeface="Helvetica" pitchFamily="34" charset="-122"/>
                <a:cs typeface="Helvetica" pitchFamily="34" charset="-120"/>
              </a:rPr>
              <a:t>아니라</a:t>
            </a:r>
            <a:r>
              <a:rPr lang="en-US" sz="2250" b="1" dirty="0">
                <a:solidFill>
                  <a:srgbClr val="EAEFF7"/>
                </a:solidFill>
                <a:latin typeface="Helvetica" pitchFamily="34" charset="0"/>
                <a:ea typeface="Helvetica" pitchFamily="34" charset="-122"/>
                <a:cs typeface="Helvetica" pitchFamily="34" charset="-120"/>
              </a:rPr>
              <a:t>, </a:t>
            </a:r>
          </a:p>
          <a:p>
            <a:pPr marL="0" indent="0" algn="l">
              <a:lnSpc>
                <a:spcPct val="140000"/>
              </a:lnSpc>
              <a:buNone/>
            </a:pPr>
            <a:r>
              <a:rPr lang="en-US" sz="2250" b="1" dirty="0">
                <a:solidFill>
                  <a:srgbClr val="6FE3D2"/>
                </a:solidFill>
                <a:latin typeface="Helvetica" pitchFamily="34" charset="0"/>
                <a:ea typeface="Helvetica" pitchFamily="34" charset="-122"/>
                <a:cs typeface="Helvetica" pitchFamily="34" charset="-120"/>
              </a:rPr>
              <a:t>내 자리의 환경을 재는 집중 코치」</a:t>
            </a:r>
            <a:endParaRPr lang="en-US" sz="2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C16"/>
        </a:solidFill>
        <a:effectLst/>
      </p:bgPr>
    </p:bg>
    <p:spTree>
      <p:nvGrpSpPr>
        <p:cNvPr id="1" name=""/>
        <p:cNvGrpSpPr/>
        <p:nvPr/>
      </p:nvGrpSpPr>
      <p:grpSpPr>
        <a:xfrm>
          <a:off x="0" y="0"/>
          <a:ext cx="0" cy="0"/>
          <a:chOff x="0" y="0"/>
          <a:chExt cx="0" cy="0"/>
        </a:xfrm>
      </p:grpSpPr>
      <p:sp>
        <p:nvSpPr>
          <p:cNvPr id="2" name="Text 0"/>
          <p:cNvSpPr/>
          <p:nvPr/>
        </p:nvSpPr>
        <p:spPr>
          <a:xfrm>
            <a:off x="1047750" y="866775"/>
            <a:ext cx="47252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kern="0" spc="390" dirty="0">
                <a:solidFill>
                  <a:schemeClr val="bg1"/>
                </a:solidFill>
                <a:latin typeface="Courier New" pitchFamily="34" charset="0"/>
                <a:ea typeface="Courier New" pitchFamily="34" charset="-122"/>
                <a:cs typeface="Courier New" pitchFamily="34" charset="-120"/>
              </a:rPr>
              <a:t>04</a:t>
            </a:r>
            <a:endParaRPr lang="en-US" sz="1950" dirty="0">
              <a:solidFill>
                <a:schemeClr val="bg1"/>
              </a:solidFill>
            </a:endParaRPr>
          </a:p>
        </p:txBody>
      </p:sp>
      <p:sp>
        <p:nvSpPr>
          <p:cNvPr id="3" name="Text 1"/>
          <p:cNvSpPr/>
          <p:nvPr/>
        </p:nvSpPr>
        <p:spPr>
          <a:xfrm>
            <a:off x="1596479" y="857250"/>
            <a:ext cx="3367540" cy="342900"/>
          </a:xfrm>
          <a:prstGeom prst="rect">
            <a:avLst/>
          </a:prstGeom>
          <a:noFill/>
          <a:ln/>
        </p:spPr>
        <p:txBody>
          <a:bodyPr wrap="square" lIns="25400" tIns="25400" rIns="25400" bIns="25400" rtlCol="0" anchor="t">
            <a:normAutofit lnSpcReduction="10000"/>
          </a:bodyPr>
          <a:lstStyle/>
          <a:p>
            <a:pPr marL="0" indent="0" algn="l">
              <a:buNone/>
            </a:pPr>
            <a:r>
              <a:rPr lang="ko-KR" altLang="en-US" sz="1950" kern="0" spc="390" dirty="0">
                <a:solidFill>
                  <a:srgbClr val="6FE3D2"/>
                </a:solidFill>
                <a:latin typeface="Courier New" pitchFamily="34" charset="0"/>
                <a:cs typeface="Courier New" pitchFamily="34" charset="-120"/>
              </a:rPr>
              <a:t>제</a:t>
            </a:r>
            <a:r>
              <a:rPr lang="en-US" altLang="ko-KR" sz="1950" kern="0" spc="390" dirty="0">
                <a:solidFill>
                  <a:srgbClr val="6FE3D2"/>
                </a:solidFill>
                <a:latin typeface="Courier New" pitchFamily="34" charset="0"/>
                <a:cs typeface="Courier New" pitchFamily="34" charset="-120"/>
              </a:rPr>
              <a:t>1 </a:t>
            </a:r>
            <a:r>
              <a:rPr lang="ko-KR" altLang="en-US" sz="1950" kern="0" spc="390" dirty="0">
                <a:solidFill>
                  <a:srgbClr val="6FE3D2"/>
                </a:solidFill>
                <a:latin typeface="Courier New" pitchFamily="34" charset="0"/>
                <a:cs typeface="Courier New" pitchFamily="34" charset="-120"/>
              </a:rPr>
              <a:t>기능 </a:t>
            </a:r>
            <a:r>
              <a:rPr lang="en-US" altLang="ko-KR" sz="1950" kern="0" spc="390" dirty="0">
                <a:solidFill>
                  <a:srgbClr val="6FE3D2"/>
                </a:solidFill>
                <a:latin typeface="Courier New" pitchFamily="34" charset="0"/>
                <a:cs typeface="Courier New" pitchFamily="34" charset="-120"/>
              </a:rPr>
              <a:t>- </a:t>
            </a:r>
            <a:r>
              <a:rPr lang="ko-KR" altLang="en-US" sz="1950" kern="0" spc="390" dirty="0">
                <a:solidFill>
                  <a:srgbClr val="6FE3D2"/>
                </a:solidFill>
                <a:latin typeface="Courier New" pitchFamily="34" charset="0"/>
                <a:cs typeface="Courier New" pitchFamily="34" charset="-120"/>
              </a:rPr>
              <a:t>홈 화면</a:t>
            </a:r>
            <a:endParaRPr lang="en-US" sz="1950" dirty="0"/>
          </a:p>
        </p:txBody>
      </p:sp>
      <p:sp>
        <p:nvSpPr>
          <p:cNvPr id="4" name="Text 2"/>
          <p:cNvSpPr/>
          <p:nvPr/>
        </p:nvSpPr>
        <p:spPr>
          <a:xfrm>
            <a:off x="1047750" y="1390650"/>
            <a:ext cx="16678275" cy="952500"/>
          </a:xfrm>
          <a:prstGeom prst="rect">
            <a:avLst/>
          </a:prstGeom>
          <a:noFill/>
          <a:ln/>
        </p:spPr>
        <p:txBody>
          <a:bodyPr wrap="square" lIns="25400" tIns="25400" rIns="25400" bIns="25400" rtlCol="0" anchor="t">
            <a:normAutofit/>
          </a:bodyPr>
          <a:lstStyle/>
          <a:p>
            <a:pPr marL="0" indent="0" algn="l">
              <a:buNone/>
            </a:pPr>
            <a:r>
              <a:rPr lang="en-US" sz="4950" b="1" kern="0" spc="-49" dirty="0">
                <a:solidFill>
                  <a:srgbClr val="EAEFF7"/>
                </a:solidFill>
                <a:latin typeface="Helvetica" pitchFamily="34" charset="0"/>
                <a:ea typeface="Helvetica" pitchFamily="34" charset="-122"/>
                <a:cs typeface="Helvetica" pitchFamily="34" charset="-120"/>
              </a:rPr>
              <a:t>핵심 기능 ① — </a:t>
            </a:r>
            <a:r>
              <a:rPr lang="ko-KR" altLang="en-US" sz="4950" b="1" kern="0" spc="-49" dirty="0">
                <a:solidFill>
                  <a:srgbClr val="EAEFF7"/>
                </a:solidFill>
                <a:latin typeface="Helvetica" pitchFamily="34" charset="0"/>
                <a:ea typeface="Helvetica" pitchFamily="34" charset="-122"/>
                <a:cs typeface="Helvetica" pitchFamily="34" charset="-120"/>
              </a:rPr>
              <a:t>사용자의 몰입을 유도하는</a:t>
            </a:r>
            <a:r>
              <a:rPr lang="en-US" sz="4950" b="1" kern="0" spc="-49" dirty="0">
                <a:solidFill>
                  <a:srgbClr val="EAEFF7"/>
                </a:solidFill>
                <a:latin typeface="Helvetica" pitchFamily="34" charset="0"/>
                <a:ea typeface="Helvetica" pitchFamily="34" charset="-122"/>
                <a:cs typeface="Helvetica" pitchFamily="34" charset="-120"/>
              </a:rPr>
              <a:t> 대시보드</a:t>
            </a:r>
            <a:endParaRPr lang="en-US" sz="4950" dirty="0"/>
          </a:p>
        </p:txBody>
      </p:sp>
      <p:sp>
        <p:nvSpPr>
          <p:cNvPr id="5" name="Shape 3"/>
          <p:cNvSpPr/>
          <p:nvPr/>
        </p:nvSpPr>
        <p:spPr>
          <a:xfrm>
            <a:off x="435429" y="2302329"/>
            <a:ext cx="4058193" cy="7642860"/>
          </a:xfrm>
          <a:prstGeom prst="roundRect">
            <a:avLst>
              <a:gd name="adj" fmla="val 11936"/>
            </a:avLst>
          </a:prstGeom>
          <a:solidFill>
            <a:srgbClr val="0E1626"/>
          </a:solidFill>
          <a:ln w="9525">
            <a:solidFill>
              <a:srgbClr val="213049"/>
            </a:solidFill>
            <a:prstDash val="solid"/>
          </a:ln>
        </p:spPr>
        <p:txBody>
          <a:bodyPr/>
          <a:lstStyle/>
          <a:p>
            <a:endParaRPr lang="ko-KR" altLang="en-US"/>
          </a:p>
        </p:txBody>
      </p:sp>
      <p:pic>
        <p:nvPicPr>
          <p:cNvPr id="6" name="Image 0" descr="preencoded.png"/>
          <p:cNvPicPr>
            <a:picLocks noChangeAspect="1"/>
          </p:cNvPicPr>
          <p:nvPr/>
        </p:nvPicPr>
        <p:blipFill>
          <a:blip r:embed="rId3"/>
          <a:stretch>
            <a:fillRect/>
          </a:stretch>
        </p:blipFill>
        <p:spPr>
          <a:xfrm>
            <a:off x="1047750" y="2343150"/>
            <a:ext cx="2670295" cy="7606374"/>
          </a:xfrm>
          <a:prstGeom prst="rect">
            <a:avLst/>
          </a:prstGeom>
        </p:spPr>
      </p:pic>
      <p:sp>
        <p:nvSpPr>
          <p:cNvPr id="7" name="Text 4"/>
          <p:cNvSpPr/>
          <p:nvPr/>
        </p:nvSpPr>
        <p:spPr>
          <a:xfrm>
            <a:off x="5695106" y="3819525"/>
            <a:ext cx="1981200"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6FE3D2"/>
                </a:solidFill>
                <a:latin typeface="Courier New" pitchFamily="34" charset="0"/>
                <a:ea typeface="Courier New" pitchFamily="34" charset="-122"/>
                <a:cs typeface="Courier New" pitchFamily="34" charset="-120"/>
              </a:rPr>
              <a:t>Focus Score</a:t>
            </a:r>
            <a:endParaRPr lang="en-US" sz="1950" dirty="0"/>
          </a:p>
        </p:txBody>
      </p:sp>
      <p:sp>
        <p:nvSpPr>
          <p:cNvPr id="8" name="Text 5"/>
          <p:cNvSpPr/>
          <p:nvPr/>
        </p:nvSpPr>
        <p:spPr>
          <a:xfrm>
            <a:off x="7828706" y="3695700"/>
            <a:ext cx="10672142" cy="457200"/>
          </a:xfrm>
          <a:prstGeom prst="rect">
            <a:avLst/>
          </a:prstGeom>
          <a:noFill/>
          <a:ln/>
        </p:spPr>
        <p:txBody>
          <a:bodyPr wrap="square" lIns="25400" tIns="25400" rIns="25400" bIns="25400" rtlCol="0" anchor="t">
            <a:normAutofit/>
          </a:bodyPr>
          <a:lstStyle/>
          <a:p>
            <a:pPr marL="0" indent="0" algn="l">
              <a:buNone/>
            </a:pPr>
            <a:r>
              <a:rPr lang="ko-KR" altLang="en-US" sz="2250" b="1" dirty="0">
                <a:solidFill>
                  <a:schemeClr val="bg1"/>
                </a:solidFill>
                <a:latin typeface="Helvetica" pitchFamily="34" charset="0"/>
                <a:ea typeface="Helvetica" pitchFamily="34" charset="-122"/>
                <a:cs typeface="Helvetica" pitchFamily="34" charset="-120"/>
              </a:rPr>
              <a:t>이중 링 </a:t>
            </a:r>
            <a:r>
              <a:rPr lang="en-US" altLang="ko-KR" sz="2250" b="1" dirty="0">
                <a:solidFill>
                  <a:schemeClr val="bg1"/>
                </a:solidFill>
                <a:latin typeface="Helvetica" pitchFamily="34" charset="0"/>
                <a:ea typeface="Helvetica" pitchFamily="34" charset="-122"/>
                <a:cs typeface="Helvetica" pitchFamily="34" charset="-120"/>
              </a:rPr>
              <a:t>(</a:t>
            </a:r>
            <a:r>
              <a:rPr lang="ko-KR" altLang="en-US" sz="2250" b="1" dirty="0">
                <a:solidFill>
                  <a:schemeClr val="bg1"/>
                </a:solidFill>
                <a:latin typeface="Helvetica" pitchFamily="34" charset="0"/>
                <a:ea typeface="Helvetica" pitchFamily="34" charset="-122"/>
                <a:cs typeface="Helvetica" pitchFamily="34" charset="-120"/>
              </a:rPr>
              <a:t>외부 </a:t>
            </a:r>
            <a:r>
              <a:rPr lang="en-US" altLang="ko-KR" sz="2250" b="1" dirty="0">
                <a:solidFill>
                  <a:schemeClr val="bg1"/>
                </a:solidFill>
                <a:latin typeface="Helvetica" pitchFamily="34" charset="0"/>
                <a:ea typeface="Helvetica" pitchFamily="34" charset="-122"/>
                <a:cs typeface="Helvetica" pitchFamily="34" charset="-120"/>
              </a:rPr>
              <a:t>: </a:t>
            </a:r>
            <a:r>
              <a:rPr lang="en-US" sz="2250" b="1" dirty="0" err="1">
                <a:solidFill>
                  <a:schemeClr val="bg1"/>
                </a:solidFill>
                <a:latin typeface="Helvetica" pitchFamily="34" charset="0"/>
                <a:ea typeface="Helvetica" pitchFamily="34" charset="-122"/>
                <a:cs typeface="Helvetica" pitchFamily="34" charset="-120"/>
              </a:rPr>
              <a:t>실시간</a:t>
            </a:r>
            <a:r>
              <a:rPr lang="en-US" sz="2250" b="1" dirty="0">
                <a:solidFill>
                  <a:schemeClr val="bg1"/>
                </a:solidFill>
                <a:latin typeface="Helvetica" pitchFamily="34" charset="0"/>
                <a:ea typeface="Helvetica" pitchFamily="34" charset="-122"/>
                <a:cs typeface="Helvetica" pitchFamily="34" charset="-120"/>
              </a:rPr>
              <a:t> 0–100 점수 + </a:t>
            </a:r>
            <a:r>
              <a:rPr lang="ko-KR" altLang="en-US" sz="2250" b="1" dirty="0">
                <a:solidFill>
                  <a:schemeClr val="bg1"/>
                </a:solidFill>
                <a:latin typeface="Helvetica" pitchFamily="34" charset="0"/>
                <a:ea typeface="Helvetica" pitchFamily="34" charset="-122"/>
                <a:cs typeface="Helvetica" pitchFamily="34" charset="-120"/>
              </a:rPr>
              <a:t>내부 </a:t>
            </a:r>
            <a:r>
              <a:rPr lang="en-US" altLang="ko-KR" sz="2250" b="1" dirty="0">
                <a:solidFill>
                  <a:schemeClr val="bg1"/>
                </a:solidFill>
                <a:latin typeface="Helvetica" pitchFamily="34" charset="0"/>
                <a:ea typeface="Helvetica" pitchFamily="34" charset="-122"/>
                <a:cs typeface="Helvetica" pitchFamily="34" charset="-120"/>
              </a:rPr>
              <a:t>: </a:t>
            </a:r>
            <a:r>
              <a:rPr lang="ko-KR" altLang="en-US" sz="2250" b="1" dirty="0">
                <a:solidFill>
                  <a:schemeClr val="bg1"/>
                </a:solidFill>
                <a:latin typeface="Helvetica" pitchFamily="34" charset="0"/>
                <a:ea typeface="Helvetica" pitchFamily="34" charset="-122"/>
                <a:cs typeface="Helvetica" pitchFamily="34" charset="-120"/>
              </a:rPr>
              <a:t>우선적으로</a:t>
            </a:r>
            <a:r>
              <a:rPr lang="en-US" sz="2250" b="1" dirty="0">
                <a:solidFill>
                  <a:schemeClr val="bg1"/>
                </a:solidFill>
                <a:latin typeface="Helvetica" pitchFamily="34" charset="0"/>
                <a:ea typeface="Helvetica" pitchFamily="34" charset="-122"/>
                <a:cs typeface="Helvetica" pitchFamily="34" charset="-120"/>
              </a:rPr>
              <a:t> 25분 </a:t>
            </a:r>
            <a:r>
              <a:rPr lang="en-US" sz="2250" b="1" dirty="0" err="1">
                <a:solidFill>
                  <a:schemeClr val="bg1"/>
                </a:solidFill>
                <a:latin typeface="Helvetica" pitchFamily="34" charset="0"/>
                <a:ea typeface="Helvetica" pitchFamily="34" charset="-122"/>
                <a:cs typeface="Helvetica" pitchFamily="34" charset="-120"/>
              </a:rPr>
              <a:t>목표</a:t>
            </a:r>
            <a:r>
              <a:rPr lang="en-US" sz="2250" b="1" dirty="0">
                <a:solidFill>
                  <a:schemeClr val="bg1"/>
                </a:solidFill>
                <a:latin typeface="Helvetica" pitchFamily="34" charset="0"/>
                <a:ea typeface="Helvetica" pitchFamily="34" charset="-122"/>
                <a:cs typeface="Helvetica" pitchFamily="34" charset="-120"/>
              </a:rPr>
              <a:t> )</a:t>
            </a:r>
            <a:endParaRPr lang="en-US" sz="2250" b="1" dirty="0">
              <a:solidFill>
                <a:schemeClr val="bg1"/>
              </a:solidFill>
            </a:endParaRPr>
          </a:p>
        </p:txBody>
      </p:sp>
      <p:sp>
        <p:nvSpPr>
          <p:cNvPr id="9" name="Shape 6"/>
          <p:cNvSpPr/>
          <p:nvPr/>
        </p:nvSpPr>
        <p:spPr>
          <a:xfrm flipV="1">
            <a:off x="5695107" y="4238625"/>
            <a:ext cx="11003068" cy="47625"/>
          </a:xfrm>
          <a:prstGeom prst="rect">
            <a:avLst/>
          </a:prstGeom>
          <a:solidFill>
            <a:srgbClr val="1A2840"/>
          </a:solidFill>
          <a:ln/>
        </p:spPr>
        <p:txBody>
          <a:bodyPr/>
          <a:lstStyle/>
          <a:p>
            <a:endParaRPr lang="ko-KR" altLang="en-US"/>
          </a:p>
        </p:txBody>
      </p:sp>
      <p:sp>
        <p:nvSpPr>
          <p:cNvPr id="10" name="Text 7"/>
          <p:cNvSpPr/>
          <p:nvPr/>
        </p:nvSpPr>
        <p:spPr>
          <a:xfrm>
            <a:off x="5695106" y="4572000"/>
            <a:ext cx="1981200" cy="34290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6FE3D2"/>
                </a:solidFill>
                <a:latin typeface="Courier New" pitchFamily="34" charset="0"/>
                <a:ea typeface="Courier New" pitchFamily="34" charset="-122"/>
                <a:cs typeface="Courier New" pitchFamily="34" charset="-120"/>
              </a:rPr>
              <a:t>집중 시작·종료</a:t>
            </a:r>
            <a:endParaRPr lang="en-US" sz="1950" dirty="0"/>
          </a:p>
        </p:txBody>
      </p:sp>
      <p:sp>
        <p:nvSpPr>
          <p:cNvPr id="11" name="Text 8"/>
          <p:cNvSpPr/>
          <p:nvPr/>
        </p:nvSpPr>
        <p:spPr>
          <a:xfrm>
            <a:off x="7828706" y="4467225"/>
            <a:ext cx="6004792" cy="457200"/>
          </a:xfrm>
          <a:prstGeom prst="rect">
            <a:avLst/>
          </a:prstGeom>
          <a:noFill/>
          <a:ln/>
        </p:spPr>
        <p:txBody>
          <a:bodyPr wrap="square" lIns="25400" tIns="25400" rIns="25400" bIns="25400" rtlCol="0" anchor="t">
            <a:normAutofit/>
          </a:bodyPr>
          <a:lstStyle/>
          <a:p>
            <a:pPr marL="0" indent="0" algn="l">
              <a:buNone/>
            </a:pPr>
            <a:r>
              <a:rPr lang="en-US" sz="2250" b="1" dirty="0" err="1">
                <a:solidFill>
                  <a:schemeClr val="bg1"/>
                </a:solidFill>
                <a:latin typeface="Helvetica" pitchFamily="34" charset="0"/>
                <a:ea typeface="Helvetica" pitchFamily="34" charset="-122"/>
                <a:cs typeface="Helvetica" pitchFamily="34" charset="-120"/>
              </a:rPr>
              <a:t>세션</a:t>
            </a:r>
            <a:r>
              <a:rPr lang="en-US" sz="2250" b="1" dirty="0">
                <a:solidFill>
                  <a:schemeClr val="bg1"/>
                </a:solidFill>
                <a:latin typeface="Helvetica" pitchFamily="34" charset="0"/>
                <a:ea typeface="Helvetica" pitchFamily="34" charset="-122"/>
                <a:cs typeface="Helvetica" pitchFamily="34" charset="-120"/>
              </a:rPr>
              <a:t> </a:t>
            </a:r>
            <a:r>
              <a:rPr lang="en-US" sz="2250" b="1" dirty="0" err="1">
                <a:solidFill>
                  <a:schemeClr val="bg1"/>
                </a:solidFill>
                <a:latin typeface="Helvetica" pitchFamily="34" charset="0"/>
                <a:ea typeface="Helvetica" pitchFamily="34" charset="-122"/>
                <a:cs typeface="Helvetica" pitchFamily="34" charset="-120"/>
              </a:rPr>
              <a:t>타이머</a:t>
            </a:r>
            <a:r>
              <a:rPr lang="ko-KR" altLang="en-US" sz="2250" b="1" dirty="0">
                <a:solidFill>
                  <a:schemeClr val="bg1"/>
                </a:solidFill>
                <a:latin typeface="Helvetica" pitchFamily="34" charset="0"/>
                <a:ea typeface="Helvetica" pitchFamily="34" charset="-122"/>
                <a:cs typeface="Helvetica" pitchFamily="34" charset="-120"/>
              </a:rPr>
              <a:t>가 시작되며 새로운 타이머 창</a:t>
            </a:r>
            <a:endParaRPr lang="en-US" sz="2250" b="1" dirty="0">
              <a:solidFill>
                <a:schemeClr val="bg1"/>
              </a:solidFill>
            </a:endParaRPr>
          </a:p>
        </p:txBody>
      </p:sp>
      <p:sp>
        <p:nvSpPr>
          <p:cNvPr id="13" name="Text 10"/>
          <p:cNvSpPr/>
          <p:nvPr/>
        </p:nvSpPr>
        <p:spPr>
          <a:xfrm>
            <a:off x="5695106" y="5343525"/>
            <a:ext cx="1981200" cy="34290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6FE3D2"/>
                </a:solidFill>
                <a:latin typeface="Courier New" pitchFamily="34" charset="0"/>
                <a:ea typeface="Courier New" pitchFamily="34" charset="-122"/>
                <a:cs typeface="Courier New" pitchFamily="34" charset="-120"/>
              </a:rPr>
              <a:t>집중 알림 모드</a:t>
            </a:r>
            <a:endParaRPr lang="en-US" sz="1950" dirty="0"/>
          </a:p>
        </p:txBody>
      </p:sp>
      <p:sp>
        <p:nvSpPr>
          <p:cNvPr id="14" name="Text 11"/>
          <p:cNvSpPr/>
          <p:nvPr/>
        </p:nvSpPr>
        <p:spPr>
          <a:xfrm>
            <a:off x="7828706" y="5238750"/>
            <a:ext cx="9304896" cy="457200"/>
          </a:xfrm>
          <a:prstGeom prst="rect">
            <a:avLst/>
          </a:prstGeom>
          <a:noFill/>
          <a:ln/>
        </p:spPr>
        <p:txBody>
          <a:bodyPr wrap="square" lIns="25400" tIns="25400" rIns="25400" bIns="25400" rtlCol="0" anchor="t">
            <a:normAutofit/>
          </a:bodyPr>
          <a:lstStyle/>
          <a:p>
            <a:pPr marL="0" indent="0" algn="l">
              <a:buNone/>
            </a:pPr>
            <a:r>
              <a:rPr lang="ko-KR" altLang="en-US" sz="2250" b="1" dirty="0">
                <a:solidFill>
                  <a:schemeClr val="bg1"/>
                </a:solidFill>
                <a:latin typeface="Helvetica" pitchFamily="34" charset="0"/>
                <a:ea typeface="Helvetica" pitchFamily="34" charset="-122"/>
                <a:cs typeface="Helvetica" pitchFamily="34" charset="-120"/>
              </a:rPr>
              <a:t>설정된 임계 점수 이하가 되면 경고 창 </a:t>
            </a:r>
            <a:r>
              <a:rPr lang="en-US" sz="2250" b="1" dirty="0">
                <a:solidFill>
                  <a:schemeClr val="bg1"/>
                </a:solidFill>
                <a:latin typeface="Helvetica" pitchFamily="34" charset="0"/>
                <a:ea typeface="Helvetica" pitchFamily="34" charset="-122"/>
                <a:cs typeface="Helvetica" pitchFamily="34" charset="-120"/>
              </a:rPr>
              <a:t>+ </a:t>
            </a:r>
            <a:r>
              <a:rPr lang="ko-KR" altLang="en-US" sz="2250" b="1" dirty="0">
                <a:solidFill>
                  <a:schemeClr val="bg1"/>
                </a:solidFill>
                <a:latin typeface="Helvetica" pitchFamily="34" charset="0"/>
                <a:ea typeface="Helvetica" pitchFamily="34" charset="-122"/>
                <a:cs typeface="Helvetica" pitchFamily="34" charset="-120"/>
              </a:rPr>
              <a:t>필요한 </a:t>
            </a:r>
            <a:r>
              <a:rPr lang="en-US" sz="2250" b="1" dirty="0" err="1">
                <a:solidFill>
                  <a:schemeClr val="bg1"/>
                </a:solidFill>
                <a:latin typeface="Helvetica" pitchFamily="34" charset="0"/>
                <a:ea typeface="Helvetica" pitchFamily="34" charset="-122"/>
                <a:cs typeface="Helvetica" pitchFamily="34" charset="-120"/>
              </a:rPr>
              <a:t>조치</a:t>
            </a:r>
            <a:r>
              <a:rPr lang="en-US" sz="2250" b="1" dirty="0">
                <a:solidFill>
                  <a:schemeClr val="bg1"/>
                </a:solidFill>
                <a:latin typeface="Helvetica" pitchFamily="34" charset="0"/>
                <a:ea typeface="Helvetica" pitchFamily="34" charset="-122"/>
                <a:cs typeface="Helvetica" pitchFamily="34" charset="-120"/>
              </a:rPr>
              <a:t> 안내</a:t>
            </a:r>
            <a:endParaRPr lang="en-US" sz="2250" b="1" dirty="0">
              <a:solidFill>
                <a:schemeClr val="bg1"/>
              </a:solidFill>
            </a:endParaRPr>
          </a:p>
        </p:txBody>
      </p:sp>
      <p:sp>
        <p:nvSpPr>
          <p:cNvPr id="19" name="Text 16"/>
          <p:cNvSpPr/>
          <p:nvPr/>
        </p:nvSpPr>
        <p:spPr>
          <a:xfrm>
            <a:off x="5695106" y="6029325"/>
            <a:ext cx="1981200" cy="34290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6FE3D2"/>
                </a:solidFill>
                <a:latin typeface="Courier New" pitchFamily="34" charset="0"/>
                <a:ea typeface="Courier New" pitchFamily="34" charset="-122"/>
                <a:cs typeface="Courier New" pitchFamily="34" charset="-120"/>
              </a:rPr>
              <a:t>측정 ON·OFF</a:t>
            </a:r>
            <a:endParaRPr lang="en-US" sz="1950" dirty="0"/>
          </a:p>
        </p:txBody>
      </p:sp>
      <p:sp>
        <p:nvSpPr>
          <p:cNvPr id="20" name="Text 17"/>
          <p:cNvSpPr/>
          <p:nvPr/>
        </p:nvSpPr>
        <p:spPr>
          <a:xfrm>
            <a:off x="7828706" y="5962650"/>
            <a:ext cx="7430096" cy="457200"/>
          </a:xfrm>
          <a:prstGeom prst="rect">
            <a:avLst/>
          </a:prstGeom>
          <a:noFill/>
          <a:ln/>
        </p:spPr>
        <p:txBody>
          <a:bodyPr wrap="square" lIns="25400" tIns="25400" rIns="25400" bIns="25400" rtlCol="0" anchor="t">
            <a:normAutofit/>
          </a:bodyPr>
          <a:lstStyle/>
          <a:p>
            <a:pPr marL="0" indent="0" algn="l">
              <a:buNone/>
            </a:pPr>
            <a:r>
              <a:rPr lang="ko-KR" altLang="en-US" sz="2250" b="1" dirty="0">
                <a:solidFill>
                  <a:schemeClr val="bg1"/>
                </a:solidFill>
                <a:latin typeface="Helvetica" pitchFamily="34" charset="0"/>
                <a:ea typeface="Helvetica" pitchFamily="34" charset="-122"/>
                <a:cs typeface="Helvetica" pitchFamily="34" charset="-120"/>
              </a:rPr>
              <a:t>현재 </a:t>
            </a:r>
            <a:r>
              <a:rPr lang="ko-KR" altLang="en-US" sz="2250" b="1" dirty="0" err="1">
                <a:solidFill>
                  <a:schemeClr val="bg1"/>
                </a:solidFill>
                <a:latin typeface="Helvetica" pitchFamily="34" charset="0"/>
                <a:ea typeface="Helvetica" pitchFamily="34" charset="-122"/>
                <a:cs typeface="Helvetica" pitchFamily="34" charset="-120"/>
              </a:rPr>
              <a:t>홈화면</a:t>
            </a:r>
            <a:r>
              <a:rPr lang="ko-KR" altLang="en-US" sz="2250" b="1" dirty="0">
                <a:solidFill>
                  <a:schemeClr val="bg1"/>
                </a:solidFill>
                <a:latin typeface="Helvetica" pitchFamily="34" charset="0"/>
                <a:ea typeface="Helvetica" pitchFamily="34" charset="-122"/>
                <a:cs typeface="Helvetica" pitchFamily="34" charset="-120"/>
              </a:rPr>
              <a:t> 바</a:t>
            </a:r>
            <a:r>
              <a:rPr lang="en-US" sz="2250" b="1" dirty="0" err="1">
                <a:solidFill>
                  <a:schemeClr val="bg1"/>
                </a:solidFill>
                <a:latin typeface="Helvetica" pitchFamily="34" charset="0"/>
                <a:ea typeface="Helvetica" pitchFamily="34" charset="-122"/>
                <a:cs typeface="Helvetica" pitchFamily="34" charset="-120"/>
              </a:rPr>
              <a:t>에서</a:t>
            </a:r>
            <a:r>
              <a:rPr lang="en-US" sz="2250" b="1" dirty="0">
                <a:solidFill>
                  <a:schemeClr val="bg1"/>
                </a:solidFill>
                <a:latin typeface="Helvetica" pitchFamily="34" charset="0"/>
                <a:ea typeface="Helvetica" pitchFamily="34" charset="-122"/>
                <a:cs typeface="Helvetica" pitchFamily="34" charset="-120"/>
              </a:rPr>
              <a:t> 센서 시작·중지</a:t>
            </a:r>
            <a:endParaRPr lang="en-US" sz="2250" b="1" dirty="0">
              <a:solidFill>
                <a:schemeClr val="bg1"/>
              </a:solidFill>
            </a:endParaRPr>
          </a:p>
        </p:txBody>
      </p:sp>
      <p:sp>
        <p:nvSpPr>
          <p:cNvPr id="21" name="Shape 18"/>
          <p:cNvSpPr/>
          <p:nvPr/>
        </p:nvSpPr>
        <p:spPr>
          <a:xfrm>
            <a:off x="5706320" y="6829425"/>
            <a:ext cx="11253111" cy="781050"/>
          </a:xfrm>
          <a:prstGeom prst="roundRect">
            <a:avLst>
              <a:gd name="adj" fmla="val 14634"/>
            </a:avLst>
          </a:prstGeom>
          <a:solidFill>
            <a:srgbClr val="10211C"/>
          </a:solidFill>
          <a:ln w="9525">
            <a:solidFill>
              <a:srgbClr val="1F8B7A"/>
            </a:solidFill>
            <a:prstDash val="solid"/>
          </a:ln>
        </p:spPr>
        <p:txBody>
          <a:bodyPr/>
          <a:lstStyle/>
          <a:p>
            <a:endParaRPr lang="ko-KR" altLang="en-US"/>
          </a:p>
        </p:txBody>
      </p:sp>
      <p:sp>
        <p:nvSpPr>
          <p:cNvPr id="22" name="Text 19"/>
          <p:cNvSpPr/>
          <p:nvPr/>
        </p:nvSpPr>
        <p:spPr>
          <a:xfrm>
            <a:off x="5963495" y="7029450"/>
            <a:ext cx="13273739" cy="419100"/>
          </a:xfrm>
          <a:prstGeom prst="rect">
            <a:avLst/>
          </a:prstGeom>
          <a:noFill/>
          <a:ln/>
        </p:spPr>
        <p:txBody>
          <a:bodyPr wrap="square" lIns="25400" tIns="25400" rIns="25400" bIns="25400" rtlCol="0" anchor="t">
            <a:normAutofit/>
          </a:bodyPr>
          <a:lstStyle/>
          <a:p>
            <a:pPr marL="0" indent="0" algn="l">
              <a:buNone/>
            </a:pPr>
            <a:r>
              <a:rPr lang="en-US" sz="2100" dirty="0">
                <a:solidFill>
                  <a:srgbClr val="6FE3D2"/>
                </a:solidFill>
                <a:latin typeface="Courier New" pitchFamily="34" charset="0"/>
                <a:ea typeface="Courier New" pitchFamily="34" charset="-122"/>
                <a:cs typeface="Courier New" pitchFamily="34" charset="-120"/>
              </a:rPr>
              <a:t>UX</a:t>
            </a:r>
            <a:r>
              <a:rPr lang="ko-KR" altLang="en-US" sz="2100" dirty="0">
                <a:solidFill>
                  <a:srgbClr val="6FE3D2"/>
                </a:solidFill>
                <a:latin typeface="Courier New" pitchFamily="34" charset="0"/>
                <a:ea typeface="Courier New" pitchFamily="34" charset="-122"/>
                <a:cs typeface="Courier New" pitchFamily="34" charset="-120"/>
              </a:rPr>
              <a:t>적 기능 </a:t>
            </a:r>
            <a:r>
              <a:rPr lang="en-US" sz="2100" dirty="0">
                <a:solidFill>
                  <a:srgbClr val="6FE3D2"/>
                </a:solidFill>
                <a:latin typeface="Courier New" pitchFamily="34" charset="0"/>
                <a:ea typeface="Courier New" pitchFamily="34" charset="-122"/>
                <a:cs typeface="Courier New" pitchFamily="34" charset="-120"/>
              </a:rPr>
              <a:t> </a:t>
            </a:r>
            <a:r>
              <a:rPr lang="en-US" sz="2100" b="1" dirty="0">
                <a:solidFill>
                  <a:schemeClr val="bg1"/>
                </a:solidFill>
                <a:highlight>
                  <a:srgbClr val="10211C"/>
                </a:highlight>
                <a:latin typeface="Helvetica" pitchFamily="34" charset="0"/>
                <a:ea typeface="Helvetica" pitchFamily="34" charset="-122"/>
                <a:cs typeface="Helvetica" pitchFamily="34" charset="-120"/>
              </a:rPr>
              <a:t>다른 탭으로 이동해도 집중 세션·알림 유지</a:t>
            </a:r>
            <a:endParaRPr lang="en-US" sz="2100" b="1" dirty="0">
              <a:solidFill>
                <a:schemeClr val="bg1"/>
              </a:solidFill>
            </a:endParaRPr>
          </a:p>
        </p:txBody>
      </p:sp>
      <p:sp>
        <p:nvSpPr>
          <p:cNvPr id="25" name="Shape 6">
            <a:extLst>
              <a:ext uri="{FF2B5EF4-FFF2-40B4-BE49-F238E27FC236}">
                <a16:creationId xmlns:a16="http://schemas.microsoft.com/office/drawing/2014/main" id="{7AE43998-BC33-EBFF-F4E2-7B1594CA7DD1}"/>
              </a:ext>
            </a:extLst>
          </p:cNvPr>
          <p:cNvSpPr/>
          <p:nvPr/>
        </p:nvSpPr>
        <p:spPr>
          <a:xfrm flipV="1">
            <a:off x="5726704" y="5021308"/>
            <a:ext cx="11003068" cy="47625"/>
          </a:xfrm>
          <a:prstGeom prst="rect">
            <a:avLst/>
          </a:prstGeom>
          <a:solidFill>
            <a:srgbClr val="1A2840"/>
          </a:solidFill>
          <a:ln/>
        </p:spPr>
        <p:txBody>
          <a:bodyPr/>
          <a:lstStyle/>
          <a:p>
            <a:endParaRPr lang="ko-KR" altLang="en-US"/>
          </a:p>
        </p:txBody>
      </p:sp>
      <p:sp>
        <p:nvSpPr>
          <p:cNvPr id="26" name="Shape 6">
            <a:extLst>
              <a:ext uri="{FF2B5EF4-FFF2-40B4-BE49-F238E27FC236}">
                <a16:creationId xmlns:a16="http://schemas.microsoft.com/office/drawing/2014/main" id="{E671455B-2403-096F-E4C0-838C3662B8D7}"/>
              </a:ext>
            </a:extLst>
          </p:cNvPr>
          <p:cNvSpPr/>
          <p:nvPr/>
        </p:nvSpPr>
        <p:spPr>
          <a:xfrm flipV="1">
            <a:off x="5695106" y="5776913"/>
            <a:ext cx="11003068" cy="47625"/>
          </a:xfrm>
          <a:prstGeom prst="rect">
            <a:avLst/>
          </a:prstGeom>
          <a:solidFill>
            <a:srgbClr val="1A2840"/>
          </a:solidFill>
          <a:ln/>
        </p:spPr>
        <p:txBody>
          <a:bodyPr/>
          <a:lstStyle/>
          <a:p>
            <a:endParaRPr lang="ko-KR" altLang="en-US"/>
          </a:p>
        </p:txBody>
      </p:sp>
      <p:sp>
        <p:nvSpPr>
          <p:cNvPr id="27" name="Shape 6">
            <a:extLst>
              <a:ext uri="{FF2B5EF4-FFF2-40B4-BE49-F238E27FC236}">
                <a16:creationId xmlns:a16="http://schemas.microsoft.com/office/drawing/2014/main" id="{25FFA086-9788-7334-B29A-2DF0D51320C4}"/>
              </a:ext>
            </a:extLst>
          </p:cNvPr>
          <p:cNvSpPr/>
          <p:nvPr/>
        </p:nvSpPr>
        <p:spPr>
          <a:xfrm flipV="1">
            <a:off x="5695106" y="6508705"/>
            <a:ext cx="11003068" cy="47625"/>
          </a:xfrm>
          <a:prstGeom prst="rect">
            <a:avLst/>
          </a:prstGeom>
          <a:solidFill>
            <a:srgbClr val="1A2840"/>
          </a:solidFill>
          <a:ln/>
        </p:spPr>
        <p:txBody>
          <a:bodyPr/>
          <a:lstStyle/>
          <a:p>
            <a:endParaRPr lang="ko-KR" altLang="en-US"/>
          </a:p>
        </p:txBody>
      </p:sp>
      <p:sp>
        <p:nvSpPr>
          <p:cNvPr id="28" name="Text 0">
            <a:extLst>
              <a:ext uri="{FF2B5EF4-FFF2-40B4-BE49-F238E27FC236}">
                <a16:creationId xmlns:a16="http://schemas.microsoft.com/office/drawing/2014/main" id="{60E1BEDF-1316-8AE8-3B7F-172F0F60B874}"/>
              </a:ext>
            </a:extLst>
          </p:cNvPr>
          <p:cNvSpPr/>
          <p:nvPr/>
        </p:nvSpPr>
        <p:spPr>
          <a:xfrm>
            <a:off x="1047750" y="876300"/>
            <a:ext cx="47252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kern="0" spc="390" dirty="0">
                <a:solidFill>
                  <a:schemeClr val="bg1"/>
                </a:solidFill>
                <a:latin typeface="Courier New" pitchFamily="34" charset="0"/>
                <a:ea typeface="Courier New" pitchFamily="34" charset="-122"/>
                <a:cs typeface="Courier New" pitchFamily="34" charset="-120"/>
              </a:rPr>
              <a:t>04</a:t>
            </a:r>
            <a:endParaRPr lang="en-US" sz="1950" dirty="0">
              <a:solidFill>
                <a:schemeClr val="bg1"/>
              </a:solidFill>
            </a:endParaRPr>
          </a:p>
        </p:txBody>
      </p:sp>
      <p:sp>
        <p:nvSpPr>
          <p:cNvPr id="29" name="Text 1">
            <a:extLst>
              <a:ext uri="{FF2B5EF4-FFF2-40B4-BE49-F238E27FC236}">
                <a16:creationId xmlns:a16="http://schemas.microsoft.com/office/drawing/2014/main" id="{E61DCFF6-8582-D174-A4F2-436D93678631}"/>
              </a:ext>
            </a:extLst>
          </p:cNvPr>
          <p:cNvSpPr/>
          <p:nvPr/>
        </p:nvSpPr>
        <p:spPr>
          <a:xfrm>
            <a:off x="1596479" y="866775"/>
            <a:ext cx="3367540" cy="342900"/>
          </a:xfrm>
          <a:prstGeom prst="rect">
            <a:avLst/>
          </a:prstGeom>
          <a:noFill/>
          <a:ln/>
        </p:spPr>
        <p:txBody>
          <a:bodyPr wrap="square" lIns="25400" tIns="25400" rIns="25400" bIns="25400" rtlCol="0" anchor="t">
            <a:normAutofit lnSpcReduction="10000"/>
          </a:bodyPr>
          <a:lstStyle/>
          <a:p>
            <a:pPr marL="0" indent="0" algn="l">
              <a:buNone/>
            </a:pPr>
            <a:r>
              <a:rPr lang="ko-KR" altLang="en-US" sz="1950" kern="0" spc="390" dirty="0">
                <a:solidFill>
                  <a:srgbClr val="6FE3D2"/>
                </a:solidFill>
                <a:latin typeface="Courier New" pitchFamily="34" charset="0"/>
                <a:cs typeface="Courier New" pitchFamily="34" charset="-120"/>
              </a:rPr>
              <a:t>제</a:t>
            </a:r>
            <a:r>
              <a:rPr lang="en-US" altLang="ko-KR" sz="1950" kern="0" spc="390" dirty="0">
                <a:solidFill>
                  <a:srgbClr val="6FE3D2"/>
                </a:solidFill>
                <a:latin typeface="Courier New" pitchFamily="34" charset="0"/>
                <a:cs typeface="Courier New" pitchFamily="34" charset="-120"/>
              </a:rPr>
              <a:t>1 </a:t>
            </a:r>
            <a:r>
              <a:rPr lang="ko-KR" altLang="en-US" sz="1950" kern="0" spc="390" dirty="0">
                <a:solidFill>
                  <a:srgbClr val="6FE3D2"/>
                </a:solidFill>
                <a:latin typeface="Courier New" pitchFamily="34" charset="0"/>
                <a:cs typeface="Courier New" pitchFamily="34" charset="-120"/>
              </a:rPr>
              <a:t>기능 </a:t>
            </a:r>
            <a:r>
              <a:rPr lang="en-US" altLang="ko-KR" sz="1950" kern="0" spc="390" dirty="0">
                <a:solidFill>
                  <a:srgbClr val="6FE3D2"/>
                </a:solidFill>
                <a:latin typeface="Courier New" pitchFamily="34" charset="0"/>
                <a:cs typeface="Courier New" pitchFamily="34" charset="-120"/>
              </a:rPr>
              <a:t>- </a:t>
            </a:r>
            <a:r>
              <a:rPr lang="ko-KR" altLang="en-US" sz="1950" kern="0" spc="390" dirty="0">
                <a:solidFill>
                  <a:srgbClr val="6FE3D2"/>
                </a:solidFill>
                <a:latin typeface="Courier New" pitchFamily="34" charset="0"/>
                <a:cs typeface="Courier New" pitchFamily="34" charset="-120"/>
              </a:rPr>
              <a:t>홈 화면</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C16"/>
        </a:solidFill>
        <a:effectLst/>
      </p:bgPr>
    </p:bg>
    <p:spTree>
      <p:nvGrpSpPr>
        <p:cNvPr id="1" name=""/>
        <p:cNvGrpSpPr/>
        <p:nvPr/>
      </p:nvGrpSpPr>
      <p:grpSpPr>
        <a:xfrm>
          <a:off x="0" y="0"/>
          <a:ext cx="0" cy="0"/>
          <a:chOff x="0" y="0"/>
          <a:chExt cx="0" cy="0"/>
        </a:xfrm>
      </p:grpSpPr>
      <p:sp>
        <p:nvSpPr>
          <p:cNvPr id="4" name="Text 2"/>
          <p:cNvSpPr/>
          <p:nvPr/>
        </p:nvSpPr>
        <p:spPr>
          <a:xfrm>
            <a:off x="1047750" y="1390650"/>
            <a:ext cx="16678275" cy="952500"/>
          </a:xfrm>
          <a:prstGeom prst="rect">
            <a:avLst/>
          </a:prstGeom>
          <a:noFill/>
          <a:ln/>
        </p:spPr>
        <p:txBody>
          <a:bodyPr wrap="square" lIns="25400" tIns="25400" rIns="25400" bIns="25400" rtlCol="0" anchor="t">
            <a:normAutofit/>
          </a:bodyPr>
          <a:lstStyle/>
          <a:p>
            <a:pPr marL="0" indent="0" algn="l">
              <a:buNone/>
            </a:pPr>
            <a:r>
              <a:rPr lang="en-US" sz="4950" b="1" kern="0" spc="-49" dirty="0">
                <a:solidFill>
                  <a:srgbClr val="EAEFF7"/>
                </a:solidFill>
                <a:latin typeface="Helvetica" pitchFamily="34" charset="0"/>
                <a:ea typeface="Helvetica" pitchFamily="34" charset="-122"/>
                <a:cs typeface="Helvetica" pitchFamily="34" charset="-120"/>
              </a:rPr>
              <a:t>핵심 기능 ② — AR </a:t>
            </a:r>
            <a:r>
              <a:rPr lang="ko-KR" altLang="en-US" sz="4950" b="1" kern="0" spc="-49" dirty="0">
                <a:solidFill>
                  <a:srgbClr val="EAEFF7"/>
                </a:solidFill>
                <a:latin typeface="Helvetica" pitchFamily="34" charset="0"/>
                <a:ea typeface="Helvetica" pitchFamily="34" charset="-122"/>
                <a:cs typeface="Helvetica" pitchFamily="34" charset="-120"/>
              </a:rPr>
              <a:t>스캔</a:t>
            </a:r>
            <a:r>
              <a:rPr lang="en-US" sz="4950" b="1" kern="0" spc="-49" dirty="0">
                <a:solidFill>
                  <a:srgbClr val="EAEFF7"/>
                </a:solidFill>
                <a:latin typeface="Helvetica" pitchFamily="34" charset="0"/>
                <a:ea typeface="Helvetica" pitchFamily="34" charset="-122"/>
                <a:cs typeface="Helvetica" pitchFamily="34" charset="-120"/>
              </a:rPr>
              <a:t>· 미니맵 · </a:t>
            </a:r>
            <a:r>
              <a:rPr lang="ko-KR" altLang="en-US" sz="4950" b="1" kern="0" spc="-49" dirty="0">
                <a:solidFill>
                  <a:srgbClr val="EAEFF7"/>
                </a:solidFill>
                <a:latin typeface="Helvetica" pitchFamily="34" charset="0"/>
                <a:ea typeface="Helvetica" pitchFamily="34" charset="-122"/>
                <a:cs typeface="Helvetica" pitchFamily="34" charset="-120"/>
              </a:rPr>
              <a:t>집중 구역 탐색</a:t>
            </a:r>
            <a:endParaRPr lang="en-US" sz="4950" dirty="0"/>
          </a:p>
        </p:txBody>
      </p:sp>
      <p:sp>
        <p:nvSpPr>
          <p:cNvPr id="5" name="Shape 3"/>
          <p:cNvSpPr/>
          <p:nvPr/>
        </p:nvSpPr>
        <p:spPr>
          <a:xfrm>
            <a:off x="1047750" y="2647950"/>
            <a:ext cx="5206901" cy="6686550"/>
          </a:xfrm>
          <a:prstGeom prst="roundRect">
            <a:avLst>
              <a:gd name="adj" fmla="val 2927"/>
            </a:avLst>
          </a:prstGeom>
          <a:solidFill>
            <a:srgbClr val="0E1626"/>
          </a:solidFill>
          <a:ln w="9525">
            <a:solidFill>
              <a:srgbClr val="213049"/>
            </a:solidFill>
            <a:prstDash val="solid"/>
          </a:ln>
        </p:spPr>
        <p:txBody>
          <a:bodyPr/>
          <a:lstStyle/>
          <a:p>
            <a:endParaRPr lang="ko-KR" altLang="en-US" dirty="0"/>
          </a:p>
        </p:txBody>
      </p:sp>
      <p:sp>
        <p:nvSpPr>
          <p:cNvPr id="6" name="Text 4"/>
          <p:cNvSpPr/>
          <p:nvPr/>
        </p:nvSpPr>
        <p:spPr>
          <a:xfrm>
            <a:off x="1285875" y="2886075"/>
            <a:ext cx="4872570" cy="323850"/>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6FE3D2"/>
                </a:solidFill>
                <a:latin typeface="Courier New" pitchFamily="34" charset="0"/>
                <a:ea typeface="Courier New" pitchFamily="34" charset="-122"/>
                <a:cs typeface="Courier New" pitchFamily="34" charset="-120"/>
              </a:rPr>
              <a:t>A · AR </a:t>
            </a:r>
            <a:r>
              <a:rPr lang="en-US" sz="1800" kern="0" spc="144" dirty="0" err="1">
                <a:solidFill>
                  <a:srgbClr val="6FE3D2"/>
                </a:solidFill>
                <a:latin typeface="Courier New" pitchFamily="34" charset="0"/>
                <a:ea typeface="Courier New" pitchFamily="34" charset="-122"/>
                <a:cs typeface="Courier New" pitchFamily="34" charset="-120"/>
              </a:rPr>
              <a:t>스캔</a:t>
            </a:r>
            <a:endParaRPr lang="en-US" sz="1800" dirty="0"/>
          </a:p>
        </p:txBody>
      </p:sp>
      <p:sp>
        <p:nvSpPr>
          <p:cNvPr id="7" name="Shape 5"/>
          <p:cNvSpPr/>
          <p:nvPr/>
        </p:nvSpPr>
        <p:spPr>
          <a:xfrm>
            <a:off x="1285875" y="3343275"/>
            <a:ext cx="4730651" cy="5044439"/>
          </a:xfrm>
          <a:prstGeom prst="roundRect">
            <a:avLst>
              <a:gd name="adj" fmla="val 2495"/>
            </a:avLst>
          </a:prstGeom>
          <a:solidFill>
            <a:srgbClr val="070C16"/>
          </a:solidFill>
          <a:ln/>
        </p:spPr>
        <p:txBody>
          <a:bodyPr/>
          <a:lstStyle/>
          <a:p>
            <a:endParaRPr lang="ko-KR" altLang="en-US"/>
          </a:p>
        </p:txBody>
      </p:sp>
      <p:pic>
        <p:nvPicPr>
          <p:cNvPr id="8" name="Image 0" descr="preencoded.png"/>
          <p:cNvPicPr>
            <a:picLocks noChangeAspect="1"/>
          </p:cNvPicPr>
          <p:nvPr/>
        </p:nvPicPr>
        <p:blipFill>
          <a:blip r:embed="rId3"/>
          <a:stretch>
            <a:fillRect/>
          </a:stretch>
        </p:blipFill>
        <p:spPr>
          <a:xfrm>
            <a:off x="2343231" y="3343275"/>
            <a:ext cx="2333272" cy="5104897"/>
          </a:xfrm>
          <a:prstGeom prst="rect">
            <a:avLst/>
          </a:prstGeom>
        </p:spPr>
      </p:pic>
      <p:sp>
        <p:nvSpPr>
          <p:cNvPr id="9" name="Text 6"/>
          <p:cNvSpPr/>
          <p:nvPr/>
        </p:nvSpPr>
        <p:spPr>
          <a:xfrm>
            <a:off x="1255315" y="8470582"/>
            <a:ext cx="4872570" cy="1038225"/>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875" b="1" dirty="0">
                <a:solidFill>
                  <a:schemeClr val="bg1"/>
                </a:solidFill>
                <a:latin typeface="Helvetica" pitchFamily="34" charset="0"/>
                <a:ea typeface="Helvetica" pitchFamily="34" charset="-122"/>
                <a:cs typeface="Helvetica" pitchFamily="34" charset="-120"/>
              </a:rPr>
              <a:t>후면 카메라 실시간 영상 + 색·곡선·화살표·파티클 오버레이. 마그네토미터 dx·dy·dz로 </a:t>
            </a:r>
            <a:r>
              <a:rPr lang="en-US" sz="1875" b="1" dirty="0" err="1">
                <a:solidFill>
                  <a:schemeClr val="bg1"/>
                </a:solidFill>
                <a:latin typeface="Helvetica" pitchFamily="34" charset="0"/>
                <a:ea typeface="Helvetica" pitchFamily="34" charset="-122"/>
                <a:cs typeface="Helvetica" pitchFamily="34" charset="-120"/>
              </a:rPr>
              <a:t>방향</a:t>
            </a:r>
            <a:r>
              <a:rPr lang="en-US" sz="1875" b="1" dirty="0">
                <a:solidFill>
                  <a:schemeClr val="bg1"/>
                </a:solidFill>
                <a:latin typeface="Helvetica" pitchFamily="34" charset="0"/>
                <a:ea typeface="Helvetica" pitchFamily="34" charset="-122"/>
                <a:cs typeface="Helvetica" pitchFamily="34" charset="-120"/>
              </a:rPr>
              <a:t> </a:t>
            </a:r>
            <a:r>
              <a:rPr lang="en-US" sz="1875" b="1" dirty="0" err="1">
                <a:solidFill>
                  <a:schemeClr val="bg1"/>
                </a:solidFill>
                <a:latin typeface="Helvetica" pitchFamily="34" charset="0"/>
                <a:ea typeface="Helvetica" pitchFamily="34" charset="-122"/>
                <a:cs typeface="Helvetica" pitchFamily="34" charset="-120"/>
              </a:rPr>
              <a:t>시각화</a:t>
            </a:r>
            <a:endParaRPr lang="en-US" sz="1875" b="1" dirty="0">
              <a:solidFill>
                <a:schemeClr val="bg1"/>
              </a:solidFill>
            </a:endParaRPr>
          </a:p>
        </p:txBody>
      </p:sp>
      <p:sp>
        <p:nvSpPr>
          <p:cNvPr id="10" name="Shape 7"/>
          <p:cNvSpPr/>
          <p:nvPr/>
        </p:nvSpPr>
        <p:spPr>
          <a:xfrm>
            <a:off x="6540401" y="2647950"/>
            <a:ext cx="5207050" cy="6686550"/>
          </a:xfrm>
          <a:prstGeom prst="roundRect">
            <a:avLst>
              <a:gd name="adj" fmla="val 2927"/>
            </a:avLst>
          </a:prstGeom>
          <a:solidFill>
            <a:srgbClr val="0E1626"/>
          </a:solidFill>
          <a:ln w="9525">
            <a:solidFill>
              <a:srgbClr val="213049"/>
            </a:solidFill>
            <a:prstDash val="solid"/>
          </a:ln>
        </p:spPr>
        <p:txBody>
          <a:bodyPr/>
          <a:lstStyle/>
          <a:p>
            <a:endParaRPr lang="ko-KR" altLang="en-US"/>
          </a:p>
        </p:txBody>
      </p:sp>
      <p:sp>
        <p:nvSpPr>
          <p:cNvPr id="11" name="Text 8"/>
          <p:cNvSpPr/>
          <p:nvPr/>
        </p:nvSpPr>
        <p:spPr>
          <a:xfrm>
            <a:off x="6778526" y="2886075"/>
            <a:ext cx="4872724" cy="323850"/>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6FE3D2"/>
                </a:solidFill>
                <a:latin typeface="Courier New" pitchFamily="34" charset="0"/>
                <a:ea typeface="Courier New" pitchFamily="34" charset="-122"/>
                <a:cs typeface="Courier New" pitchFamily="34" charset="-120"/>
              </a:rPr>
              <a:t>B · </a:t>
            </a:r>
            <a:r>
              <a:rPr lang="en-US" sz="1800" kern="0" spc="144" dirty="0" err="1">
                <a:solidFill>
                  <a:srgbClr val="6FE3D2"/>
                </a:solidFill>
                <a:latin typeface="Courier New" pitchFamily="34" charset="0"/>
                <a:ea typeface="Courier New" pitchFamily="34" charset="-122"/>
                <a:cs typeface="Courier New" pitchFamily="34" charset="-120"/>
              </a:rPr>
              <a:t>미니맵</a:t>
            </a:r>
            <a:endParaRPr lang="en-US" sz="1800" dirty="0"/>
          </a:p>
        </p:txBody>
      </p:sp>
      <p:sp>
        <p:nvSpPr>
          <p:cNvPr id="12" name="Shape 9"/>
          <p:cNvSpPr/>
          <p:nvPr/>
        </p:nvSpPr>
        <p:spPr>
          <a:xfrm>
            <a:off x="6778526" y="3343275"/>
            <a:ext cx="4730800" cy="4914900"/>
          </a:xfrm>
          <a:prstGeom prst="roundRect">
            <a:avLst>
              <a:gd name="adj" fmla="val 2416"/>
            </a:avLst>
          </a:prstGeom>
          <a:solidFill>
            <a:srgbClr val="070C16"/>
          </a:solidFill>
          <a:ln/>
        </p:spPr>
        <p:txBody>
          <a:bodyPr/>
          <a:lstStyle/>
          <a:p>
            <a:endParaRPr lang="ko-KR" altLang="en-US"/>
          </a:p>
        </p:txBody>
      </p:sp>
      <p:pic>
        <p:nvPicPr>
          <p:cNvPr id="13" name="Image 1" descr="preencoded.png"/>
          <p:cNvPicPr>
            <a:picLocks noChangeAspect="1"/>
          </p:cNvPicPr>
          <p:nvPr/>
        </p:nvPicPr>
        <p:blipFill>
          <a:blip r:embed="rId4"/>
          <a:stretch>
            <a:fillRect/>
          </a:stretch>
        </p:blipFill>
        <p:spPr>
          <a:xfrm>
            <a:off x="8212182" y="3367276"/>
            <a:ext cx="1968137" cy="5062349"/>
          </a:xfrm>
          <a:prstGeom prst="rect">
            <a:avLst/>
          </a:prstGeom>
        </p:spPr>
      </p:pic>
      <p:sp>
        <p:nvSpPr>
          <p:cNvPr id="14" name="Text 10"/>
          <p:cNvSpPr/>
          <p:nvPr/>
        </p:nvSpPr>
        <p:spPr>
          <a:xfrm>
            <a:off x="6778526" y="8429625"/>
            <a:ext cx="4872724"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b="1" dirty="0">
                <a:solidFill>
                  <a:schemeClr val="bg1"/>
                </a:solidFill>
                <a:latin typeface="Helvetica" pitchFamily="34" charset="0"/>
                <a:ea typeface="Helvetica" pitchFamily="34" charset="-122"/>
                <a:cs typeface="Helvetica" pitchFamily="34" charset="-120"/>
              </a:rPr>
              <a:t>책상 평면 탑다운 맵. 이동하며 EMF 피크·완성도를 누적, 영향권 원 최대 </a:t>
            </a:r>
            <a:r>
              <a:rPr lang="en-US" sz="1875" b="1" dirty="0" err="1">
                <a:solidFill>
                  <a:schemeClr val="bg1"/>
                </a:solidFill>
                <a:latin typeface="Helvetica" pitchFamily="34" charset="0"/>
                <a:ea typeface="Helvetica" pitchFamily="34" charset="-122"/>
                <a:cs typeface="Helvetica" pitchFamily="34" charset="-120"/>
              </a:rPr>
              <a:t>반지름</a:t>
            </a:r>
            <a:r>
              <a:rPr lang="en-US" sz="1875" b="1" dirty="0">
                <a:solidFill>
                  <a:schemeClr val="bg1"/>
                </a:solidFill>
                <a:latin typeface="Helvetica" pitchFamily="34" charset="0"/>
                <a:ea typeface="Helvetica" pitchFamily="34" charset="-122"/>
                <a:cs typeface="Helvetica" pitchFamily="34" charset="-120"/>
              </a:rPr>
              <a:t> 1m</a:t>
            </a:r>
            <a:endParaRPr lang="en-US" sz="1875" b="1" dirty="0">
              <a:solidFill>
                <a:schemeClr val="bg1"/>
              </a:solidFill>
            </a:endParaRPr>
          </a:p>
        </p:txBody>
      </p:sp>
      <p:sp>
        <p:nvSpPr>
          <p:cNvPr id="15" name="Shape 11"/>
          <p:cNvSpPr/>
          <p:nvPr/>
        </p:nvSpPr>
        <p:spPr>
          <a:xfrm>
            <a:off x="12033200" y="2647950"/>
            <a:ext cx="5207050" cy="6686550"/>
          </a:xfrm>
          <a:prstGeom prst="roundRect">
            <a:avLst>
              <a:gd name="adj" fmla="val 2927"/>
            </a:avLst>
          </a:prstGeom>
          <a:solidFill>
            <a:srgbClr val="0E1626"/>
          </a:solidFill>
          <a:ln w="9525">
            <a:solidFill>
              <a:srgbClr val="213049"/>
            </a:solidFill>
            <a:prstDash val="solid"/>
          </a:ln>
        </p:spPr>
        <p:txBody>
          <a:bodyPr/>
          <a:lstStyle/>
          <a:p>
            <a:endParaRPr lang="ko-KR" altLang="en-US"/>
          </a:p>
        </p:txBody>
      </p:sp>
      <p:sp>
        <p:nvSpPr>
          <p:cNvPr id="16" name="Text 12"/>
          <p:cNvSpPr/>
          <p:nvPr/>
        </p:nvSpPr>
        <p:spPr>
          <a:xfrm>
            <a:off x="12271325" y="2886075"/>
            <a:ext cx="4872724" cy="323850"/>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6FE3D2"/>
                </a:solidFill>
                <a:latin typeface="Courier New" pitchFamily="34" charset="0"/>
                <a:ea typeface="Courier New" pitchFamily="34" charset="-122"/>
                <a:cs typeface="Courier New" pitchFamily="34" charset="-120"/>
              </a:rPr>
              <a:t>C · 집중 구역 찾기</a:t>
            </a:r>
            <a:endParaRPr lang="en-US" sz="1800" dirty="0"/>
          </a:p>
        </p:txBody>
      </p:sp>
      <p:sp>
        <p:nvSpPr>
          <p:cNvPr id="17" name="Shape 13"/>
          <p:cNvSpPr/>
          <p:nvPr/>
        </p:nvSpPr>
        <p:spPr>
          <a:xfrm>
            <a:off x="12271325" y="3343275"/>
            <a:ext cx="4730800" cy="4914900"/>
          </a:xfrm>
          <a:prstGeom prst="roundRect">
            <a:avLst>
              <a:gd name="adj" fmla="val 2416"/>
            </a:avLst>
          </a:prstGeom>
          <a:solidFill>
            <a:srgbClr val="070C16"/>
          </a:solidFill>
          <a:ln/>
        </p:spPr>
        <p:txBody>
          <a:bodyPr/>
          <a:lstStyle/>
          <a:p>
            <a:endParaRPr lang="ko-KR" altLang="en-US"/>
          </a:p>
        </p:txBody>
      </p:sp>
      <p:pic>
        <p:nvPicPr>
          <p:cNvPr id="18" name="Image 2" descr="preencoded.png"/>
          <p:cNvPicPr>
            <a:picLocks noChangeAspect="1"/>
          </p:cNvPicPr>
          <p:nvPr/>
        </p:nvPicPr>
        <p:blipFill>
          <a:blip r:embed="rId5"/>
          <a:stretch>
            <a:fillRect/>
          </a:stretch>
        </p:blipFill>
        <p:spPr>
          <a:xfrm>
            <a:off x="13758866" y="3329640"/>
            <a:ext cx="1803351" cy="4952535"/>
          </a:xfrm>
          <a:prstGeom prst="rect">
            <a:avLst/>
          </a:prstGeom>
        </p:spPr>
      </p:pic>
      <p:sp>
        <p:nvSpPr>
          <p:cNvPr id="19" name="Text 14"/>
          <p:cNvSpPr/>
          <p:nvPr/>
        </p:nvSpPr>
        <p:spPr>
          <a:xfrm>
            <a:off x="12271325" y="8429625"/>
            <a:ext cx="4872724"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b="1" dirty="0">
                <a:solidFill>
                  <a:schemeClr val="bg1"/>
                </a:solidFill>
                <a:latin typeface="Helvetica" pitchFamily="34" charset="0"/>
                <a:ea typeface="Helvetica" pitchFamily="34" charset="-122"/>
                <a:cs typeface="Helvetica" pitchFamily="34" charset="-120"/>
              </a:rPr>
              <a:t>주변 스캔 후 Focus Score 최고 </a:t>
            </a:r>
            <a:r>
              <a:rPr lang="en-US" sz="1875" b="1" dirty="0" err="1">
                <a:solidFill>
                  <a:schemeClr val="bg1"/>
                </a:solidFill>
                <a:latin typeface="Helvetica" pitchFamily="34" charset="0"/>
                <a:ea typeface="Helvetica" pitchFamily="34" charset="-122"/>
                <a:cs typeface="Helvetica" pitchFamily="34" charset="-120"/>
              </a:rPr>
              <a:t>위치</a:t>
            </a:r>
            <a:r>
              <a:rPr lang="en-US" sz="1875" b="1" dirty="0">
                <a:solidFill>
                  <a:schemeClr val="bg1"/>
                </a:solidFill>
                <a:latin typeface="Helvetica" pitchFamily="34" charset="0"/>
                <a:ea typeface="Helvetica" pitchFamily="34" charset="-122"/>
                <a:cs typeface="Helvetica" pitchFamily="34" charset="-120"/>
              </a:rPr>
              <a:t> </a:t>
            </a:r>
            <a:r>
              <a:rPr lang="en-US" sz="1875" b="1" dirty="0" err="1">
                <a:solidFill>
                  <a:schemeClr val="bg1"/>
                </a:solidFill>
                <a:latin typeface="Helvetica" pitchFamily="34" charset="0"/>
                <a:ea typeface="Helvetica" pitchFamily="34" charset="-122"/>
                <a:cs typeface="Helvetica" pitchFamily="34" charset="-120"/>
              </a:rPr>
              <a:t>표시</a:t>
            </a:r>
            <a:r>
              <a:rPr lang="en-US" sz="1875" b="1" dirty="0">
                <a:solidFill>
                  <a:schemeClr val="bg1"/>
                </a:solidFill>
                <a:latin typeface="Helvetica" pitchFamily="34" charset="0"/>
                <a:ea typeface="Helvetica" pitchFamily="34" charset="-122"/>
                <a:cs typeface="Helvetica" pitchFamily="34" charset="-120"/>
              </a:rPr>
              <a:t> </a:t>
            </a:r>
          </a:p>
          <a:p>
            <a:pPr marL="0" indent="0" algn="l">
              <a:lnSpc>
                <a:spcPct val="140000"/>
              </a:lnSpc>
              <a:buNone/>
            </a:pPr>
            <a:r>
              <a:rPr lang="en-US" sz="1875" b="1" dirty="0" err="1">
                <a:solidFill>
                  <a:schemeClr val="bg1"/>
                </a:solidFill>
                <a:latin typeface="Helvetica" pitchFamily="34" charset="0"/>
                <a:ea typeface="Helvetica" pitchFamily="34" charset="-122"/>
                <a:cs typeface="Helvetica" pitchFamily="34" charset="-120"/>
              </a:rPr>
              <a:t>범위</a:t>
            </a:r>
            <a:r>
              <a:rPr lang="en-US" sz="1875" b="1" dirty="0">
                <a:solidFill>
                  <a:schemeClr val="bg1"/>
                </a:solidFill>
                <a:latin typeface="Helvetica" pitchFamily="34" charset="0"/>
                <a:ea typeface="Helvetica" pitchFamily="34" charset="-122"/>
                <a:cs typeface="Helvetica" pitchFamily="34" charset="-120"/>
              </a:rPr>
              <a:t> 수평 6m(±3m)·높이 ±1m</a:t>
            </a:r>
            <a:endParaRPr lang="en-US" sz="1875" b="1" dirty="0">
              <a:solidFill>
                <a:schemeClr val="bg1"/>
              </a:solidFill>
            </a:endParaRPr>
          </a:p>
        </p:txBody>
      </p:sp>
      <p:sp>
        <p:nvSpPr>
          <p:cNvPr id="23" name="Text 0">
            <a:extLst>
              <a:ext uri="{FF2B5EF4-FFF2-40B4-BE49-F238E27FC236}">
                <a16:creationId xmlns:a16="http://schemas.microsoft.com/office/drawing/2014/main" id="{F9DC628B-C42B-47D6-4F1A-0EBF9C4E4C35}"/>
              </a:ext>
            </a:extLst>
          </p:cNvPr>
          <p:cNvSpPr/>
          <p:nvPr/>
        </p:nvSpPr>
        <p:spPr>
          <a:xfrm>
            <a:off x="1047750" y="876300"/>
            <a:ext cx="47252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kern="0" spc="390" dirty="0">
                <a:solidFill>
                  <a:schemeClr val="bg1"/>
                </a:solidFill>
                <a:latin typeface="Courier New" pitchFamily="34" charset="0"/>
                <a:ea typeface="Courier New" pitchFamily="34" charset="-122"/>
                <a:cs typeface="Courier New" pitchFamily="34" charset="-120"/>
              </a:rPr>
              <a:t>05</a:t>
            </a:r>
            <a:endParaRPr lang="en-US" sz="1950" dirty="0">
              <a:solidFill>
                <a:schemeClr val="bg1"/>
              </a:solidFill>
            </a:endParaRPr>
          </a:p>
        </p:txBody>
      </p:sp>
      <p:sp>
        <p:nvSpPr>
          <p:cNvPr id="25" name="Text 1">
            <a:extLst>
              <a:ext uri="{FF2B5EF4-FFF2-40B4-BE49-F238E27FC236}">
                <a16:creationId xmlns:a16="http://schemas.microsoft.com/office/drawing/2014/main" id="{3EE0AAE3-1B15-540F-314B-BEA8EF05E639}"/>
              </a:ext>
            </a:extLst>
          </p:cNvPr>
          <p:cNvSpPr/>
          <p:nvPr/>
        </p:nvSpPr>
        <p:spPr>
          <a:xfrm>
            <a:off x="1596479" y="866774"/>
            <a:ext cx="9062812" cy="523875"/>
          </a:xfrm>
          <a:prstGeom prst="rect">
            <a:avLst/>
          </a:prstGeom>
          <a:noFill/>
          <a:ln/>
        </p:spPr>
        <p:txBody>
          <a:bodyPr wrap="square" lIns="25400" tIns="25400" rIns="25400" bIns="25400" rtlCol="0" anchor="t">
            <a:normAutofit/>
          </a:bodyPr>
          <a:lstStyle/>
          <a:p>
            <a:pPr marL="0" indent="0" algn="l">
              <a:buNone/>
            </a:pPr>
            <a:r>
              <a:rPr lang="ko-KR" altLang="en-US" sz="1950" kern="0" spc="390" dirty="0">
                <a:solidFill>
                  <a:srgbClr val="6FE3D2"/>
                </a:solidFill>
                <a:latin typeface="Courier New" pitchFamily="34" charset="0"/>
                <a:cs typeface="Courier New" pitchFamily="34" charset="-120"/>
              </a:rPr>
              <a:t>제</a:t>
            </a:r>
            <a:r>
              <a:rPr lang="en-US" altLang="ko-KR" sz="1950" kern="0" spc="390" dirty="0">
                <a:solidFill>
                  <a:srgbClr val="6FE3D2"/>
                </a:solidFill>
                <a:latin typeface="Courier New" pitchFamily="34" charset="0"/>
                <a:cs typeface="Courier New" pitchFamily="34" charset="-120"/>
              </a:rPr>
              <a:t>2,3,4 </a:t>
            </a:r>
            <a:r>
              <a:rPr lang="ko-KR" altLang="en-US" sz="1950" kern="0" spc="390" dirty="0">
                <a:solidFill>
                  <a:srgbClr val="6FE3D2"/>
                </a:solidFill>
                <a:latin typeface="Courier New" pitchFamily="34" charset="0"/>
                <a:cs typeface="Courier New" pitchFamily="34" charset="-120"/>
              </a:rPr>
              <a:t>기능 </a:t>
            </a:r>
            <a:r>
              <a:rPr lang="en-US" altLang="ko-KR" sz="1950" kern="0" spc="390" dirty="0">
                <a:solidFill>
                  <a:srgbClr val="6FE3D2"/>
                </a:solidFill>
                <a:latin typeface="Courier New" pitchFamily="34" charset="0"/>
                <a:cs typeface="Courier New" pitchFamily="34" charset="-120"/>
              </a:rPr>
              <a:t>– </a:t>
            </a:r>
            <a:r>
              <a:rPr lang="ko-KR" altLang="en-US" sz="1950" kern="0" spc="390" dirty="0">
                <a:solidFill>
                  <a:srgbClr val="6FE3D2"/>
                </a:solidFill>
                <a:latin typeface="Courier New" pitchFamily="34" charset="0"/>
                <a:cs typeface="Courier New" pitchFamily="34" charset="-120"/>
              </a:rPr>
              <a:t>측정된 정보를 통한 여러 기능</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C16"/>
        </a:solidFill>
        <a:effectLst/>
      </p:bgPr>
    </p:bg>
    <p:spTree>
      <p:nvGrpSpPr>
        <p:cNvPr id="1" name=""/>
        <p:cNvGrpSpPr/>
        <p:nvPr/>
      </p:nvGrpSpPr>
      <p:grpSpPr>
        <a:xfrm>
          <a:off x="0" y="0"/>
          <a:ext cx="0" cy="0"/>
          <a:chOff x="0" y="0"/>
          <a:chExt cx="0" cy="0"/>
        </a:xfrm>
      </p:grpSpPr>
      <p:sp>
        <p:nvSpPr>
          <p:cNvPr id="2" name="Text 0"/>
          <p:cNvSpPr/>
          <p:nvPr/>
        </p:nvSpPr>
        <p:spPr>
          <a:xfrm>
            <a:off x="1047750" y="771525"/>
            <a:ext cx="47252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kern="0" spc="390" dirty="0">
                <a:solidFill>
                  <a:schemeClr val="bg1"/>
                </a:solidFill>
                <a:latin typeface="Courier New" pitchFamily="34" charset="0"/>
                <a:ea typeface="Courier New" pitchFamily="34" charset="-122"/>
                <a:cs typeface="Courier New" pitchFamily="34" charset="-120"/>
              </a:rPr>
              <a:t>06</a:t>
            </a:r>
            <a:endParaRPr lang="en-US" sz="1950" dirty="0">
              <a:solidFill>
                <a:schemeClr val="bg1"/>
              </a:solidFill>
            </a:endParaRPr>
          </a:p>
        </p:txBody>
      </p:sp>
      <p:sp>
        <p:nvSpPr>
          <p:cNvPr id="3" name="Text 1"/>
          <p:cNvSpPr/>
          <p:nvPr/>
        </p:nvSpPr>
        <p:spPr>
          <a:xfrm>
            <a:off x="1596479" y="762000"/>
            <a:ext cx="4388011" cy="342900"/>
          </a:xfrm>
          <a:prstGeom prst="rect">
            <a:avLst/>
          </a:prstGeom>
          <a:noFill/>
          <a:ln/>
        </p:spPr>
        <p:txBody>
          <a:bodyPr wrap="square" lIns="25400" tIns="25400" rIns="25400" bIns="25400" rtlCol="0" anchor="t">
            <a:normAutofit lnSpcReduction="10000"/>
          </a:bodyPr>
          <a:lstStyle/>
          <a:p>
            <a:pPr marL="0" indent="0" algn="l">
              <a:buNone/>
            </a:pPr>
            <a:r>
              <a:rPr lang="ko-KR" altLang="en-US" sz="1950" kern="0" spc="390" dirty="0">
                <a:solidFill>
                  <a:srgbClr val="6FE3D2"/>
                </a:solidFill>
                <a:latin typeface="Courier New" pitchFamily="34" charset="0"/>
                <a:ea typeface="Courier New" pitchFamily="34" charset="-122"/>
                <a:cs typeface="Courier New" pitchFamily="34" charset="-120"/>
              </a:rPr>
              <a:t>원리 </a:t>
            </a:r>
            <a:r>
              <a:rPr lang="en-US" altLang="ko-KR" sz="1950" kern="0" spc="390" dirty="0">
                <a:solidFill>
                  <a:srgbClr val="6FE3D2"/>
                </a:solidFill>
                <a:latin typeface="Courier New" pitchFamily="34" charset="0"/>
                <a:ea typeface="Courier New" pitchFamily="34" charset="-122"/>
                <a:cs typeface="Courier New" pitchFamily="34" charset="-120"/>
              </a:rPr>
              <a:t>1</a:t>
            </a:r>
            <a:r>
              <a:rPr lang="en-US" sz="1950" kern="0" spc="390" dirty="0">
                <a:solidFill>
                  <a:srgbClr val="6FE3D2"/>
                </a:solidFill>
                <a:latin typeface="Courier New" pitchFamily="34" charset="0"/>
                <a:ea typeface="Courier New" pitchFamily="34" charset="-122"/>
                <a:cs typeface="Courier New" pitchFamily="34" charset="-120"/>
              </a:rPr>
              <a:t> - SENSING</a:t>
            </a:r>
            <a:endParaRPr lang="en-US" sz="1950" dirty="0"/>
          </a:p>
        </p:txBody>
      </p:sp>
      <p:sp>
        <p:nvSpPr>
          <p:cNvPr id="4" name="Text 2"/>
          <p:cNvSpPr/>
          <p:nvPr/>
        </p:nvSpPr>
        <p:spPr>
          <a:xfrm>
            <a:off x="1047750" y="1295400"/>
            <a:ext cx="16678275" cy="952500"/>
          </a:xfrm>
          <a:prstGeom prst="rect">
            <a:avLst/>
          </a:prstGeom>
          <a:noFill/>
          <a:ln/>
        </p:spPr>
        <p:txBody>
          <a:bodyPr wrap="square" lIns="25400" tIns="25400" rIns="25400" bIns="25400" rtlCol="0" anchor="t">
            <a:normAutofit/>
          </a:bodyPr>
          <a:lstStyle/>
          <a:p>
            <a:pPr marL="0" indent="0" algn="l">
              <a:buNone/>
            </a:pPr>
            <a:r>
              <a:rPr lang="en-US" sz="4950" b="1" kern="0" spc="-49" dirty="0">
                <a:solidFill>
                  <a:srgbClr val="EAEFF7"/>
                </a:solidFill>
                <a:latin typeface="Helvetica" pitchFamily="34" charset="0"/>
                <a:ea typeface="Helvetica" pitchFamily="34" charset="-122"/>
                <a:cs typeface="Helvetica" pitchFamily="34" charset="-120"/>
              </a:rPr>
              <a:t>동작 원리 ① — </a:t>
            </a:r>
            <a:r>
              <a:rPr lang="en-US" sz="4950" b="1" kern="0" spc="-49" dirty="0" err="1">
                <a:solidFill>
                  <a:srgbClr val="EAEFF7"/>
                </a:solidFill>
                <a:latin typeface="Helvetica" pitchFamily="34" charset="0"/>
                <a:ea typeface="Helvetica" pitchFamily="34" charset="-122"/>
                <a:cs typeface="Helvetica" pitchFamily="34" charset="-120"/>
              </a:rPr>
              <a:t>센서</a:t>
            </a:r>
            <a:endParaRPr lang="en-US" sz="4950" dirty="0"/>
          </a:p>
        </p:txBody>
      </p:sp>
      <p:sp>
        <p:nvSpPr>
          <p:cNvPr id="5" name="Text 3"/>
          <p:cNvSpPr/>
          <p:nvPr/>
        </p:nvSpPr>
        <p:spPr>
          <a:xfrm>
            <a:off x="6769281" y="2929074"/>
            <a:ext cx="5101590" cy="295275"/>
          </a:xfrm>
          <a:prstGeom prst="rect">
            <a:avLst/>
          </a:prstGeom>
          <a:noFill/>
          <a:ln/>
        </p:spPr>
        <p:txBody>
          <a:bodyPr wrap="square" lIns="25400" tIns="25400" rIns="25400" bIns="25400" rtlCol="0" anchor="t">
            <a:normAutofit fontScale="92500" lnSpcReduction="10000"/>
          </a:bodyPr>
          <a:lstStyle/>
          <a:p>
            <a:pPr marL="0" indent="0" algn="ctr">
              <a:buNone/>
            </a:pPr>
            <a:r>
              <a:rPr lang="ko-KR" altLang="en-US" sz="1800" b="1" kern="0" spc="288" dirty="0">
                <a:solidFill>
                  <a:schemeClr val="bg1"/>
                </a:solidFill>
                <a:latin typeface="Courier New" pitchFamily="34" charset="0"/>
                <a:ea typeface="Courier New" pitchFamily="34" charset="-122"/>
                <a:cs typeface="Courier New" pitchFamily="34" charset="-120"/>
              </a:rPr>
              <a:t>사용 센서</a:t>
            </a:r>
            <a:endParaRPr lang="en-US" sz="1800" b="1" dirty="0">
              <a:solidFill>
                <a:schemeClr val="bg1"/>
              </a:solidFill>
            </a:endParaRPr>
          </a:p>
        </p:txBody>
      </p:sp>
      <p:sp>
        <p:nvSpPr>
          <p:cNvPr id="6" name="Shape 4"/>
          <p:cNvSpPr/>
          <p:nvPr/>
        </p:nvSpPr>
        <p:spPr>
          <a:xfrm>
            <a:off x="6769281" y="3319599"/>
            <a:ext cx="4953000" cy="1171575"/>
          </a:xfrm>
          <a:prstGeom prst="roundRect">
            <a:avLst>
              <a:gd name="adj" fmla="val 10569"/>
            </a:avLst>
          </a:prstGeom>
          <a:solidFill>
            <a:srgbClr val="0E1626"/>
          </a:solidFill>
          <a:ln w="9525">
            <a:solidFill>
              <a:srgbClr val="213049"/>
            </a:solidFill>
            <a:prstDash val="solid"/>
          </a:ln>
        </p:spPr>
        <p:txBody>
          <a:bodyPr/>
          <a:lstStyle/>
          <a:p>
            <a:endParaRPr lang="ko-KR" altLang="en-US" dirty="0"/>
          </a:p>
        </p:txBody>
      </p:sp>
      <p:sp>
        <p:nvSpPr>
          <p:cNvPr id="7" name="Text 5"/>
          <p:cNvSpPr/>
          <p:nvPr/>
        </p:nvSpPr>
        <p:spPr>
          <a:xfrm>
            <a:off x="7045506" y="3500574"/>
            <a:ext cx="4532567" cy="457200"/>
          </a:xfrm>
          <a:prstGeom prst="rect">
            <a:avLst/>
          </a:prstGeom>
          <a:noFill/>
          <a:ln/>
        </p:spPr>
        <p:txBody>
          <a:bodyPr wrap="square" lIns="25400" tIns="25400" rIns="25400" bIns="25400" rtlCol="0" anchor="t">
            <a:normAutofit/>
          </a:bodyPr>
          <a:lstStyle/>
          <a:p>
            <a:pPr marL="0" indent="0" algn="ctr">
              <a:buNone/>
            </a:pPr>
            <a:r>
              <a:rPr lang="en-US" sz="2250" b="1" dirty="0" err="1">
                <a:solidFill>
                  <a:srgbClr val="EAEFF7"/>
                </a:solidFill>
                <a:latin typeface="Helvetica" pitchFamily="34" charset="0"/>
                <a:ea typeface="Helvetica" pitchFamily="34" charset="-122"/>
                <a:cs typeface="Helvetica" pitchFamily="34" charset="-120"/>
              </a:rPr>
              <a:t>마그네토미터</a:t>
            </a:r>
            <a:r>
              <a:rPr lang="en-US" sz="2250" b="1" dirty="0">
                <a:solidFill>
                  <a:srgbClr val="EAEFF7"/>
                </a:solidFill>
                <a:latin typeface="Helvetica" pitchFamily="34" charset="0"/>
                <a:ea typeface="Helvetica" pitchFamily="34" charset="-122"/>
                <a:cs typeface="Helvetica" pitchFamily="34" charset="-120"/>
              </a:rPr>
              <a:t>(Magnetometer)</a:t>
            </a:r>
            <a:endParaRPr lang="en-US" sz="2250" dirty="0"/>
          </a:p>
        </p:txBody>
      </p:sp>
      <p:sp>
        <p:nvSpPr>
          <p:cNvPr id="8" name="Text 6"/>
          <p:cNvSpPr/>
          <p:nvPr/>
        </p:nvSpPr>
        <p:spPr>
          <a:xfrm>
            <a:off x="7045506" y="3957774"/>
            <a:ext cx="4532567" cy="390525"/>
          </a:xfrm>
          <a:prstGeom prst="rect">
            <a:avLst/>
          </a:prstGeom>
          <a:noFill/>
          <a:ln/>
        </p:spPr>
        <p:txBody>
          <a:bodyPr wrap="square" lIns="25400" tIns="25400" rIns="25400" bIns="25400" rtlCol="0" anchor="t">
            <a:normAutofit/>
          </a:bodyPr>
          <a:lstStyle/>
          <a:p>
            <a:pPr marL="0" indent="0" algn="ctr">
              <a:buNone/>
            </a:pPr>
            <a:r>
              <a:rPr lang="en-US" sz="1950" dirty="0">
                <a:solidFill>
                  <a:schemeClr val="bg1"/>
                </a:solidFill>
                <a:latin typeface="Helvetica" pitchFamily="34" charset="0"/>
                <a:ea typeface="Helvetica" pitchFamily="34" charset="-122"/>
                <a:cs typeface="Helvetica" pitchFamily="34" charset="-120"/>
              </a:rPr>
              <a:t>EMF</a:t>
            </a:r>
            <a:r>
              <a:rPr lang="ko-KR" altLang="en-US" sz="1950" dirty="0">
                <a:solidFill>
                  <a:schemeClr val="bg1"/>
                </a:solidFill>
                <a:latin typeface="Helvetica" pitchFamily="34" charset="0"/>
                <a:ea typeface="Helvetica" pitchFamily="34" charset="-122"/>
                <a:cs typeface="Helvetica" pitchFamily="34" charset="-120"/>
              </a:rPr>
              <a:t>를 측정하는 핵심 기능</a:t>
            </a:r>
            <a:endParaRPr lang="en-US" sz="1950" dirty="0">
              <a:solidFill>
                <a:schemeClr val="bg1"/>
              </a:solidFill>
            </a:endParaRPr>
          </a:p>
        </p:txBody>
      </p:sp>
      <p:sp>
        <p:nvSpPr>
          <p:cNvPr id="9" name="Shape 7"/>
          <p:cNvSpPr/>
          <p:nvPr/>
        </p:nvSpPr>
        <p:spPr>
          <a:xfrm>
            <a:off x="6769281" y="4624524"/>
            <a:ext cx="4953000" cy="1171575"/>
          </a:xfrm>
          <a:prstGeom prst="roundRect">
            <a:avLst>
              <a:gd name="adj" fmla="val 10569"/>
            </a:avLst>
          </a:prstGeom>
          <a:solidFill>
            <a:srgbClr val="0E1626"/>
          </a:solidFill>
          <a:ln w="9525">
            <a:solidFill>
              <a:srgbClr val="213049"/>
            </a:solidFill>
            <a:prstDash val="solid"/>
          </a:ln>
        </p:spPr>
        <p:txBody>
          <a:bodyPr/>
          <a:lstStyle/>
          <a:p>
            <a:endParaRPr lang="ko-KR" altLang="en-US"/>
          </a:p>
        </p:txBody>
      </p:sp>
      <p:sp>
        <p:nvSpPr>
          <p:cNvPr id="10" name="Text 8"/>
          <p:cNvSpPr/>
          <p:nvPr/>
        </p:nvSpPr>
        <p:spPr>
          <a:xfrm>
            <a:off x="7045506" y="4805499"/>
            <a:ext cx="4532567" cy="457200"/>
          </a:xfrm>
          <a:prstGeom prst="rect">
            <a:avLst/>
          </a:prstGeom>
          <a:noFill/>
          <a:ln/>
        </p:spPr>
        <p:txBody>
          <a:bodyPr wrap="square" lIns="25400" tIns="25400" rIns="25400" bIns="25400" rtlCol="0" anchor="t">
            <a:normAutofit/>
          </a:bodyPr>
          <a:lstStyle/>
          <a:p>
            <a:pPr marL="0" indent="0" algn="ctr">
              <a:buNone/>
            </a:pPr>
            <a:r>
              <a:rPr lang="en-US" sz="2250" b="1" dirty="0" err="1">
                <a:solidFill>
                  <a:srgbClr val="EAEFF7"/>
                </a:solidFill>
                <a:latin typeface="Helvetica" pitchFamily="34" charset="0"/>
                <a:ea typeface="Helvetica" pitchFamily="34" charset="-122"/>
                <a:cs typeface="Helvetica" pitchFamily="34" charset="-120"/>
              </a:rPr>
              <a:t>선형</a:t>
            </a:r>
            <a:r>
              <a:rPr lang="en-US" sz="2250" b="1" dirty="0">
                <a:solidFill>
                  <a:srgbClr val="EAEFF7"/>
                </a:solidFill>
                <a:latin typeface="Helvetica" pitchFamily="34" charset="0"/>
                <a:ea typeface="Helvetica" pitchFamily="34" charset="-122"/>
                <a:cs typeface="Helvetica" pitchFamily="34" charset="-120"/>
              </a:rPr>
              <a:t> </a:t>
            </a:r>
            <a:r>
              <a:rPr lang="en-US" sz="2250" b="1" dirty="0" err="1">
                <a:solidFill>
                  <a:srgbClr val="EAEFF7"/>
                </a:solidFill>
                <a:latin typeface="Helvetica" pitchFamily="34" charset="0"/>
                <a:ea typeface="Helvetica" pitchFamily="34" charset="-122"/>
                <a:cs typeface="Helvetica" pitchFamily="34" charset="-120"/>
              </a:rPr>
              <a:t>가속도</a:t>
            </a:r>
            <a:r>
              <a:rPr lang="en-US" sz="2250" b="1" dirty="0">
                <a:solidFill>
                  <a:srgbClr val="EAEFF7"/>
                </a:solidFill>
                <a:latin typeface="Helvetica" pitchFamily="34" charset="0"/>
                <a:ea typeface="Helvetica" pitchFamily="34" charset="-122"/>
                <a:cs typeface="Helvetica" pitchFamily="34" charset="-120"/>
              </a:rPr>
              <a:t> </a:t>
            </a:r>
            <a:r>
              <a:rPr lang="ko-KR" altLang="en-US" sz="2250" b="1" dirty="0">
                <a:solidFill>
                  <a:srgbClr val="EAEFF7"/>
                </a:solidFill>
                <a:latin typeface="Helvetica" pitchFamily="34" charset="0"/>
                <a:ea typeface="Helvetica" pitchFamily="34" charset="-122"/>
                <a:cs typeface="Helvetica" pitchFamily="34" charset="-120"/>
              </a:rPr>
              <a:t>센서</a:t>
            </a:r>
            <a:endParaRPr lang="en-US" sz="2250" dirty="0"/>
          </a:p>
        </p:txBody>
      </p:sp>
      <p:sp>
        <p:nvSpPr>
          <p:cNvPr id="11" name="Text 9"/>
          <p:cNvSpPr/>
          <p:nvPr/>
        </p:nvSpPr>
        <p:spPr>
          <a:xfrm>
            <a:off x="7045506" y="5262699"/>
            <a:ext cx="4532567" cy="390525"/>
          </a:xfrm>
          <a:prstGeom prst="rect">
            <a:avLst/>
          </a:prstGeom>
          <a:noFill/>
          <a:ln/>
        </p:spPr>
        <p:txBody>
          <a:bodyPr wrap="square" lIns="25400" tIns="25400" rIns="25400" bIns="25400" rtlCol="0" anchor="t">
            <a:normAutofit/>
          </a:bodyPr>
          <a:lstStyle/>
          <a:p>
            <a:pPr marL="0" indent="0" algn="ctr">
              <a:buNone/>
            </a:pPr>
            <a:r>
              <a:rPr lang="en-US" sz="1950" dirty="0">
                <a:solidFill>
                  <a:schemeClr val="bg1"/>
                </a:solidFill>
                <a:latin typeface="Helvetica" pitchFamily="34" charset="0"/>
                <a:ea typeface="Helvetica" pitchFamily="34" charset="-122"/>
                <a:cs typeface="Helvetica" pitchFamily="34" charset="-120"/>
              </a:rPr>
              <a:t>책상·주변 위치 </a:t>
            </a:r>
            <a:r>
              <a:rPr lang="en-US" sz="1950" dirty="0" err="1">
                <a:solidFill>
                  <a:schemeClr val="bg1"/>
                </a:solidFill>
                <a:latin typeface="Helvetica" pitchFamily="34" charset="0"/>
                <a:ea typeface="Helvetica" pitchFamily="34" charset="-122"/>
                <a:cs typeface="Helvetica" pitchFamily="34" charset="-120"/>
              </a:rPr>
              <a:t>추정</a:t>
            </a:r>
            <a:r>
              <a:rPr lang="en-US" sz="1950" dirty="0">
                <a:solidFill>
                  <a:schemeClr val="bg1"/>
                </a:solidFill>
                <a:latin typeface="Helvetica" pitchFamily="34" charset="0"/>
                <a:ea typeface="Helvetica" pitchFamily="34" charset="-122"/>
                <a:cs typeface="Helvetica" pitchFamily="34" charset="-120"/>
              </a:rPr>
              <a:t> </a:t>
            </a:r>
            <a:endParaRPr lang="en-US" sz="1950" dirty="0">
              <a:solidFill>
                <a:schemeClr val="bg1"/>
              </a:solidFill>
            </a:endParaRPr>
          </a:p>
        </p:txBody>
      </p:sp>
      <p:sp>
        <p:nvSpPr>
          <p:cNvPr id="12" name="Shape 10"/>
          <p:cNvSpPr/>
          <p:nvPr/>
        </p:nvSpPr>
        <p:spPr>
          <a:xfrm>
            <a:off x="6769281" y="5929449"/>
            <a:ext cx="4953000" cy="1171575"/>
          </a:xfrm>
          <a:prstGeom prst="roundRect">
            <a:avLst>
              <a:gd name="adj" fmla="val 10569"/>
            </a:avLst>
          </a:prstGeom>
          <a:solidFill>
            <a:srgbClr val="0E1626"/>
          </a:solidFill>
          <a:ln w="9525">
            <a:solidFill>
              <a:srgbClr val="213049"/>
            </a:solidFill>
            <a:prstDash val="solid"/>
          </a:ln>
        </p:spPr>
        <p:txBody>
          <a:bodyPr/>
          <a:lstStyle/>
          <a:p>
            <a:endParaRPr lang="ko-KR" altLang="en-US"/>
          </a:p>
        </p:txBody>
      </p:sp>
      <p:sp>
        <p:nvSpPr>
          <p:cNvPr id="13" name="Text 11"/>
          <p:cNvSpPr/>
          <p:nvPr/>
        </p:nvSpPr>
        <p:spPr>
          <a:xfrm>
            <a:off x="7045506" y="6110424"/>
            <a:ext cx="4532567" cy="457200"/>
          </a:xfrm>
          <a:prstGeom prst="rect">
            <a:avLst/>
          </a:prstGeom>
          <a:noFill/>
          <a:ln/>
        </p:spPr>
        <p:txBody>
          <a:bodyPr wrap="square" lIns="25400" tIns="25400" rIns="25400" bIns="25400" rtlCol="0" anchor="t">
            <a:normAutofit/>
          </a:bodyPr>
          <a:lstStyle/>
          <a:p>
            <a:pPr marL="0" indent="0" algn="ctr">
              <a:buNone/>
            </a:pPr>
            <a:r>
              <a:rPr lang="en-US" sz="2250" b="1" dirty="0">
                <a:solidFill>
                  <a:srgbClr val="EAEFF7"/>
                </a:solidFill>
                <a:latin typeface="Helvetica" pitchFamily="34" charset="0"/>
                <a:ea typeface="Helvetica" pitchFamily="34" charset="-122"/>
                <a:cs typeface="Helvetica" pitchFamily="34" charset="-120"/>
              </a:rPr>
              <a:t>후면 카메라</a:t>
            </a:r>
            <a:endParaRPr lang="en-US" sz="2250" dirty="0"/>
          </a:p>
        </p:txBody>
      </p:sp>
      <p:sp>
        <p:nvSpPr>
          <p:cNvPr id="14" name="Text 12"/>
          <p:cNvSpPr/>
          <p:nvPr/>
        </p:nvSpPr>
        <p:spPr>
          <a:xfrm>
            <a:off x="7045506" y="6567624"/>
            <a:ext cx="4532567" cy="390525"/>
          </a:xfrm>
          <a:prstGeom prst="rect">
            <a:avLst/>
          </a:prstGeom>
          <a:noFill/>
          <a:ln/>
        </p:spPr>
        <p:txBody>
          <a:bodyPr wrap="square" lIns="25400" tIns="25400" rIns="25400" bIns="25400" rtlCol="0" anchor="t">
            <a:normAutofit/>
          </a:bodyPr>
          <a:lstStyle/>
          <a:p>
            <a:pPr marL="0" indent="0" algn="ctr">
              <a:buNone/>
            </a:pPr>
            <a:r>
              <a:rPr lang="en-US" sz="1950" dirty="0">
                <a:solidFill>
                  <a:schemeClr val="bg1"/>
                </a:solidFill>
                <a:latin typeface="Helvetica" pitchFamily="34" charset="0"/>
                <a:ea typeface="Helvetica" pitchFamily="34" charset="-122"/>
                <a:cs typeface="Helvetica" pitchFamily="34" charset="-120"/>
              </a:rPr>
              <a:t>AR </a:t>
            </a:r>
            <a:r>
              <a:rPr lang="ko-KR" altLang="en-US" sz="1950" dirty="0">
                <a:solidFill>
                  <a:schemeClr val="bg1"/>
                </a:solidFill>
                <a:latin typeface="Helvetica" pitchFamily="34" charset="0"/>
                <a:ea typeface="Helvetica" pitchFamily="34" charset="-122"/>
                <a:cs typeface="Helvetica" pitchFamily="34" charset="-120"/>
              </a:rPr>
              <a:t>화면으로 활용 </a:t>
            </a:r>
            <a:endParaRPr lang="en-US" sz="1950" dirty="0">
              <a:solidFill>
                <a:schemeClr val="bg1"/>
              </a:solidFill>
            </a:endParaRPr>
          </a:p>
        </p:txBody>
      </p:sp>
      <p:sp>
        <p:nvSpPr>
          <p:cNvPr id="15" name="Shape 13"/>
          <p:cNvSpPr/>
          <p:nvPr/>
        </p:nvSpPr>
        <p:spPr>
          <a:xfrm>
            <a:off x="6769281" y="7272474"/>
            <a:ext cx="4953000" cy="990600"/>
          </a:xfrm>
          <a:prstGeom prst="roundRect">
            <a:avLst>
              <a:gd name="adj" fmla="val 11538"/>
            </a:avLst>
          </a:prstGeom>
          <a:solidFill>
            <a:srgbClr val="10211C"/>
          </a:solidFill>
          <a:ln w="9525">
            <a:solidFill>
              <a:srgbClr val="1F8B7A"/>
            </a:solidFill>
            <a:prstDash val="solid"/>
          </a:ln>
        </p:spPr>
        <p:txBody>
          <a:bodyPr/>
          <a:lstStyle/>
          <a:p>
            <a:endParaRPr lang="ko-KR" altLang="en-US"/>
          </a:p>
        </p:txBody>
      </p:sp>
      <p:sp>
        <p:nvSpPr>
          <p:cNvPr id="16" name="Text 14"/>
          <p:cNvSpPr/>
          <p:nvPr/>
        </p:nvSpPr>
        <p:spPr>
          <a:xfrm>
            <a:off x="6758803" y="7324862"/>
            <a:ext cx="5032602" cy="862012"/>
          </a:xfrm>
          <a:prstGeom prst="rect">
            <a:avLst/>
          </a:prstGeom>
          <a:noFill/>
          <a:ln/>
        </p:spPr>
        <p:txBody>
          <a:bodyPr wrap="square" lIns="25400" tIns="25400" rIns="25400" bIns="25400" rtlCol="0" anchor="t">
            <a:normAutofit/>
          </a:bodyPr>
          <a:lstStyle/>
          <a:p>
            <a:pPr marL="0" indent="0" algn="ctr">
              <a:lnSpc>
                <a:spcPct val="140000"/>
              </a:lnSpc>
              <a:buNone/>
            </a:pPr>
            <a:r>
              <a:rPr lang="ko-KR" altLang="en-US" sz="1875" b="1" dirty="0">
                <a:solidFill>
                  <a:schemeClr val="bg1"/>
                </a:solidFill>
              </a:rPr>
              <a:t>스마트폰의 내장 센서만을 활용하여</a:t>
            </a:r>
            <a:endParaRPr lang="en-US" altLang="ko-KR" sz="1875" b="1" dirty="0">
              <a:solidFill>
                <a:schemeClr val="bg1"/>
              </a:solidFill>
            </a:endParaRPr>
          </a:p>
          <a:p>
            <a:pPr marL="0" indent="0" algn="ctr">
              <a:lnSpc>
                <a:spcPct val="140000"/>
              </a:lnSpc>
              <a:buNone/>
            </a:pPr>
            <a:r>
              <a:rPr lang="en-US" sz="1875" b="1" dirty="0">
                <a:solidFill>
                  <a:schemeClr val="bg1"/>
                </a:solidFill>
              </a:rPr>
              <a:t>APK</a:t>
            </a:r>
            <a:r>
              <a:rPr lang="ko-KR" altLang="en-US" sz="1875" b="1" dirty="0">
                <a:solidFill>
                  <a:schemeClr val="bg1"/>
                </a:solidFill>
              </a:rPr>
              <a:t>의 보안성 문제를 최소화</a:t>
            </a:r>
            <a:endParaRPr lang="en-US" sz="1875" b="1"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C16"/>
        </a:solidFill>
        <a:effectLst/>
      </p:bgPr>
    </p:bg>
    <p:spTree>
      <p:nvGrpSpPr>
        <p:cNvPr id="1" name=""/>
        <p:cNvGrpSpPr/>
        <p:nvPr/>
      </p:nvGrpSpPr>
      <p:grpSpPr>
        <a:xfrm>
          <a:off x="0" y="0"/>
          <a:ext cx="0" cy="0"/>
          <a:chOff x="0" y="0"/>
          <a:chExt cx="0" cy="0"/>
        </a:xfrm>
      </p:grpSpPr>
      <p:sp>
        <p:nvSpPr>
          <p:cNvPr id="4" name="Text 2"/>
          <p:cNvSpPr/>
          <p:nvPr/>
        </p:nvSpPr>
        <p:spPr>
          <a:xfrm>
            <a:off x="1047750" y="1390650"/>
            <a:ext cx="16678275" cy="952500"/>
          </a:xfrm>
          <a:prstGeom prst="rect">
            <a:avLst/>
          </a:prstGeom>
          <a:noFill/>
          <a:ln/>
        </p:spPr>
        <p:txBody>
          <a:bodyPr wrap="square" lIns="25400" tIns="25400" rIns="25400" bIns="25400" rtlCol="0" anchor="t">
            <a:normAutofit/>
          </a:bodyPr>
          <a:lstStyle/>
          <a:p>
            <a:pPr marL="0" indent="0" algn="l">
              <a:buNone/>
            </a:pPr>
            <a:r>
              <a:rPr lang="en-US" sz="4950" b="1" kern="0" spc="-49" dirty="0">
                <a:solidFill>
                  <a:srgbClr val="EAEFF7"/>
                </a:solidFill>
                <a:latin typeface="Helvetica" pitchFamily="34" charset="0"/>
                <a:ea typeface="Helvetica" pitchFamily="34" charset="-122"/>
                <a:cs typeface="Helvetica" pitchFamily="34" charset="-120"/>
              </a:rPr>
              <a:t>동작 원리 ② — Focus Score 와 집중 알림</a:t>
            </a:r>
            <a:endParaRPr lang="en-US" sz="4950" dirty="0"/>
          </a:p>
        </p:txBody>
      </p:sp>
      <p:sp>
        <p:nvSpPr>
          <p:cNvPr id="5" name="Shape 3"/>
          <p:cNvSpPr/>
          <p:nvPr/>
        </p:nvSpPr>
        <p:spPr>
          <a:xfrm>
            <a:off x="1047750" y="2590800"/>
            <a:ext cx="16192500" cy="1722983"/>
          </a:xfrm>
          <a:prstGeom prst="roundRect">
            <a:avLst>
              <a:gd name="adj" fmla="val 7739"/>
            </a:avLst>
          </a:prstGeom>
          <a:solidFill>
            <a:srgbClr val="0B1322"/>
          </a:solidFill>
          <a:ln w="9525">
            <a:solidFill>
              <a:srgbClr val="1F8B7A"/>
            </a:solidFill>
            <a:prstDash val="solid"/>
          </a:ln>
        </p:spPr>
        <p:txBody>
          <a:bodyPr/>
          <a:lstStyle/>
          <a:p>
            <a:endParaRPr lang="ko-KR" altLang="en-US"/>
          </a:p>
        </p:txBody>
      </p:sp>
      <p:sp>
        <p:nvSpPr>
          <p:cNvPr id="6" name="Text 4"/>
          <p:cNvSpPr/>
          <p:nvPr/>
        </p:nvSpPr>
        <p:spPr>
          <a:xfrm>
            <a:off x="1381125" y="2847975"/>
            <a:ext cx="15991523"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52" dirty="0">
                <a:solidFill>
                  <a:srgbClr val="6FE3D2"/>
                </a:solidFill>
                <a:latin typeface="Courier New" pitchFamily="34" charset="0"/>
                <a:ea typeface="Courier New" pitchFamily="34" charset="-122"/>
                <a:cs typeface="Courier New" pitchFamily="34" charset="-120"/>
              </a:rPr>
              <a:t>FOCUS SCORE</a:t>
            </a:r>
            <a:endParaRPr lang="en-US" sz="1800" dirty="0"/>
          </a:p>
        </p:txBody>
      </p:sp>
      <p:sp>
        <p:nvSpPr>
          <p:cNvPr id="7" name="Text 5"/>
          <p:cNvSpPr/>
          <p:nvPr/>
        </p:nvSpPr>
        <p:spPr>
          <a:xfrm>
            <a:off x="1324927" y="3506912"/>
            <a:ext cx="15991523" cy="446633"/>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endParaRPr lang="en-US" sz="2475" b="1" dirty="0">
              <a:solidFill>
                <a:schemeClr val="bg1"/>
              </a:solidFill>
            </a:endParaRPr>
          </a:p>
        </p:txBody>
      </p:sp>
      <p:sp>
        <p:nvSpPr>
          <p:cNvPr id="9" name="Text 7"/>
          <p:cNvSpPr/>
          <p:nvPr/>
        </p:nvSpPr>
        <p:spPr>
          <a:xfrm>
            <a:off x="1047750" y="4561433"/>
            <a:ext cx="10752582" cy="295275"/>
          </a:xfrm>
          <a:prstGeom prst="rect">
            <a:avLst/>
          </a:prstGeom>
          <a:noFill/>
          <a:ln/>
        </p:spPr>
        <p:txBody>
          <a:bodyPr wrap="square" lIns="25400" tIns="25400" rIns="25400" bIns="25400" rtlCol="0" anchor="t">
            <a:normAutofit fontScale="92500" lnSpcReduction="10000"/>
          </a:bodyPr>
          <a:lstStyle/>
          <a:p>
            <a:pPr marL="0" indent="0" algn="l">
              <a:buNone/>
            </a:pPr>
            <a:r>
              <a:rPr lang="ko-KR" altLang="en-US" sz="1800" b="1" kern="0" spc="288" dirty="0">
                <a:solidFill>
                  <a:schemeClr val="bg1"/>
                </a:solidFill>
                <a:latin typeface="Courier New" pitchFamily="34" charset="0"/>
                <a:ea typeface="Courier New" pitchFamily="34" charset="-122"/>
                <a:cs typeface="Courier New" pitchFamily="34" charset="-120"/>
              </a:rPr>
              <a:t>알림 발생 원리</a:t>
            </a:r>
            <a:endParaRPr lang="en-US" sz="1800" b="1" dirty="0">
              <a:solidFill>
                <a:schemeClr val="bg1"/>
              </a:solidFill>
            </a:endParaRPr>
          </a:p>
        </p:txBody>
      </p:sp>
      <p:sp>
        <p:nvSpPr>
          <p:cNvPr id="10" name="Text 8"/>
          <p:cNvSpPr/>
          <p:nvPr/>
        </p:nvSpPr>
        <p:spPr>
          <a:xfrm>
            <a:off x="1047750" y="4971008"/>
            <a:ext cx="23053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dirty="0">
                <a:solidFill>
                  <a:srgbClr val="6FE3D2"/>
                </a:solidFill>
                <a:latin typeface="Courier New" pitchFamily="34" charset="0"/>
                <a:ea typeface="Courier New" pitchFamily="34" charset="-122"/>
                <a:cs typeface="Courier New" pitchFamily="34" charset="-120"/>
              </a:rPr>
              <a:t>›</a:t>
            </a:r>
            <a:endParaRPr lang="en-US" sz="2025" dirty="0"/>
          </a:p>
        </p:txBody>
      </p:sp>
      <p:sp>
        <p:nvSpPr>
          <p:cNvPr id="11" name="Text 9"/>
          <p:cNvSpPr/>
          <p:nvPr/>
        </p:nvSpPr>
        <p:spPr>
          <a:xfrm>
            <a:off x="1373535" y="4971008"/>
            <a:ext cx="2493169" cy="42475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75" dirty="0">
                <a:solidFill>
                  <a:srgbClr val="D7DFEE"/>
                </a:solidFill>
                <a:latin typeface="Helvetica" pitchFamily="34" charset="0"/>
                <a:ea typeface="Helvetica" pitchFamily="34" charset="-122"/>
                <a:cs typeface="Helvetica" pitchFamily="34" charset="-120"/>
              </a:rPr>
              <a:t>1초 </a:t>
            </a:r>
            <a:r>
              <a:rPr lang="en-US" sz="2175" dirty="0" err="1">
                <a:solidFill>
                  <a:srgbClr val="D7DFEE"/>
                </a:solidFill>
                <a:latin typeface="Helvetica" pitchFamily="34" charset="0"/>
                <a:ea typeface="Helvetica" pitchFamily="34" charset="-122"/>
                <a:cs typeface="Helvetica" pitchFamily="34" charset="-120"/>
              </a:rPr>
              <a:t>주기로</a:t>
            </a:r>
            <a:r>
              <a:rPr lang="en-US" sz="2175" dirty="0">
                <a:solidFill>
                  <a:srgbClr val="D7DFEE"/>
                </a:solidFill>
                <a:latin typeface="Helvetica" pitchFamily="34" charset="0"/>
                <a:ea typeface="Helvetica" pitchFamily="34" charset="-122"/>
                <a:cs typeface="Helvetica" pitchFamily="34" charset="-120"/>
              </a:rPr>
              <a:t> </a:t>
            </a:r>
            <a:r>
              <a:rPr lang="en-US" sz="2175" dirty="0" err="1">
                <a:solidFill>
                  <a:srgbClr val="D7DFEE"/>
                </a:solidFill>
                <a:latin typeface="Helvetica" pitchFamily="34" charset="0"/>
                <a:ea typeface="Helvetica" pitchFamily="34" charset="-122"/>
                <a:cs typeface="Helvetica" pitchFamily="34" charset="-120"/>
              </a:rPr>
              <a:t>점수</a:t>
            </a:r>
            <a:r>
              <a:rPr lang="en-US" sz="2175" dirty="0">
                <a:solidFill>
                  <a:srgbClr val="D7DFEE"/>
                </a:solidFill>
                <a:latin typeface="Helvetica" pitchFamily="34" charset="0"/>
                <a:ea typeface="Helvetica" pitchFamily="34" charset="-122"/>
                <a:cs typeface="Helvetica" pitchFamily="34" charset="-120"/>
              </a:rPr>
              <a:t> </a:t>
            </a:r>
            <a:r>
              <a:rPr lang="ko-KR" altLang="en-US" sz="2175" dirty="0">
                <a:solidFill>
                  <a:srgbClr val="D7DFEE"/>
                </a:solidFill>
                <a:latin typeface="Helvetica" pitchFamily="34" charset="0"/>
                <a:ea typeface="Helvetica" pitchFamily="34" charset="-122"/>
                <a:cs typeface="Helvetica" pitchFamily="34" charset="-120"/>
              </a:rPr>
              <a:t>확인</a:t>
            </a:r>
            <a:endParaRPr lang="en-US" sz="2175" dirty="0"/>
          </a:p>
        </p:txBody>
      </p:sp>
      <p:sp>
        <p:nvSpPr>
          <p:cNvPr id="12" name="Text 10"/>
          <p:cNvSpPr/>
          <p:nvPr/>
        </p:nvSpPr>
        <p:spPr>
          <a:xfrm>
            <a:off x="1047750" y="5510064"/>
            <a:ext cx="23053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dirty="0">
                <a:solidFill>
                  <a:srgbClr val="6FE3D2"/>
                </a:solidFill>
                <a:latin typeface="Courier New" pitchFamily="34" charset="0"/>
                <a:ea typeface="Courier New" pitchFamily="34" charset="-122"/>
                <a:cs typeface="Courier New" pitchFamily="34" charset="-120"/>
              </a:rPr>
              <a:t>›</a:t>
            </a:r>
            <a:endParaRPr lang="en-US" sz="2025" dirty="0"/>
          </a:p>
        </p:txBody>
      </p:sp>
      <p:sp>
        <p:nvSpPr>
          <p:cNvPr id="13" name="Text 11"/>
          <p:cNvSpPr/>
          <p:nvPr/>
        </p:nvSpPr>
        <p:spPr>
          <a:xfrm>
            <a:off x="1373535" y="5510064"/>
            <a:ext cx="3769781" cy="42475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75" dirty="0">
                <a:solidFill>
                  <a:srgbClr val="D7DFEE"/>
                </a:solidFill>
                <a:latin typeface="Helvetica" pitchFamily="34" charset="0"/>
                <a:ea typeface="Helvetica" pitchFamily="34" charset="-122"/>
                <a:cs typeface="Helvetica" pitchFamily="34" charset="-120"/>
              </a:rPr>
              <a:t>임계 이하 → </a:t>
            </a:r>
            <a:r>
              <a:rPr lang="en-US" sz="2175" dirty="0" err="1">
                <a:solidFill>
                  <a:srgbClr val="D7DFEE"/>
                </a:solidFill>
                <a:latin typeface="Helvetica" pitchFamily="34" charset="0"/>
                <a:ea typeface="Helvetica" pitchFamily="34" charset="-122"/>
                <a:cs typeface="Helvetica" pitchFamily="34" charset="-120"/>
              </a:rPr>
              <a:t>알림</a:t>
            </a:r>
            <a:endParaRPr lang="en-US" sz="2175" dirty="0"/>
          </a:p>
        </p:txBody>
      </p:sp>
      <p:sp>
        <p:nvSpPr>
          <p:cNvPr id="14" name="Text 12"/>
          <p:cNvSpPr/>
          <p:nvPr/>
        </p:nvSpPr>
        <p:spPr>
          <a:xfrm>
            <a:off x="1047750" y="6049119"/>
            <a:ext cx="23053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dirty="0">
                <a:solidFill>
                  <a:srgbClr val="FF8A8E"/>
                </a:solidFill>
                <a:latin typeface="Courier New" pitchFamily="34" charset="0"/>
                <a:ea typeface="Courier New" pitchFamily="34" charset="-122"/>
                <a:cs typeface="Courier New" pitchFamily="34" charset="-120"/>
              </a:rPr>
              <a:t>›</a:t>
            </a:r>
            <a:endParaRPr lang="en-US" sz="2025" dirty="0"/>
          </a:p>
        </p:txBody>
      </p:sp>
      <p:sp>
        <p:nvSpPr>
          <p:cNvPr id="15" name="Text 13"/>
          <p:cNvSpPr/>
          <p:nvPr/>
        </p:nvSpPr>
        <p:spPr>
          <a:xfrm>
            <a:off x="1373534" y="6049119"/>
            <a:ext cx="10113615" cy="42475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75" dirty="0">
                <a:solidFill>
                  <a:srgbClr val="D7DFEE"/>
                </a:solidFill>
                <a:latin typeface="Helvetica" pitchFamily="34" charset="0"/>
                <a:ea typeface="Helvetica" pitchFamily="34" charset="-122"/>
                <a:cs typeface="Helvetica" pitchFamily="34" charset="-120"/>
              </a:rPr>
              <a:t>닫은 뒤 </a:t>
            </a:r>
            <a:r>
              <a:rPr lang="en-US" sz="2175" b="1" dirty="0">
                <a:solidFill>
                  <a:srgbClr val="FFFFFF"/>
                </a:solidFill>
                <a:latin typeface="Helvetica" pitchFamily="34" charset="0"/>
                <a:ea typeface="Helvetica" pitchFamily="34" charset="-122"/>
                <a:cs typeface="Helvetica" pitchFamily="34" charset="-120"/>
              </a:rPr>
              <a:t>기준 +4점 </a:t>
            </a:r>
            <a:r>
              <a:rPr lang="en-US" sz="2175" dirty="0">
                <a:solidFill>
                  <a:srgbClr val="D7DFEE"/>
                </a:solidFill>
                <a:latin typeface="Helvetica" pitchFamily="34" charset="0"/>
                <a:ea typeface="Helvetica" pitchFamily="34" charset="-122"/>
                <a:cs typeface="Helvetica" pitchFamily="34" charset="-120"/>
              </a:rPr>
              <a:t>회복 후 재하락 시에만 </a:t>
            </a:r>
            <a:r>
              <a:rPr lang="en-US" sz="2175" dirty="0" err="1">
                <a:solidFill>
                  <a:srgbClr val="D7DFEE"/>
                </a:solidFill>
                <a:latin typeface="Helvetica" pitchFamily="34" charset="0"/>
                <a:ea typeface="Helvetica" pitchFamily="34" charset="-122"/>
                <a:cs typeface="Helvetica" pitchFamily="34" charset="-120"/>
              </a:rPr>
              <a:t>재알림</a:t>
            </a:r>
            <a:r>
              <a:rPr lang="en-US" sz="2175" dirty="0">
                <a:solidFill>
                  <a:srgbClr val="D7DFEE"/>
                </a:solidFill>
                <a:latin typeface="Helvetica" pitchFamily="34" charset="0"/>
                <a:ea typeface="Helvetica" pitchFamily="34" charset="-122"/>
                <a:cs typeface="Helvetica" pitchFamily="34" charset="-120"/>
              </a:rPr>
              <a:t> </a:t>
            </a:r>
            <a:r>
              <a:rPr lang="en-US" sz="2175" dirty="0">
                <a:solidFill>
                  <a:schemeClr val="bg1"/>
                </a:solidFill>
                <a:latin typeface="Helvetica" pitchFamily="34" charset="0"/>
                <a:ea typeface="Helvetica" pitchFamily="34" charset="-122"/>
                <a:cs typeface="Helvetica" pitchFamily="34" charset="-120"/>
              </a:rPr>
              <a:t>(</a:t>
            </a:r>
            <a:r>
              <a:rPr lang="ko-KR" altLang="en-US" sz="2175" dirty="0">
                <a:solidFill>
                  <a:schemeClr val="bg1"/>
                </a:solidFill>
                <a:latin typeface="Helvetica" pitchFamily="34" charset="0"/>
                <a:ea typeface="Helvetica" pitchFamily="34" charset="-122"/>
                <a:cs typeface="Helvetica" pitchFamily="34" charset="-120"/>
              </a:rPr>
              <a:t>연속적인 알림으로 발생하는 오류 방지</a:t>
            </a:r>
            <a:r>
              <a:rPr lang="en-US" altLang="ko-KR" sz="2175" dirty="0">
                <a:solidFill>
                  <a:srgbClr val="8F9EBB"/>
                </a:solidFill>
                <a:latin typeface="Helvetica" pitchFamily="34" charset="0"/>
                <a:ea typeface="Helvetica" pitchFamily="34" charset="-122"/>
                <a:cs typeface="Helvetica" pitchFamily="34" charset="-120"/>
              </a:rPr>
              <a:t>)</a:t>
            </a:r>
            <a:endParaRPr lang="en-US" sz="2175" dirty="0"/>
          </a:p>
        </p:txBody>
      </p:sp>
      <p:sp>
        <p:nvSpPr>
          <p:cNvPr id="16" name="Shape 14"/>
          <p:cNvSpPr/>
          <p:nvPr/>
        </p:nvSpPr>
        <p:spPr>
          <a:xfrm>
            <a:off x="1047750" y="6645325"/>
            <a:ext cx="10439400" cy="3247612"/>
          </a:xfrm>
          <a:prstGeom prst="roundRect">
            <a:avLst>
              <a:gd name="adj" fmla="val 5556"/>
            </a:avLst>
          </a:prstGeom>
          <a:solidFill>
            <a:srgbClr val="0E1626"/>
          </a:solidFill>
          <a:ln w="9525">
            <a:solidFill>
              <a:srgbClr val="213049"/>
            </a:solidFill>
            <a:prstDash val="solid"/>
          </a:ln>
        </p:spPr>
        <p:txBody>
          <a:bodyPr/>
          <a:lstStyle/>
          <a:p>
            <a:endParaRPr lang="ko-KR" altLang="en-US"/>
          </a:p>
        </p:txBody>
      </p:sp>
      <p:pic>
        <p:nvPicPr>
          <p:cNvPr id="17" name="Image 0" descr="preencoded.png"/>
          <p:cNvPicPr>
            <a:picLocks noChangeAspect="1"/>
          </p:cNvPicPr>
          <p:nvPr/>
        </p:nvPicPr>
        <p:blipFill>
          <a:blip r:embed="rId5"/>
          <a:stretch>
            <a:fillRect/>
          </a:stretch>
        </p:blipFill>
        <p:spPr>
          <a:xfrm>
            <a:off x="1209675" y="6668322"/>
            <a:ext cx="1498691" cy="3224615"/>
          </a:xfrm>
          <a:prstGeom prst="rect">
            <a:avLst/>
          </a:prstGeom>
        </p:spPr>
      </p:pic>
      <p:sp>
        <p:nvSpPr>
          <p:cNvPr id="18" name="Text 15"/>
          <p:cNvSpPr/>
          <p:nvPr/>
        </p:nvSpPr>
        <p:spPr>
          <a:xfrm>
            <a:off x="3316438" y="6858658"/>
            <a:ext cx="8179744" cy="2511765"/>
          </a:xfrm>
          <a:prstGeom prst="rect">
            <a:avLst/>
          </a:prstGeom>
          <a:noFill/>
          <a:ln/>
        </p:spPr>
        <p:txBody>
          <a:bodyPr wrap="square" lIns="25400" tIns="25400" rIns="25400" bIns="25400" rtlCol="0" anchor="t">
            <a:normAutofit/>
          </a:bodyPr>
          <a:lstStyle/>
          <a:p>
            <a:pPr marL="0" indent="0" algn="l">
              <a:lnSpc>
                <a:spcPct val="145000"/>
              </a:lnSpc>
              <a:buNone/>
            </a:pPr>
            <a:r>
              <a:rPr lang="ko-KR" altLang="en-US" sz="1875" b="1" dirty="0">
                <a:solidFill>
                  <a:schemeClr val="bg1"/>
                </a:solidFill>
              </a:rPr>
              <a:t>모드에 따라 설정된 값 이하로 </a:t>
            </a:r>
            <a:r>
              <a:rPr lang="en-US" altLang="ko-KR" sz="1875" b="1" dirty="0">
                <a:solidFill>
                  <a:schemeClr val="bg1"/>
                </a:solidFill>
              </a:rPr>
              <a:t>FOCUS SCORE</a:t>
            </a:r>
            <a:r>
              <a:rPr lang="ko-KR" altLang="en-US" sz="1875" b="1" dirty="0">
                <a:solidFill>
                  <a:schemeClr val="bg1"/>
                </a:solidFill>
              </a:rPr>
              <a:t>가 측정이 되면 알림 발생</a:t>
            </a:r>
            <a:endParaRPr lang="en-US" altLang="ko-KR" sz="1875" b="1" dirty="0">
              <a:solidFill>
                <a:schemeClr val="bg1"/>
              </a:solidFill>
            </a:endParaRPr>
          </a:p>
          <a:p>
            <a:pPr marL="0" indent="0" algn="l">
              <a:lnSpc>
                <a:spcPct val="145000"/>
              </a:lnSpc>
              <a:buNone/>
            </a:pPr>
            <a:endParaRPr lang="en-US" sz="1875" b="1" dirty="0">
              <a:solidFill>
                <a:schemeClr val="bg1"/>
              </a:solidFill>
            </a:endParaRPr>
          </a:p>
          <a:p>
            <a:pPr marL="0" indent="0" algn="l">
              <a:lnSpc>
                <a:spcPct val="145000"/>
              </a:lnSpc>
              <a:buNone/>
            </a:pPr>
            <a:r>
              <a:rPr lang="ko-KR" altLang="en-US" sz="1875" b="1" dirty="0">
                <a:solidFill>
                  <a:schemeClr val="bg1"/>
                </a:solidFill>
              </a:rPr>
              <a:t>시연 영상 </a:t>
            </a:r>
            <a:r>
              <a:rPr lang="en-US" altLang="ko-KR" sz="1875" b="1" dirty="0">
                <a:solidFill>
                  <a:schemeClr val="bg1"/>
                </a:solidFill>
              </a:rPr>
              <a:t>: </a:t>
            </a:r>
            <a:r>
              <a:rPr lang="ko-KR" altLang="en-US" sz="1875" b="1" dirty="0">
                <a:solidFill>
                  <a:schemeClr val="bg1"/>
                </a:solidFill>
              </a:rPr>
              <a:t>유튜브가 재생되고 있는 </a:t>
            </a:r>
            <a:r>
              <a:rPr lang="en-US" altLang="ko-KR" sz="1875" b="1" dirty="0">
                <a:solidFill>
                  <a:schemeClr val="bg1"/>
                </a:solidFill>
              </a:rPr>
              <a:t>PC</a:t>
            </a:r>
            <a:r>
              <a:rPr lang="ko-KR" altLang="en-US" sz="1875" b="1" dirty="0">
                <a:solidFill>
                  <a:schemeClr val="bg1"/>
                </a:solidFill>
              </a:rPr>
              <a:t>에 스마트폰을 가까이 하면 </a:t>
            </a:r>
            <a:endParaRPr lang="en-US" altLang="ko-KR" sz="1875" b="1" dirty="0">
              <a:solidFill>
                <a:schemeClr val="bg1"/>
              </a:solidFill>
            </a:endParaRPr>
          </a:p>
          <a:p>
            <a:pPr marL="0" indent="0" algn="l">
              <a:lnSpc>
                <a:spcPct val="145000"/>
              </a:lnSpc>
              <a:buNone/>
            </a:pPr>
            <a:r>
              <a:rPr lang="en-US" sz="1875" b="1" dirty="0">
                <a:solidFill>
                  <a:schemeClr val="bg1"/>
                </a:solidFill>
              </a:rPr>
              <a:t>FOCUS SCORE</a:t>
            </a:r>
            <a:r>
              <a:rPr lang="ko-KR" altLang="en-US" sz="1875" b="1" dirty="0">
                <a:solidFill>
                  <a:schemeClr val="bg1"/>
                </a:solidFill>
              </a:rPr>
              <a:t>가 하락하며 경고 알림이 발생</a:t>
            </a:r>
            <a:endParaRPr lang="en-US" sz="1875" b="1" dirty="0">
              <a:solidFill>
                <a:schemeClr val="bg1"/>
              </a:solidFill>
            </a:endParaRPr>
          </a:p>
        </p:txBody>
      </p:sp>
      <p:sp>
        <p:nvSpPr>
          <p:cNvPr id="19" name="Text 16"/>
          <p:cNvSpPr/>
          <p:nvPr/>
        </p:nvSpPr>
        <p:spPr>
          <a:xfrm>
            <a:off x="11906250" y="4561433"/>
            <a:ext cx="1640086" cy="323850"/>
          </a:xfrm>
          <a:prstGeom prst="rect">
            <a:avLst/>
          </a:prstGeom>
          <a:noFill/>
          <a:ln/>
        </p:spPr>
        <p:txBody>
          <a:bodyPr wrap="square" lIns="25400" tIns="25400" rIns="25400" bIns="25400" rtlCol="0" anchor="t">
            <a:normAutofit lnSpcReduction="10000"/>
          </a:bodyPr>
          <a:lstStyle/>
          <a:p>
            <a:pPr marL="0" indent="0" algn="l">
              <a:buNone/>
            </a:pPr>
            <a:r>
              <a:rPr lang="ko-KR" altLang="en-US" b="1" kern="0" spc="288" dirty="0">
                <a:solidFill>
                  <a:srgbClr val="FFFF00"/>
                </a:solidFill>
                <a:latin typeface="Courier New" pitchFamily="34" charset="0"/>
                <a:cs typeface="Courier New" pitchFamily="34" charset="-120"/>
              </a:rPr>
              <a:t>시연 영상</a:t>
            </a:r>
            <a:endParaRPr lang="en-US" sz="1800" b="1" dirty="0">
              <a:solidFill>
                <a:srgbClr val="FFFF00"/>
              </a:solidFill>
            </a:endParaRPr>
          </a:p>
        </p:txBody>
      </p:sp>
      <p:sp>
        <p:nvSpPr>
          <p:cNvPr id="21" name="Shape 18"/>
          <p:cNvSpPr/>
          <p:nvPr/>
        </p:nvSpPr>
        <p:spPr>
          <a:xfrm>
            <a:off x="11649074" y="4943549"/>
            <a:ext cx="5591175" cy="4949388"/>
          </a:xfrm>
          <a:prstGeom prst="roundRect">
            <a:avLst>
              <a:gd name="adj" fmla="val 3882"/>
            </a:avLst>
          </a:prstGeom>
          <a:solidFill>
            <a:srgbClr val="0E1626"/>
          </a:solidFill>
          <a:ln w="9525">
            <a:solidFill>
              <a:srgbClr val="213049"/>
            </a:solidFill>
            <a:prstDash val="solid"/>
          </a:ln>
        </p:spPr>
        <p:txBody>
          <a:bodyPr/>
          <a:lstStyle/>
          <a:p>
            <a:endParaRPr lang="ko-KR" altLang="en-US"/>
          </a:p>
        </p:txBody>
      </p:sp>
      <p:sp>
        <p:nvSpPr>
          <p:cNvPr id="22" name="Shape 19"/>
          <p:cNvSpPr/>
          <p:nvPr/>
        </p:nvSpPr>
        <p:spPr>
          <a:xfrm>
            <a:off x="12691170" y="5114479"/>
            <a:ext cx="3764161" cy="3619351"/>
          </a:xfrm>
          <a:prstGeom prst="roundRect">
            <a:avLst>
              <a:gd name="adj" fmla="val 2632"/>
            </a:avLst>
          </a:prstGeom>
          <a:solidFill>
            <a:srgbClr val="000000"/>
          </a:solidFill>
          <a:ln/>
        </p:spPr>
        <p:txBody>
          <a:bodyPr/>
          <a:lstStyle/>
          <a:p>
            <a:endParaRPr lang="ko-KR" altLang="en-US"/>
          </a:p>
        </p:txBody>
      </p:sp>
      <p:pic>
        <p:nvPicPr>
          <p:cNvPr id="900" name="Score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1954858" y="5043240"/>
            <a:ext cx="5008215" cy="4813967"/>
          </a:xfrm>
          <a:prstGeom prst="rect">
            <a:avLst/>
          </a:prstGeom>
        </p:spPr>
      </p:pic>
      <p:sp>
        <p:nvSpPr>
          <p:cNvPr id="27" name="Text 5">
            <a:extLst>
              <a:ext uri="{FF2B5EF4-FFF2-40B4-BE49-F238E27FC236}">
                <a16:creationId xmlns:a16="http://schemas.microsoft.com/office/drawing/2014/main" id="{F235F83A-4EA8-C86A-28B4-A1170030C73F}"/>
              </a:ext>
            </a:extLst>
          </p:cNvPr>
          <p:cNvSpPr/>
          <p:nvPr/>
        </p:nvSpPr>
        <p:spPr>
          <a:xfrm>
            <a:off x="1381125" y="3317967"/>
            <a:ext cx="15581948" cy="1017694"/>
          </a:xfrm>
          <a:prstGeom prst="rect">
            <a:avLst/>
          </a:prstGeom>
          <a:noFill/>
          <a:ln/>
        </p:spPr>
        <p:txBody>
          <a:bodyPr wrap="square" lIns="25400" tIns="25400" rIns="25400" bIns="25400" rtlCol="0" anchor="t">
            <a:normAutofit/>
          </a:bodyPr>
          <a:lstStyle/>
          <a:p>
            <a:pPr marL="0" indent="0" algn="l">
              <a:buNone/>
            </a:pPr>
            <a:r>
              <a:rPr lang="ko-KR" altLang="en-US" sz="2250" b="1" dirty="0">
                <a:solidFill>
                  <a:schemeClr val="bg1"/>
                </a:solidFill>
                <a:latin typeface="Helvetica" pitchFamily="34" charset="0"/>
                <a:cs typeface="Helvetica" pitchFamily="34" charset="-120"/>
              </a:rPr>
              <a:t>최초 앱 설치 시에 측정되는 값을 기준으로 보정 </a:t>
            </a:r>
            <a:r>
              <a:rPr lang="en-US" altLang="ko-KR" sz="2250" b="1" dirty="0">
                <a:solidFill>
                  <a:schemeClr val="bg1"/>
                </a:solidFill>
                <a:latin typeface="Helvetica" pitchFamily="34" charset="0"/>
                <a:cs typeface="Helvetica" pitchFamily="34" charset="-120"/>
              </a:rPr>
              <a:t>&gt; </a:t>
            </a:r>
            <a:r>
              <a:rPr lang="ko-KR" altLang="en-US" sz="2250" b="1" dirty="0">
                <a:solidFill>
                  <a:schemeClr val="bg1"/>
                </a:solidFill>
                <a:latin typeface="Helvetica" pitchFamily="34" charset="0"/>
                <a:cs typeface="Helvetica" pitchFamily="34" charset="-120"/>
              </a:rPr>
              <a:t>이후에 계속 수집되는 값을 통하여 기준 값 재 보정</a:t>
            </a:r>
            <a:endParaRPr lang="en-US" altLang="ko-KR" sz="2250" b="1" dirty="0">
              <a:solidFill>
                <a:schemeClr val="bg1"/>
              </a:solidFill>
              <a:latin typeface="Helvetica" pitchFamily="34" charset="0"/>
              <a:cs typeface="Helvetica" pitchFamily="34" charset="-120"/>
            </a:endParaRPr>
          </a:p>
          <a:p>
            <a:pPr marL="0" indent="0" algn="l">
              <a:buNone/>
            </a:pPr>
            <a:r>
              <a:rPr lang="ko-KR" altLang="en-US" sz="2250" b="1" dirty="0">
                <a:solidFill>
                  <a:schemeClr val="bg1"/>
                </a:solidFill>
                <a:latin typeface="Helvetica" pitchFamily="34" charset="0"/>
                <a:cs typeface="Helvetica" pitchFamily="34" charset="-120"/>
              </a:rPr>
              <a:t> </a:t>
            </a:r>
            <a:r>
              <a:rPr lang="en-US" altLang="ko-KR" sz="2250" b="1" dirty="0">
                <a:solidFill>
                  <a:schemeClr val="bg1"/>
                </a:solidFill>
                <a:latin typeface="Helvetica" pitchFamily="34" charset="0"/>
                <a:cs typeface="Helvetica" pitchFamily="34" charset="-120"/>
              </a:rPr>
              <a:t>&gt; </a:t>
            </a:r>
            <a:r>
              <a:rPr lang="ko-KR" altLang="en-US" sz="2250" b="1" dirty="0">
                <a:solidFill>
                  <a:schemeClr val="bg1"/>
                </a:solidFill>
                <a:latin typeface="Helvetica" pitchFamily="34" charset="0"/>
                <a:cs typeface="Helvetica" pitchFamily="34" charset="-120"/>
              </a:rPr>
              <a:t>기준 값이</a:t>
            </a:r>
            <a:r>
              <a:rPr lang="en-US" altLang="ko-KR" sz="2250" b="1" dirty="0">
                <a:solidFill>
                  <a:schemeClr val="bg1"/>
                </a:solidFill>
                <a:latin typeface="Helvetica" pitchFamily="34" charset="0"/>
                <a:cs typeface="Helvetica" pitchFamily="34" charset="-120"/>
              </a:rPr>
              <a:t> Focus score</a:t>
            </a:r>
            <a:r>
              <a:rPr lang="ko-KR" altLang="en-US" sz="2250" b="1" dirty="0">
                <a:solidFill>
                  <a:schemeClr val="bg1"/>
                </a:solidFill>
                <a:latin typeface="Helvetica" pitchFamily="34" charset="0"/>
                <a:cs typeface="Helvetica" pitchFamily="34" charset="-120"/>
              </a:rPr>
              <a:t>의 </a:t>
            </a:r>
            <a:r>
              <a:rPr lang="en-US" altLang="ko-KR" sz="2250" b="1" dirty="0">
                <a:solidFill>
                  <a:schemeClr val="bg1"/>
                </a:solidFill>
                <a:latin typeface="Helvetica" pitchFamily="34" charset="0"/>
                <a:cs typeface="Helvetica" pitchFamily="34" charset="-120"/>
              </a:rPr>
              <a:t>70</a:t>
            </a:r>
            <a:r>
              <a:rPr lang="ko-KR" altLang="en-US" sz="2250" b="1" dirty="0">
                <a:solidFill>
                  <a:schemeClr val="bg1"/>
                </a:solidFill>
                <a:latin typeface="Helvetica" pitchFamily="34" charset="0"/>
                <a:cs typeface="Helvetica" pitchFamily="34" charset="-120"/>
              </a:rPr>
              <a:t>점</a:t>
            </a:r>
            <a:endParaRPr lang="en-US" sz="2250" b="1" dirty="0">
              <a:solidFill>
                <a:schemeClr val="bg1"/>
              </a:solidFill>
            </a:endParaRPr>
          </a:p>
        </p:txBody>
      </p:sp>
      <p:sp>
        <p:nvSpPr>
          <p:cNvPr id="33" name="Text 0">
            <a:extLst>
              <a:ext uri="{FF2B5EF4-FFF2-40B4-BE49-F238E27FC236}">
                <a16:creationId xmlns:a16="http://schemas.microsoft.com/office/drawing/2014/main" id="{30BF9D50-4D97-3162-D858-17C8B9B3D2E0}"/>
              </a:ext>
            </a:extLst>
          </p:cNvPr>
          <p:cNvSpPr/>
          <p:nvPr/>
        </p:nvSpPr>
        <p:spPr>
          <a:xfrm>
            <a:off x="1047750" y="771525"/>
            <a:ext cx="47252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kern="0" spc="390" dirty="0">
                <a:solidFill>
                  <a:schemeClr val="bg1"/>
                </a:solidFill>
                <a:latin typeface="Courier New" pitchFamily="34" charset="0"/>
                <a:ea typeface="Courier New" pitchFamily="34" charset="-122"/>
                <a:cs typeface="Courier New" pitchFamily="34" charset="-120"/>
              </a:rPr>
              <a:t>07</a:t>
            </a:r>
            <a:endParaRPr lang="en-US" sz="1950" dirty="0">
              <a:solidFill>
                <a:schemeClr val="bg1"/>
              </a:solidFill>
            </a:endParaRPr>
          </a:p>
        </p:txBody>
      </p:sp>
      <p:sp>
        <p:nvSpPr>
          <p:cNvPr id="35" name="Text 1">
            <a:extLst>
              <a:ext uri="{FF2B5EF4-FFF2-40B4-BE49-F238E27FC236}">
                <a16:creationId xmlns:a16="http://schemas.microsoft.com/office/drawing/2014/main" id="{E5D23A1D-3F28-8F3C-AB6F-C6D9ADD0A07E}"/>
              </a:ext>
            </a:extLst>
          </p:cNvPr>
          <p:cNvSpPr/>
          <p:nvPr/>
        </p:nvSpPr>
        <p:spPr>
          <a:xfrm>
            <a:off x="1596479" y="762000"/>
            <a:ext cx="4388011" cy="342900"/>
          </a:xfrm>
          <a:prstGeom prst="rect">
            <a:avLst/>
          </a:prstGeom>
          <a:noFill/>
          <a:ln/>
        </p:spPr>
        <p:txBody>
          <a:bodyPr wrap="square" lIns="25400" tIns="25400" rIns="25400" bIns="25400" rtlCol="0" anchor="t">
            <a:normAutofit lnSpcReduction="10000"/>
          </a:bodyPr>
          <a:lstStyle/>
          <a:p>
            <a:pPr marL="0" indent="0" algn="l">
              <a:buNone/>
            </a:pPr>
            <a:r>
              <a:rPr lang="ko-KR" altLang="en-US" sz="1950" kern="0" spc="390" dirty="0">
                <a:solidFill>
                  <a:srgbClr val="6FE3D2"/>
                </a:solidFill>
                <a:latin typeface="Courier New" pitchFamily="34" charset="0"/>
                <a:ea typeface="Courier New" pitchFamily="34" charset="-122"/>
                <a:cs typeface="Courier New" pitchFamily="34" charset="-120"/>
              </a:rPr>
              <a:t>원리 </a:t>
            </a:r>
            <a:r>
              <a:rPr lang="en-US" altLang="ko-KR" sz="1950" kern="0" spc="390" dirty="0">
                <a:solidFill>
                  <a:srgbClr val="6FE3D2"/>
                </a:solidFill>
                <a:latin typeface="Courier New" pitchFamily="34" charset="0"/>
                <a:ea typeface="Courier New" pitchFamily="34" charset="-122"/>
                <a:cs typeface="Courier New" pitchFamily="34" charset="-120"/>
              </a:rPr>
              <a:t>2</a:t>
            </a:r>
            <a:r>
              <a:rPr lang="en-US" sz="1950" kern="0" spc="390" dirty="0">
                <a:solidFill>
                  <a:srgbClr val="6FE3D2"/>
                </a:solidFill>
                <a:latin typeface="Courier New" pitchFamily="34" charset="0"/>
                <a:ea typeface="Courier New" pitchFamily="34" charset="-122"/>
                <a:cs typeface="Courier New" pitchFamily="34" charset="-120"/>
              </a:rPr>
              <a:t> – </a:t>
            </a:r>
            <a:r>
              <a:rPr lang="ko-KR" altLang="en-US" sz="1950" kern="0" spc="390" dirty="0">
                <a:solidFill>
                  <a:srgbClr val="6FE3D2"/>
                </a:solidFill>
                <a:latin typeface="Courier New" pitchFamily="34" charset="0"/>
                <a:ea typeface="Courier New" pitchFamily="34" charset="-122"/>
                <a:cs typeface="Courier New" pitchFamily="34" charset="-120"/>
              </a:rPr>
              <a:t>점수</a:t>
            </a:r>
            <a:r>
              <a:rPr lang="en-US" altLang="ko-KR" sz="1950" kern="0" spc="390" dirty="0">
                <a:solidFill>
                  <a:srgbClr val="6FE3D2"/>
                </a:solidFill>
                <a:latin typeface="Courier New" pitchFamily="34" charset="0"/>
                <a:ea typeface="Courier New" pitchFamily="34" charset="-122"/>
                <a:cs typeface="Courier New" pitchFamily="34" charset="-120"/>
              </a:rPr>
              <a:t> </a:t>
            </a:r>
            <a:r>
              <a:rPr lang="ko-KR" altLang="en-US" sz="1950" kern="0" spc="390" dirty="0">
                <a:solidFill>
                  <a:srgbClr val="6FE3D2"/>
                </a:solidFill>
                <a:latin typeface="Courier New" pitchFamily="34" charset="0"/>
                <a:ea typeface="Courier New" pitchFamily="34" charset="-122"/>
                <a:cs typeface="Courier New" pitchFamily="34" charset="-120"/>
              </a:rPr>
              <a:t>기준</a:t>
            </a:r>
            <a:endParaRPr lang="en-US" sz="1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C16"/>
        </a:solidFill>
        <a:effectLst/>
      </p:bgPr>
    </p:bg>
    <p:spTree>
      <p:nvGrpSpPr>
        <p:cNvPr id="1" name=""/>
        <p:cNvGrpSpPr/>
        <p:nvPr/>
      </p:nvGrpSpPr>
      <p:grpSpPr>
        <a:xfrm>
          <a:off x="0" y="0"/>
          <a:ext cx="0" cy="0"/>
          <a:chOff x="0" y="0"/>
          <a:chExt cx="0" cy="0"/>
        </a:xfrm>
      </p:grpSpPr>
      <p:sp>
        <p:nvSpPr>
          <p:cNvPr id="4" name="Text 2"/>
          <p:cNvSpPr/>
          <p:nvPr/>
        </p:nvSpPr>
        <p:spPr>
          <a:xfrm>
            <a:off x="1047750" y="1390650"/>
            <a:ext cx="16678275" cy="952500"/>
          </a:xfrm>
          <a:prstGeom prst="rect">
            <a:avLst/>
          </a:prstGeom>
          <a:noFill/>
          <a:ln/>
        </p:spPr>
        <p:txBody>
          <a:bodyPr wrap="square" lIns="25400" tIns="25400" rIns="25400" bIns="25400" rtlCol="0" anchor="t">
            <a:normAutofit/>
          </a:bodyPr>
          <a:lstStyle/>
          <a:p>
            <a:pPr marL="0" indent="0" algn="l">
              <a:buNone/>
            </a:pPr>
            <a:r>
              <a:rPr lang="en-US" sz="4950" b="1" kern="0" spc="-49" dirty="0">
                <a:solidFill>
                  <a:srgbClr val="EAEFF7"/>
                </a:solidFill>
                <a:latin typeface="Helvetica" pitchFamily="34" charset="0"/>
                <a:ea typeface="Helvetica" pitchFamily="34" charset="-122"/>
                <a:cs typeface="Helvetica" pitchFamily="34" charset="-120"/>
              </a:rPr>
              <a:t>동작 원리 ③ — AR 오버레이와 구역 스캔</a:t>
            </a:r>
            <a:endParaRPr lang="en-US" sz="4950" dirty="0"/>
          </a:p>
        </p:txBody>
      </p:sp>
      <p:sp>
        <p:nvSpPr>
          <p:cNvPr id="5" name="Text 3"/>
          <p:cNvSpPr/>
          <p:nvPr/>
        </p:nvSpPr>
        <p:spPr>
          <a:xfrm>
            <a:off x="1047750" y="2518273"/>
            <a:ext cx="3400498"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chemeClr val="bg1"/>
                </a:solidFill>
                <a:latin typeface="Courier New" pitchFamily="34" charset="0"/>
                <a:ea typeface="Courier New" pitchFamily="34" charset="-122"/>
                <a:cs typeface="Courier New" pitchFamily="34" charset="-120"/>
              </a:rPr>
              <a:t>AR </a:t>
            </a:r>
            <a:r>
              <a:rPr lang="ko-KR" altLang="en-US" sz="1800" b="1" kern="0" spc="288" dirty="0">
                <a:solidFill>
                  <a:schemeClr val="bg1"/>
                </a:solidFill>
                <a:latin typeface="Courier New" pitchFamily="34" charset="0"/>
                <a:ea typeface="Courier New" pitchFamily="34" charset="-122"/>
                <a:cs typeface="Courier New" pitchFamily="34" charset="-120"/>
              </a:rPr>
              <a:t>기능</a:t>
            </a:r>
            <a:r>
              <a:rPr lang="en-US" altLang="ko-KR" sz="1800" b="1" kern="0" spc="288" dirty="0">
                <a:solidFill>
                  <a:schemeClr val="bg1"/>
                </a:solidFill>
                <a:latin typeface="Courier New" pitchFamily="34" charset="0"/>
                <a:ea typeface="Courier New" pitchFamily="34" charset="-122"/>
                <a:cs typeface="Courier New" pitchFamily="34" charset="-120"/>
              </a:rPr>
              <a:t>/</a:t>
            </a:r>
            <a:r>
              <a:rPr lang="ko-KR" altLang="en-US" sz="1800" b="1" kern="0" spc="288" dirty="0">
                <a:solidFill>
                  <a:srgbClr val="FFFF00"/>
                </a:solidFill>
                <a:latin typeface="Courier New" pitchFamily="34" charset="0"/>
                <a:ea typeface="Courier New" pitchFamily="34" charset="-122"/>
                <a:cs typeface="Courier New" pitchFamily="34" charset="-120"/>
              </a:rPr>
              <a:t>시연 영상</a:t>
            </a:r>
            <a:endParaRPr lang="en-US" sz="1800" b="1" dirty="0">
              <a:solidFill>
                <a:srgbClr val="FFFF00"/>
              </a:solidFill>
            </a:endParaRPr>
          </a:p>
        </p:txBody>
      </p:sp>
      <p:sp>
        <p:nvSpPr>
          <p:cNvPr id="7" name="Shape 5"/>
          <p:cNvSpPr/>
          <p:nvPr/>
        </p:nvSpPr>
        <p:spPr>
          <a:xfrm>
            <a:off x="893445" y="2893151"/>
            <a:ext cx="8642441" cy="6465352"/>
          </a:xfrm>
          <a:prstGeom prst="roundRect">
            <a:avLst>
              <a:gd name="adj" fmla="val 7767"/>
            </a:avLst>
          </a:prstGeom>
          <a:solidFill>
            <a:srgbClr val="0E1626"/>
          </a:solidFill>
          <a:ln w="9525">
            <a:solidFill>
              <a:srgbClr val="213049"/>
            </a:solidFill>
            <a:prstDash val="solid"/>
          </a:ln>
        </p:spPr>
        <p:txBody>
          <a:bodyPr/>
          <a:lstStyle/>
          <a:p>
            <a:endParaRPr lang="ko-KR" altLang="en-US"/>
          </a:p>
        </p:txBody>
      </p:sp>
      <p:sp>
        <p:nvSpPr>
          <p:cNvPr id="9" name="Text 7"/>
          <p:cNvSpPr/>
          <p:nvPr/>
        </p:nvSpPr>
        <p:spPr>
          <a:xfrm>
            <a:off x="4573318" y="4237459"/>
            <a:ext cx="4813569" cy="2987823"/>
          </a:xfrm>
          <a:prstGeom prst="rect">
            <a:avLst/>
          </a:prstGeom>
          <a:noFill/>
          <a:ln/>
        </p:spPr>
        <p:txBody>
          <a:bodyPr wrap="square" lIns="25400" tIns="25400" rIns="25400" bIns="25400" rtlCol="0" anchor="t">
            <a:normAutofit/>
          </a:bodyPr>
          <a:lstStyle/>
          <a:p>
            <a:pPr marL="0" indent="0" algn="l">
              <a:lnSpc>
                <a:spcPct val="145000"/>
              </a:lnSpc>
              <a:buNone/>
            </a:pPr>
            <a:r>
              <a:rPr lang="en-US" sz="2100" dirty="0" err="1">
                <a:solidFill>
                  <a:srgbClr val="D7DFEE"/>
                </a:solidFill>
                <a:latin typeface="Helvetica" pitchFamily="34" charset="0"/>
                <a:ea typeface="Helvetica" pitchFamily="34" charset="-122"/>
                <a:cs typeface="Helvetica" pitchFamily="34" charset="-120"/>
              </a:rPr>
              <a:t>마그네토미터</a:t>
            </a:r>
            <a:r>
              <a:rPr lang="ko-KR" altLang="en-US" sz="2100" dirty="0">
                <a:solidFill>
                  <a:srgbClr val="D7DFEE"/>
                </a:solidFill>
                <a:latin typeface="Helvetica" pitchFamily="34" charset="0"/>
                <a:ea typeface="Helvetica" pitchFamily="34" charset="-122"/>
                <a:cs typeface="Helvetica" pitchFamily="34" charset="-120"/>
              </a:rPr>
              <a:t>에 따른 </a:t>
            </a:r>
            <a:r>
              <a:rPr lang="en-US" sz="2100" dirty="0">
                <a:solidFill>
                  <a:srgbClr val="D7DFEE"/>
                </a:solidFill>
                <a:latin typeface="Helvetica" pitchFamily="34" charset="0"/>
                <a:ea typeface="Helvetica" pitchFamily="34" charset="-122"/>
                <a:cs typeface="Helvetica" pitchFamily="34" charset="-120"/>
              </a:rPr>
              <a:t> </a:t>
            </a:r>
          </a:p>
          <a:p>
            <a:pPr marL="0" indent="0" algn="l">
              <a:lnSpc>
                <a:spcPct val="145000"/>
              </a:lnSpc>
              <a:buNone/>
            </a:pPr>
            <a:r>
              <a:rPr lang="en-US" sz="2100" dirty="0" err="1">
                <a:solidFill>
                  <a:srgbClr val="D7DFEE"/>
                </a:solidFill>
                <a:latin typeface="Helvetica" pitchFamily="34" charset="0"/>
                <a:ea typeface="Helvetica" pitchFamily="34" charset="-122"/>
                <a:cs typeface="Helvetica" pitchFamily="34" charset="-120"/>
              </a:rPr>
              <a:t>dx·dy·dz</a:t>
            </a:r>
            <a:r>
              <a:rPr lang="en-US" sz="2100" dirty="0">
                <a:solidFill>
                  <a:srgbClr val="D7DFEE"/>
                </a:solidFill>
                <a:latin typeface="Helvetica" pitchFamily="34" charset="0"/>
                <a:ea typeface="Helvetica" pitchFamily="34" charset="-122"/>
                <a:cs typeface="Helvetica" pitchFamily="34" charset="-120"/>
              </a:rPr>
              <a:t> → 방향 </a:t>
            </a:r>
            <a:r>
              <a:rPr lang="en-US" sz="2100" dirty="0" err="1">
                <a:solidFill>
                  <a:srgbClr val="D7DFEE"/>
                </a:solidFill>
                <a:latin typeface="Helvetica" pitchFamily="34" charset="0"/>
                <a:ea typeface="Helvetica" pitchFamily="34" charset="-122"/>
                <a:cs typeface="Helvetica" pitchFamily="34" charset="-120"/>
              </a:rPr>
              <a:t>화살표·곡선</a:t>
            </a:r>
            <a:endParaRPr lang="en-US" sz="2100" dirty="0">
              <a:solidFill>
                <a:srgbClr val="D7DFEE"/>
              </a:solidFill>
              <a:latin typeface="Helvetica" pitchFamily="34" charset="0"/>
              <a:ea typeface="Helvetica" pitchFamily="34" charset="-122"/>
              <a:cs typeface="Helvetica" pitchFamily="34" charset="-120"/>
            </a:endParaRPr>
          </a:p>
          <a:p>
            <a:pPr marL="0" indent="0" algn="l">
              <a:lnSpc>
                <a:spcPct val="145000"/>
              </a:lnSpc>
              <a:buNone/>
            </a:pPr>
            <a:endParaRPr lang="en-US" sz="2100" dirty="0">
              <a:solidFill>
                <a:srgbClr val="D7DFEE"/>
              </a:solidFill>
              <a:latin typeface="Helvetica" pitchFamily="34" charset="0"/>
              <a:cs typeface="Helvetica" pitchFamily="34" charset="-120"/>
            </a:endParaRPr>
          </a:p>
          <a:p>
            <a:pPr marL="0" indent="0" algn="l">
              <a:lnSpc>
                <a:spcPct val="145000"/>
              </a:lnSpc>
              <a:buNone/>
            </a:pPr>
            <a:r>
              <a:rPr lang="ko-KR" altLang="en-US" sz="2100" dirty="0">
                <a:solidFill>
                  <a:srgbClr val="D7DFEE"/>
                </a:solidFill>
                <a:latin typeface="Helvetica" pitchFamily="34" charset="0"/>
                <a:cs typeface="Helvetica" pitchFamily="34" charset="-120"/>
              </a:rPr>
              <a:t>시연 영상 </a:t>
            </a:r>
            <a:r>
              <a:rPr lang="en-US" altLang="ko-KR" sz="2100" dirty="0">
                <a:solidFill>
                  <a:srgbClr val="D7DFEE"/>
                </a:solidFill>
                <a:latin typeface="Helvetica" pitchFamily="34" charset="0"/>
                <a:cs typeface="Helvetica" pitchFamily="34" charset="-120"/>
              </a:rPr>
              <a:t>: FOCUS SCORE</a:t>
            </a:r>
            <a:r>
              <a:rPr lang="ko-KR" altLang="en-US" sz="2100" dirty="0">
                <a:solidFill>
                  <a:srgbClr val="D7DFEE"/>
                </a:solidFill>
                <a:latin typeface="Helvetica" pitchFamily="34" charset="0"/>
                <a:cs typeface="Helvetica" pitchFamily="34" charset="-120"/>
              </a:rPr>
              <a:t>의</a:t>
            </a:r>
            <a:endParaRPr lang="en-US" altLang="ko-KR" sz="2100" dirty="0">
              <a:solidFill>
                <a:srgbClr val="D7DFEE"/>
              </a:solidFill>
              <a:latin typeface="Helvetica" pitchFamily="34" charset="0"/>
              <a:cs typeface="Helvetica" pitchFamily="34" charset="-120"/>
            </a:endParaRPr>
          </a:p>
          <a:p>
            <a:pPr marL="0" indent="0" algn="l">
              <a:lnSpc>
                <a:spcPct val="145000"/>
              </a:lnSpc>
              <a:buNone/>
            </a:pPr>
            <a:r>
              <a:rPr lang="ko-KR" altLang="en-US" sz="2100" dirty="0">
                <a:solidFill>
                  <a:srgbClr val="D7DFEE"/>
                </a:solidFill>
                <a:latin typeface="Helvetica" pitchFamily="34" charset="0"/>
                <a:cs typeface="Helvetica" pitchFamily="34" charset="-120"/>
              </a:rPr>
              <a:t>하락 순간에 위험도가 변화하는 것을 </a:t>
            </a:r>
            <a:r>
              <a:rPr lang="en-US" altLang="ko-KR" sz="2100" dirty="0">
                <a:solidFill>
                  <a:srgbClr val="D7DFEE"/>
                </a:solidFill>
                <a:latin typeface="Helvetica" pitchFamily="34" charset="0"/>
                <a:cs typeface="Helvetica" pitchFamily="34" charset="-120"/>
              </a:rPr>
              <a:t>AR</a:t>
            </a:r>
            <a:r>
              <a:rPr lang="ko-KR" altLang="en-US" sz="2100" dirty="0">
                <a:solidFill>
                  <a:srgbClr val="D7DFEE"/>
                </a:solidFill>
                <a:latin typeface="Helvetica" pitchFamily="34" charset="0"/>
                <a:cs typeface="Helvetica" pitchFamily="34" charset="-120"/>
              </a:rPr>
              <a:t>기능으로 확인할 수 있다</a:t>
            </a:r>
            <a:r>
              <a:rPr lang="en-US" altLang="ko-KR" sz="2100" dirty="0">
                <a:solidFill>
                  <a:srgbClr val="D7DFEE"/>
                </a:solidFill>
                <a:latin typeface="Helvetica" pitchFamily="34" charset="0"/>
                <a:cs typeface="Helvetica" pitchFamily="34" charset="-120"/>
              </a:rPr>
              <a:t>.</a:t>
            </a:r>
            <a:endParaRPr lang="en-US" sz="2100" dirty="0"/>
          </a:p>
        </p:txBody>
      </p:sp>
      <p:sp>
        <p:nvSpPr>
          <p:cNvPr id="11" name="Shape 9"/>
          <p:cNvSpPr/>
          <p:nvPr/>
        </p:nvSpPr>
        <p:spPr>
          <a:xfrm>
            <a:off x="4573318" y="7349107"/>
            <a:ext cx="4687933" cy="657225"/>
          </a:xfrm>
          <a:prstGeom prst="roundRect">
            <a:avLst>
              <a:gd name="adj" fmla="val 17391"/>
            </a:avLst>
          </a:prstGeom>
          <a:solidFill>
            <a:srgbClr val="10211C"/>
          </a:solidFill>
          <a:ln w="9525">
            <a:solidFill>
              <a:srgbClr val="1F8B7A"/>
            </a:solidFill>
            <a:prstDash val="solid"/>
          </a:ln>
        </p:spPr>
        <p:txBody>
          <a:bodyPr/>
          <a:lstStyle/>
          <a:p>
            <a:endParaRPr lang="ko-KR" altLang="en-US"/>
          </a:p>
        </p:txBody>
      </p:sp>
      <p:sp>
        <p:nvSpPr>
          <p:cNvPr id="12" name="Text 10"/>
          <p:cNvSpPr/>
          <p:nvPr/>
        </p:nvSpPr>
        <p:spPr>
          <a:xfrm>
            <a:off x="4773343" y="7511032"/>
            <a:ext cx="4343578" cy="37147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b="1" dirty="0">
                <a:solidFill>
                  <a:srgbClr val="9FE9DC"/>
                </a:solidFill>
                <a:highlight>
                  <a:srgbClr val="10211C"/>
                </a:highlight>
                <a:latin typeface="Helvetica" pitchFamily="34" charset="0"/>
                <a:ea typeface="Helvetica" pitchFamily="34" charset="-122"/>
                <a:cs typeface="Helvetica" pitchFamily="34" charset="-120"/>
              </a:rPr>
              <a:t>전자기력선이 </a:t>
            </a:r>
            <a:r>
              <a:rPr lang="en-US" sz="1875" b="1" dirty="0">
                <a:solidFill>
                  <a:srgbClr val="6FE3D2"/>
                </a:solidFill>
                <a:latin typeface="Helvetica" pitchFamily="34" charset="0"/>
                <a:ea typeface="Helvetica" pitchFamily="34" charset="-122"/>
                <a:cs typeface="Helvetica" pitchFamily="34" charset="-120"/>
              </a:rPr>
              <a:t>초록 </a:t>
            </a:r>
            <a:r>
              <a:rPr lang="en-US" sz="1875" b="1" dirty="0">
                <a:solidFill>
                  <a:srgbClr val="9FE9DC"/>
                </a:solidFill>
                <a:highlight>
                  <a:srgbClr val="10211C"/>
                </a:highlight>
                <a:latin typeface="Helvetica" pitchFamily="34" charset="0"/>
                <a:ea typeface="Helvetica" pitchFamily="34" charset="-122"/>
                <a:cs typeface="Helvetica" pitchFamily="34" charset="-120"/>
              </a:rPr>
              <a:t>→ </a:t>
            </a:r>
            <a:r>
              <a:rPr lang="en-US" sz="1875" b="1" dirty="0">
                <a:solidFill>
                  <a:srgbClr val="FF6B6B"/>
                </a:solidFill>
                <a:latin typeface="Helvetica" pitchFamily="34" charset="0"/>
                <a:ea typeface="Helvetica" pitchFamily="34" charset="-122"/>
                <a:cs typeface="Helvetica" pitchFamily="34" charset="-120"/>
              </a:rPr>
              <a:t>빨강</a:t>
            </a:r>
            <a:r>
              <a:rPr lang="en-US" sz="1875" b="1" dirty="0">
                <a:solidFill>
                  <a:srgbClr val="9FE9DC"/>
                </a:solidFill>
                <a:highlight>
                  <a:srgbClr val="10211C"/>
                </a:highlight>
                <a:latin typeface="Helvetica" pitchFamily="34" charset="0"/>
                <a:ea typeface="Helvetica" pitchFamily="34" charset="-122"/>
                <a:cs typeface="Helvetica" pitchFamily="34" charset="-120"/>
              </a:rPr>
              <a:t>: </a:t>
            </a:r>
            <a:r>
              <a:rPr lang="en-US" sz="1875" b="1" dirty="0" err="1">
                <a:solidFill>
                  <a:srgbClr val="9FE9DC"/>
                </a:solidFill>
                <a:highlight>
                  <a:srgbClr val="10211C"/>
                </a:highlight>
                <a:latin typeface="Helvetica" pitchFamily="34" charset="0"/>
                <a:ea typeface="Helvetica" pitchFamily="34" charset="-122"/>
                <a:cs typeface="Helvetica" pitchFamily="34" charset="-120"/>
              </a:rPr>
              <a:t>위험도</a:t>
            </a:r>
            <a:r>
              <a:rPr lang="en-US" sz="1875" b="1" dirty="0">
                <a:solidFill>
                  <a:srgbClr val="9FE9DC"/>
                </a:solidFill>
                <a:highlight>
                  <a:srgbClr val="10211C"/>
                </a:highlight>
                <a:latin typeface="Helvetica" pitchFamily="34" charset="0"/>
                <a:ea typeface="Helvetica" pitchFamily="34" charset="-122"/>
                <a:cs typeface="Helvetica" pitchFamily="34" charset="-120"/>
              </a:rPr>
              <a:t> 1~5단계</a:t>
            </a:r>
            <a:endParaRPr lang="en-US" sz="1875" b="1" dirty="0"/>
          </a:p>
        </p:txBody>
      </p:sp>
      <p:sp>
        <p:nvSpPr>
          <p:cNvPr id="13" name="Text 11"/>
          <p:cNvSpPr/>
          <p:nvPr/>
        </p:nvSpPr>
        <p:spPr>
          <a:xfrm>
            <a:off x="10334654" y="2441618"/>
            <a:ext cx="5297805" cy="295275"/>
          </a:xfrm>
          <a:prstGeom prst="rect">
            <a:avLst/>
          </a:prstGeom>
          <a:noFill/>
          <a:ln/>
        </p:spPr>
        <p:txBody>
          <a:bodyPr wrap="square" lIns="25400" tIns="25400" rIns="25400" bIns="25400" rtlCol="0" anchor="t">
            <a:normAutofit fontScale="92500" lnSpcReduction="10000"/>
          </a:bodyPr>
          <a:lstStyle/>
          <a:p>
            <a:pPr marL="0" indent="0" algn="l">
              <a:buNone/>
            </a:pPr>
            <a:r>
              <a:rPr lang="ko-KR" altLang="en-US" sz="1800" b="1" kern="0" spc="288" dirty="0">
                <a:solidFill>
                  <a:schemeClr val="bg1"/>
                </a:solidFill>
                <a:latin typeface="Courier New" pitchFamily="34" charset="0"/>
                <a:ea typeface="Courier New" pitchFamily="34" charset="-122"/>
                <a:cs typeface="Courier New" pitchFamily="34" charset="-120"/>
              </a:rPr>
              <a:t>구역 스캔 기능</a:t>
            </a:r>
            <a:r>
              <a:rPr lang="en-US" altLang="ko-KR" sz="1800" b="1" kern="0" spc="288" dirty="0">
                <a:solidFill>
                  <a:schemeClr val="accent4"/>
                </a:solidFill>
                <a:latin typeface="Courier New" pitchFamily="34" charset="0"/>
                <a:ea typeface="Courier New" pitchFamily="34" charset="-122"/>
                <a:cs typeface="Courier New" pitchFamily="34" charset="-120"/>
              </a:rPr>
              <a:t>(</a:t>
            </a:r>
            <a:r>
              <a:rPr lang="ko-KR" altLang="en-US" sz="1800" b="1" kern="0" spc="288" dirty="0">
                <a:solidFill>
                  <a:schemeClr val="accent4"/>
                </a:solidFill>
                <a:latin typeface="Courier New" pitchFamily="34" charset="0"/>
                <a:ea typeface="Courier New" pitchFamily="34" charset="-122"/>
                <a:cs typeface="Courier New" pitchFamily="34" charset="-120"/>
              </a:rPr>
              <a:t>신규 기능</a:t>
            </a:r>
            <a:r>
              <a:rPr lang="en-US" altLang="ko-KR" sz="1800" b="1" kern="0" spc="288" dirty="0">
                <a:solidFill>
                  <a:schemeClr val="accent4"/>
                </a:solidFill>
                <a:latin typeface="Courier New" pitchFamily="34" charset="0"/>
                <a:ea typeface="Courier New" pitchFamily="34" charset="-122"/>
                <a:cs typeface="Courier New" pitchFamily="34" charset="-120"/>
              </a:rPr>
              <a:t>)</a:t>
            </a:r>
            <a:endParaRPr lang="en-US" sz="1800" b="1" dirty="0">
              <a:solidFill>
                <a:schemeClr val="accent4"/>
              </a:solidFill>
            </a:endParaRPr>
          </a:p>
        </p:txBody>
      </p:sp>
      <p:sp>
        <p:nvSpPr>
          <p:cNvPr id="14" name="Shape 12"/>
          <p:cNvSpPr/>
          <p:nvPr/>
        </p:nvSpPr>
        <p:spPr>
          <a:xfrm>
            <a:off x="9872210" y="2937344"/>
            <a:ext cx="7736521" cy="6315075"/>
          </a:xfrm>
          <a:prstGeom prst="roundRect">
            <a:avLst>
              <a:gd name="adj" fmla="val 9735"/>
            </a:avLst>
          </a:prstGeom>
          <a:solidFill>
            <a:srgbClr val="0E1626"/>
          </a:solidFill>
          <a:ln w="9525">
            <a:solidFill>
              <a:srgbClr val="213049"/>
            </a:solidFill>
            <a:prstDash val="solid"/>
          </a:ln>
        </p:spPr>
        <p:txBody>
          <a:bodyPr/>
          <a:lstStyle/>
          <a:p>
            <a:endParaRPr lang="ko-KR" altLang="en-US"/>
          </a:p>
        </p:txBody>
      </p:sp>
      <p:pic>
        <p:nvPicPr>
          <p:cNvPr id="15" name="Image 0" descr="preencoded.png"/>
          <p:cNvPicPr>
            <a:picLocks noChangeAspect="1"/>
          </p:cNvPicPr>
          <p:nvPr/>
        </p:nvPicPr>
        <p:blipFill>
          <a:blip r:embed="rId5"/>
          <a:stretch>
            <a:fillRect/>
          </a:stretch>
        </p:blipFill>
        <p:spPr>
          <a:xfrm>
            <a:off x="10742817" y="2908569"/>
            <a:ext cx="2267367" cy="6227258"/>
          </a:xfrm>
          <a:prstGeom prst="rect">
            <a:avLst/>
          </a:prstGeom>
        </p:spPr>
      </p:pic>
      <p:sp>
        <p:nvSpPr>
          <p:cNvPr id="16" name="Text 13"/>
          <p:cNvSpPr/>
          <p:nvPr/>
        </p:nvSpPr>
        <p:spPr>
          <a:xfrm>
            <a:off x="13852773" y="4908500"/>
            <a:ext cx="224879" cy="323850"/>
          </a:xfrm>
          <a:prstGeom prst="rect">
            <a:avLst/>
          </a:prstGeom>
          <a:noFill/>
          <a:ln/>
        </p:spPr>
        <p:txBody>
          <a:bodyPr wrap="square" lIns="25400" tIns="25400" rIns="25400" bIns="25400" rtlCol="0" anchor="t">
            <a:normAutofit fontScale="92500" lnSpcReduction="10000"/>
          </a:bodyPr>
          <a:lstStyle/>
          <a:p>
            <a:pPr marL="0" indent="0" algn="l">
              <a:buNone/>
            </a:pPr>
            <a:endParaRPr lang="en-US" sz="1950" dirty="0"/>
          </a:p>
        </p:txBody>
      </p:sp>
      <p:sp>
        <p:nvSpPr>
          <p:cNvPr id="18" name="Text 15"/>
          <p:cNvSpPr/>
          <p:nvPr/>
        </p:nvSpPr>
        <p:spPr>
          <a:xfrm>
            <a:off x="13852773" y="5407521"/>
            <a:ext cx="224879" cy="323850"/>
          </a:xfrm>
          <a:prstGeom prst="rect">
            <a:avLst/>
          </a:prstGeom>
          <a:noFill/>
          <a:ln/>
        </p:spPr>
        <p:txBody>
          <a:bodyPr wrap="square" lIns="25400" tIns="25400" rIns="25400" bIns="25400" rtlCol="0" anchor="t">
            <a:normAutofit fontScale="92500" lnSpcReduction="10000"/>
          </a:bodyPr>
          <a:lstStyle/>
          <a:p>
            <a:pPr marL="0" indent="0" algn="l">
              <a:buNone/>
            </a:pPr>
            <a:endParaRPr lang="en-US" sz="1950" dirty="0"/>
          </a:p>
        </p:txBody>
      </p:sp>
      <p:sp>
        <p:nvSpPr>
          <p:cNvPr id="20" name="Text 17"/>
          <p:cNvSpPr/>
          <p:nvPr/>
        </p:nvSpPr>
        <p:spPr>
          <a:xfrm>
            <a:off x="13852773" y="5906542"/>
            <a:ext cx="224879" cy="323850"/>
          </a:xfrm>
          <a:prstGeom prst="rect">
            <a:avLst/>
          </a:prstGeom>
          <a:noFill/>
          <a:ln/>
        </p:spPr>
        <p:txBody>
          <a:bodyPr wrap="square" lIns="25400" tIns="25400" rIns="25400" bIns="25400" rtlCol="0" anchor="t">
            <a:normAutofit fontScale="92500" lnSpcReduction="10000"/>
          </a:bodyPr>
          <a:lstStyle/>
          <a:p>
            <a:pPr marL="0" indent="0" algn="l">
              <a:buNone/>
            </a:pPr>
            <a:endParaRPr lang="en-US" sz="1950" dirty="0"/>
          </a:p>
        </p:txBody>
      </p:sp>
      <p:sp>
        <p:nvSpPr>
          <p:cNvPr id="22" name="Text 19"/>
          <p:cNvSpPr/>
          <p:nvPr/>
        </p:nvSpPr>
        <p:spPr>
          <a:xfrm>
            <a:off x="13852773" y="6752183"/>
            <a:ext cx="224879" cy="323850"/>
          </a:xfrm>
          <a:prstGeom prst="rect">
            <a:avLst/>
          </a:prstGeom>
          <a:noFill/>
          <a:ln/>
        </p:spPr>
        <p:txBody>
          <a:bodyPr wrap="square" lIns="25400" tIns="25400" rIns="25400" bIns="25400" rtlCol="0" anchor="t">
            <a:normAutofit fontScale="92500" lnSpcReduction="10000"/>
          </a:bodyPr>
          <a:lstStyle/>
          <a:p>
            <a:pPr marL="0" indent="0" algn="l">
              <a:buNone/>
            </a:pPr>
            <a:endParaRPr lang="en-US" sz="1950" dirty="0"/>
          </a:p>
        </p:txBody>
      </p:sp>
      <p:pic>
        <p:nvPicPr>
          <p:cNvPr id="901" name="AR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229769" y="2952750"/>
            <a:ext cx="3034304" cy="6405753"/>
          </a:xfrm>
          <a:prstGeom prst="rect">
            <a:avLst/>
          </a:prstGeom>
        </p:spPr>
      </p:pic>
      <p:sp>
        <p:nvSpPr>
          <p:cNvPr id="27" name="Text 0">
            <a:extLst>
              <a:ext uri="{FF2B5EF4-FFF2-40B4-BE49-F238E27FC236}">
                <a16:creationId xmlns:a16="http://schemas.microsoft.com/office/drawing/2014/main" id="{E0EFA838-D34B-FC0F-A7F5-B4A388945956}"/>
              </a:ext>
            </a:extLst>
          </p:cNvPr>
          <p:cNvSpPr/>
          <p:nvPr/>
        </p:nvSpPr>
        <p:spPr>
          <a:xfrm>
            <a:off x="1047750" y="771525"/>
            <a:ext cx="47252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kern="0" spc="390" dirty="0">
                <a:solidFill>
                  <a:schemeClr val="bg1"/>
                </a:solidFill>
                <a:latin typeface="Courier New" pitchFamily="34" charset="0"/>
                <a:ea typeface="Courier New" pitchFamily="34" charset="-122"/>
                <a:cs typeface="Courier New" pitchFamily="34" charset="-120"/>
              </a:rPr>
              <a:t>08</a:t>
            </a:r>
            <a:endParaRPr lang="en-US" sz="1950" dirty="0">
              <a:solidFill>
                <a:schemeClr val="bg1"/>
              </a:solidFill>
            </a:endParaRPr>
          </a:p>
        </p:txBody>
      </p:sp>
      <p:sp>
        <p:nvSpPr>
          <p:cNvPr id="29" name="Text 1">
            <a:extLst>
              <a:ext uri="{FF2B5EF4-FFF2-40B4-BE49-F238E27FC236}">
                <a16:creationId xmlns:a16="http://schemas.microsoft.com/office/drawing/2014/main" id="{6F246A2F-2F46-5693-4F12-590B03F9FD45}"/>
              </a:ext>
            </a:extLst>
          </p:cNvPr>
          <p:cNvSpPr/>
          <p:nvPr/>
        </p:nvSpPr>
        <p:spPr>
          <a:xfrm>
            <a:off x="1596479" y="762000"/>
            <a:ext cx="4388011" cy="342900"/>
          </a:xfrm>
          <a:prstGeom prst="rect">
            <a:avLst/>
          </a:prstGeom>
          <a:noFill/>
          <a:ln/>
        </p:spPr>
        <p:txBody>
          <a:bodyPr wrap="square" lIns="25400" tIns="25400" rIns="25400" bIns="25400" rtlCol="0" anchor="t">
            <a:normAutofit lnSpcReduction="10000"/>
          </a:bodyPr>
          <a:lstStyle/>
          <a:p>
            <a:pPr marL="0" indent="0" algn="l">
              <a:buNone/>
            </a:pPr>
            <a:r>
              <a:rPr lang="ko-KR" altLang="en-US" sz="1950" kern="0" spc="390" dirty="0">
                <a:solidFill>
                  <a:srgbClr val="6FE3D2"/>
                </a:solidFill>
                <a:latin typeface="Courier New" pitchFamily="34" charset="0"/>
                <a:ea typeface="Courier New" pitchFamily="34" charset="-122"/>
                <a:cs typeface="Courier New" pitchFamily="34" charset="-120"/>
              </a:rPr>
              <a:t>원리 </a:t>
            </a:r>
            <a:r>
              <a:rPr lang="en-US" altLang="ko-KR" sz="1950" kern="0" spc="390" dirty="0">
                <a:solidFill>
                  <a:srgbClr val="6FE3D2"/>
                </a:solidFill>
                <a:latin typeface="Courier New" pitchFamily="34" charset="0"/>
                <a:ea typeface="Courier New" pitchFamily="34" charset="-122"/>
                <a:cs typeface="Courier New" pitchFamily="34" charset="-120"/>
              </a:rPr>
              <a:t>3</a:t>
            </a:r>
            <a:r>
              <a:rPr lang="en-US" sz="1950" kern="0" spc="390" dirty="0">
                <a:solidFill>
                  <a:srgbClr val="6FE3D2"/>
                </a:solidFill>
                <a:latin typeface="Courier New" pitchFamily="34" charset="0"/>
                <a:ea typeface="Courier New" pitchFamily="34" charset="-122"/>
                <a:cs typeface="Courier New" pitchFamily="34" charset="-120"/>
              </a:rPr>
              <a:t> – AR</a:t>
            </a:r>
            <a:r>
              <a:rPr lang="ko-KR" altLang="en-US" sz="1950" kern="0" spc="390" dirty="0">
                <a:solidFill>
                  <a:srgbClr val="6FE3D2"/>
                </a:solidFill>
                <a:latin typeface="Courier New" pitchFamily="34" charset="0"/>
                <a:ea typeface="Courier New" pitchFamily="34" charset="-122"/>
                <a:cs typeface="Courier New" pitchFamily="34" charset="-120"/>
              </a:rPr>
              <a:t>과 맵 기능</a:t>
            </a:r>
            <a:endParaRPr lang="en-US" sz="1950" dirty="0"/>
          </a:p>
        </p:txBody>
      </p:sp>
      <p:sp>
        <p:nvSpPr>
          <p:cNvPr id="32" name="Text 7">
            <a:extLst>
              <a:ext uri="{FF2B5EF4-FFF2-40B4-BE49-F238E27FC236}">
                <a16:creationId xmlns:a16="http://schemas.microsoft.com/office/drawing/2014/main" id="{352498C9-2320-438F-8F6E-EC274C56D118}"/>
              </a:ext>
            </a:extLst>
          </p:cNvPr>
          <p:cNvSpPr/>
          <p:nvPr/>
        </p:nvSpPr>
        <p:spPr>
          <a:xfrm>
            <a:off x="13131486" y="4425134"/>
            <a:ext cx="4346617" cy="4471216"/>
          </a:xfrm>
          <a:prstGeom prst="rect">
            <a:avLst/>
          </a:prstGeom>
          <a:noFill/>
          <a:ln/>
        </p:spPr>
        <p:txBody>
          <a:bodyPr wrap="square" lIns="25400" tIns="25400" rIns="25400" bIns="25400" rtlCol="0" anchor="t">
            <a:normAutofit/>
          </a:bodyPr>
          <a:lstStyle/>
          <a:p>
            <a:pPr algn="l">
              <a:lnSpc>
                <a:spcPct val="145000"/>
              </a:lnSpc>
            </a:pPr>
            <a:r>
              <a:rPr lang="en-US" altLang="ko-KR" sz="2100" dirty="0">
                <a:solidFill>
                  <a:srgbClr val="D7DFEE"/>
                </a:solidFill>
                <a:latin typeface="Helvetica" pitchFamily="34" charset="0"/>
                <a:ea typeface="Helvetica" pitchFamily="34" charset="-122"/>
                <a:cs typeface="Helvetica" pitchFamily="34" charset="-120"/>
              </a:rPr>
              <a:t>1. </a:t>
            </a:r>
            <a:r>
              <a:rPr lang="ko-KR" altLang="en-US" sz="2100" dirty="0">
                <a:solidFill>
                  <a:srgbClr val="D7DFEE"/>
                </a:solidFill>
                <a:latin typeface="Helvetica" pitchFamily="34" charset="0"/>
                <a:ea typeface="Helvetica" pitchFamily="34" charset="-122"/>
                <a:cs typeface="Helvetica" pitchFamily="34" charset="-120"/>
              </a:rPr>
              <a:t>원점 </a:t>
            </a:r>
            <a:r>
              <a:rPr lang="en-US" altLang="ko-KR" sz="2100" dirty="0">
                <a:solidFill>
                  <a:srgbClr val="D7DFEE"/>
                </a:solidFill>
                <a:latin typeface="Helvetica" pitchFamily="34" charset="0"/>
                <a:ea typeface="Helvetica" pitchFamily="34" charset="-122"/>
                <a:cs typeface="Helvetica" pitchFamily="34" charset="-120"/>
              </a:rPr>
              <a:t>= </a:t>
            </a:r>
            <a:r>
              <a:rPr lang="ko-KR" altLang="en-US" sz="2100" dirty="0">
                <a:solidFill>
                  <a:srgbClr val="D7DFEE"/>
                </a:solidFill>
                <a:latin typeface="Helvetica" pitchFamily="34" charset="0"/>
                <a:ea typeface="Helvetica" pitchFamily="34" charset="-122"/>
                <a:cs typeface="Helvetica" pitchFamily="34" charset="-120"/>
              </a:rPr>
              <a:t>스캔을 시작 할 때의</a:t>
            </a:r>
            <a:endParaRPr lang="en-US" altLang="ko-KR" sz="2100" dirty="0">
              <a:solidFill>
                <a:srgbClr val="D7DFEE"/>
              </a:solidFill>
              <a:latin typeface="Helvetica" pitchFamily="34" charset="0"/>
              <a:ea typeface="Helvetica" pitchFamily="34" charset="-122"/>
              <a:cs typeface="Helvetica" pitchFamily="34" charset="-120"/>
            </a:endParaRPr>
          </a:p>
          <a:p>
            <a:pPr algn="l">
              <a:lnSpc>
                <a:spcPct val="145000"/>
              </a:lnSpc>
            </a:pPr>
            <a:r>
              <a:rPr lang="ko-KR" altLang="en-US" sz="2100" dirty="0">
                <a:solidFill>
                  <a:srgbClr val="D7DFEE"/>
                </a:solidFill>
                <a:latin typeface="Helvetica" pitchFamily="34" charset="0"/>
                <a:cs typeface="Helvetica" pitchFamily="34" charset="-120"/>
              </a:rPr>
              <a:t>최초 본인 위치</a:t>
            </a:r>
            <a:endParaRPr lang="en-US" altLang="ko-KR" sz="2100" dirty="0">
              <a:solidFill>
                <a:srgbClr val="D7DFEE"/>
              </a:solidFill>
              <a:latin typeface="Helvetica" pitchFamily="34" charset="0"/>
              <a:cs typeface="Helvetica" pitchFamily="34" charset="-120"/>
            </a:endParaRPr>
          </a:p>
          <a:p>
            <a:pPr algn="l">
              <a:lnSpc>
                <a:spcPct val="145000"/>
              </a:lnSpc>
            </a:pPr>
            <a:r>
              <a:rPr lang="en-US" sz="2100" dirty="0">
                <a:solidFill>
                  <a:srgbClr val="D7DFEE"/>
                </a:solidFill>
                <a:latin typeface="Helvetica" pitchFamily="34" charset="0"/>
                <a:cs typeface="Helvetica" pitchFamily="34" charset="-120"/>
              </a:rPr>
              <a:t>2. </a:t>
            </a:r>
            <a:r>
              <a:rPr lang="ko-KR" altLang="en-US" sz="2100" dirty="0">
                <a:solidFill>
                  <a:srgbClr val="D7DFEE"/>
                </a:solidFill>
                <a:latin typeface="Helvetica" pitchFamily="34" charset="0"/>
                <a:cs typeface="Helvetica" pitchFamily="34" charset="-120"/>
              </a:rPr>
              <a:t>격자 하나 당 가로 세로 </a:t>
            </a:r>
            <a:r>
              <a:rPr lang="en-US" altLang="ko-KR" sz="2100" dirty="0">
                <a:solidFill>
                  <a:srgbClr val="D7DFEE"/>
                </a:solidFill>
                <a:latin typeface="Helvetica" pitchFamily="34" charset="0"/>
                <a:cs typeface="Helvetica" pitchFamily="34" charset="-120"/>
              </a:rPr>
              <a:t>25cm</a:t>
            </a:r>
          </a:p>
          <a:p>
            <a:pPr algn="l">
              <a:lnSpc>
                <a:spcPct val="145000"/>
              </a:lnSpc>
            </a:pPr>
            <a:r>
              <a:rPr lang="en-US" sz="2100" dirty="0">
                <a:solidFill>
                  <a:srgbClr val="D7DFEE"/>
                </a:solidFill>
                <a:latin typeface="Helvetica" pitchFamily="34" charset="0"/>
                <a:cs typeface="Helvetica" pitchFamily="34" charset="-120"/>
              </a:rPr>
              <a:t>3. </a:t>
            </a:r>
            <a:r>
              <a:rPr lang="ko-KR" altLang="en-US" sz="2100" dirty="0">
                <a:solidFill>
                  <a:srgbClr val="D7DFEE"/>
                </a:solidFill>
                <a:latin typeface="Helvetica" pitchFamily="34" charset="0"/>
                <a:cs typeface="Helvetica" pitchFamily="34" charset="-120"/>
              </a:rPr>
              <a:t>격자 하나당 </a:t>
            </a:r>
            <a:r>
              <a:rPr lang="en-US" altLang="ko-KR" sz="2100" dirty="0">
                <a:solidFill>
                  <a:srgbClr val="D7DFEE"/>
                </a:solidFill>
                <a:latin typeface="Helvetica" pitchFamily="34" charset="0"/>
                <a:cs typeface="Helvetica" pitchFamily="34" charset="-120"/>
              </a:rPr>
              <a:t>3</a:t>
            </a:r>
            <a:r>
              <a:rPr lang="ko-KR" altLang="en-US" sz="2100" dirty="0">
                <a:solidFill>
                  <a:srgbClr val="D7DFEE"/>
                </a:solidFill>
                <a:latin typeface="Helvetica" pitchFamily="34" charset="0"/>
                <a:cs typeface="Helvetica" pitchFamily="34" charset="-120"/>
              </a:rPr>
              <a:t>개의 샘플 이상의</a:t>
            </a:r>
            <a:endParaRPr lang="en-US" altLang="ko-KR" sz="2100" dirty="0">
              <a:solidFill>
                <a:srgbClr val="D7DFEE"/>
              </a:solidFill>
              <a:latin typeface="Helvetica" pitchFamily="34" charset="0"/>
              <a:cs typeface="Helvetica" pitchFamily="34" charset="-120"/>
            </a:endParaRPr>
          </a:p>
          <a:p>
            <a:pPr algn="l">
              <a:lnSpc>
                <a:spcPct val="145000"/>
              </a:lnSpc>
            </a:pPr>
            <a:r>
              <a:rPr lang="ko-KR" altLang="en-US" sz="2100" dirty="0">
                <a:solidFill>
                  <a:srgbClr val="D7DFEE"/>
                </a:solidFill>
                <a:latin typeface="Helvetica" pitchFamily="34" charset="0"/>
                <a:cs typeface="Helvetica" pitchFamily="34" charset="-120"/>
              </a:rPr>
              <a:t>값을 측정하여 오류를 최소화</a:t>
            </a:r>
            <a:endParaRPr lang="en-US" altLang="ko-KR" sz="2100" dirty="0">
              <a:solidFill>
                <a:srgbClr val="D7DFEE"/>
              </a:solidFill>
              <a:latin typeface="Helvetica" pitchFamily="34" charset="0"/>
              <a:cs typeface="Helvetica" pitchFamily="34" charset="-120"/>
            </a:endParaRPr>
          </a:p>
          <a:p>
            <a:pPr algn="l">
              <a:lnSpc>
                <a:spcPct val="145000"/>
              </a:lnSpc>
            </a:pPr>
            <a:r>
              <a:rPr lang="en-US" sz="2100" dirty="0">
                <a:solidFill>
                  <a:srgbClr val="D7DFEE"/>
                </a:solidFill>
                <a:latin typeface="Helvetica" pitchFamily="34" charset="0"/>
                <a:cs typeface="Helvetica" pitchFamily="34" charset="-120"/>
              </a:rPr>
              <a:t>4. FOCUS SCORE</a:t>
            </a:r>
            <a:r>
              <a:rPr lang="ko-KR" altLang="en-US" sz="2100" dirty="0">
                <a:solidFill>
                  <a:srgbClr val="D7DFEE"/>
                </a:solidFill>
                <a:latin typeface="Helvetica" pitchFamily="34" charset="0"/>
                <a:cs typeface="Helvetica" pitchFamily="34" charset="-120"/>
              </a:rPr>
              <a:t>가 가장 높은</a:t>
            </a:r>
            <a:endParaRPr lang="en-US" altLang="ko-KR" sz="2100" dirty="0">
              <a:solidFill>
                <a:srgbClr val="D7DFEE"/>
              </a:solidFill>
              <a:latin typeface="Helvetica" pitchFamily="34" charset="0"/>
              <a:cs typeface="Helvetica" pitchFamily="34" charset="-120"/>
            </a:endParaRPr>
          </a:p>
          <a:p>
            <a:pPr algn="l">
              <a:lnSpc>
                <a:spcPct val="145000"/>
              </a:lnSpc>
            </a:pPr>
            <a:r>
              <a:rPr lang="ko-KR" altLang="en-US" sz="2100" dirty="0">
                <a:solidFill>
                  <a:srgbClr val="D7DFEE"/>
                </a:solidFill>
                <a:latin typeface="Helvetica" pitchFamily="34" charset="0"/>
                <a:cs typeface="Helvetica" pitchFamily="34" charset="-120"/>
              </a:rPr>
              <a:t>안정된 위치를 안내</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C16"/>
        </a:solidFill>
        <a:effectLst/>
      </p:bgPr>
    </p:bg>
    <p:spTree>
      <p:nvGrpSpPr>
        <p:cNvPr id="1" name=""/>
        <p:cNvGrpSpPr/>
        <p:nvPr/>
      </p:nvGrpSpPr>
      <p:grpSpPr>
        <a:xfrm>
          <a:off x="0" y="0"/>
          <a:ext cx="0" cy="0"/>
          <a:chOff x="0" y="0"/>
          <a:chExt cx="0" cy="0"/>
        </a:xfrm>
      </p:grpSpPr>
      <p:sp>
        <p:nvSpPr>
          <p:cNvPr id="4" name="Text 2"/>
          <p:cNvSpPr/>
          <p:nvPr/>
        </p:nvSpPr>
        <p:spPr>
          <a:xfrm>
            <a:off x="1047750" y="1371600"/>
            <a:ext cx="16678275" cy="952500"/>
          </a:xfrm>
          <a:prstGeom prst="rect">
            <a:avLst/>
          </a:prstGeom>
          <a:noFill/>
          <a:ln/>
        </p:spPr>
        <p:txBody>
          <a:bodyPr wrap="square" lIns="25400" tIns="25400" rIns="25400" bIns="25400" rtlCol="0" anchor="t">
            <a:normAutofit/>
          </a:bodyPr>
          <a:lstStyle/>
          <a:p>
            <a:pPr marL="0" indent="0" algn="l">
              <a:buNone/>
            </a:pPr>
            <a:r>
              <a:rPr lang="en-US" sz="4950" b="1" kern="0" spc="-49" dirty="0" err="1">
                <a:solidFill>
                  <a:srgbClr val="EAEFF7"/>
                </a:solidFill>
                <a:latin typeface="Helvetica" pitchFamily="34" charset="0"/>
                <a:ea typeface="Helvetica" pitchFamily="34" charset="-122"/>
                <a:cs typeface="Helvetica" pitchFamily="34" charset="-120"/>
              </a:rPr>
              <a:t>기술</a:t>
            </a:r>
            <a:r>
              <a:rPr lang="en-US" sz="4950" b="1" kern="0" spc="-49" dirty="0">
                <a:solidFill>
                  <a:srgbClr val="EAEFF7"/>
                </a:solidFill>
                <a:latin typeface="Helvetica" pitchFamily="34" charset="0"/>
                <a:ea typeface="Helvetica" pitchFamily="34" charset="-122"/>
                <a:cs typeface="Helvetica" pitchFamily="34" charset="-120"/>
              </a:rPr>
              <a:t> </a:t>
            </a:r>
            <a:r>
              <a:rPr lang="en-US" sz="4950" b="1" kern="0" spc="-49" dirty="0" err="1">
                <a:solidFill>
                  <a:srgbClr val="EAEFF7"/>
                </a:solidFill>
                <a:latin typeface="Helvetica" pitchFamily="34" charset="0"/>
                <a:ea typeface="Helvetica" pitchFamily="34" charset="-122"/>
                <a:cs typeface="Helvetica" pitchFamily="34" charset="-120"/>
              </a:rPr>
              <a:t>스택</a:t>
            </a:r>
            <a:endParaRPr lang="en-US" sz="4950" dirty="0"/>
          </a:p>
        </p:txBody>
      </p:sp>
      <p:sp>
        <p:nvSpPr>
          <p:cNvPr id="5" name="Shape 3"/>
          <p:cNvSpPr/>
          <p:nvPr/>
        </p:nvSpPr>
        <p:spPr>
          <a:xfrm>
            <a:off x="1047750" y="3209925"/>
            <a:ext cx="7829550" cy="9525"/>
          </a:xfrm>
          <a:prstGeom prst="rect">
            <a:avLst/>
          </a:prstGeom>
          <a:solidFill>
            <a:srgbClr val="1A2840"/>
          </a:solidFill>
          <a:ln/>
        </p:spPr>
        <p:txBody>
          <a:bodyPr/>
          <a:lstStyle/>
          <a:p>
            <a:endParaRPr lang="ko-KR" altLang="en-US"/>
          </a:p>
        </p:txBody>
      </p:sp>
      <p:sp>
        <p:nvSpPr>
          <p:cNvPr id="6" name="Text 4"/>
          <p:cNvSpPr/>
          <p:nvPr/>
        </p:nvSpPr>
        <p:spPr>
          <a:xfrm>
            <a:off x="1047750" y="2743200"/>
            <a:ext cx="1695450" cy="333375"/>
          </a:xfrm>
          <a:prstGeom prst="rect">
            <a:avLst/>
          </a:prstGeom>
          <a:noFill/>
          <a:ln/>
        </p:spPr>
        <p:txBody>
          <a:bodyPr wrap="square" lIns="25400" tIns="25400" rIns="25400" bIns="25400" rtlCol="0" anchor="t">
            <a:normAutofit fontScale="92500"/>
          </a:bodyPr>
          <a:lstStyle/>
          <a:p>
            <a:pPr marL="0" indent="0" algn="l">
              <a:buNone/>
            </a:pPr>
            <a:r>
              <a:rPr lang="ko-KR" altLang="en-US" sz="1875" kern="0" spc="113" dirty="0">
                <a:solidFill>
                  <a:srgbClr val="6FE3D2"/>
                </a:solidFill>
                <a:latin typeface="Courier New" pitchFamily="34" charset="0"/>
                <a:cs typeface="Courier New" pitchFamily="34" charset="-120"/>
              </a:rPr>
              <a:t>안드로이드 앱</a:t>
            </a:r>
            <a:endParaRPr lang="en-US" sz="1875" dirty="0"/>
          </a:p>
        </p:txBody>
      </p:sp>
      <p:sp>
        <p:nvSpPr>
          <p:cNvPr id="7" name="Text 5"/>
          <p:cNvSpPr/>
          <p:nvPr/>
        </p:nvSpPr>
        <p:spPr>
          <a:xfrm>
            <a:off x="2895600" y="2705100"/>
            <a:ext cx="4489269" cy="36195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AEFF7"/>
                </a:solidFill>
                <a:latin typeface="Helvetica" pitchFamily="34" charset="0"/>
                <a:ea typeface="Helvetica" pitchFamily="34" charset="-122"/>
                <a:cs typeface="Helvetica" pitchFamily="34" charset="-120"/>
              </a:rPr>
              <a:t>Flutter / Dart (Material 3)</a:t>
            </a:r>
            <a:endParaRPr lang="en-US" sz="2250" dirty="0"/>
          </a:p>
        </p:txBody>
      </p:sp>
      <p:sp>
        <p:nvSpPr>
          <p:cNvPr id="8" name="Shape 6"/>
          <p:cNvSpPr/>
          <p:nvPr/>
        </p:nvSpPr>
        <p:spPr>
          <a:xfrm>
            <a:off x="9410700" y="3209925"/>
            <a:ext cx="7829550" cy="9525"/>
          </a:xfrm>
          <a:prstGeom prst="rect">
            <a:avLst/>
          </a:prstGeom>
          <a:solidFill>
            <a:srgbClr val="1A2840"/>
          </a:solidFill>
          <a:ln/>
        </p:spPr>
        <p:txBody>
          <a:bodyPr/>
          <a:lstStyle/>
          <a:p>
            <a:endParaRPr lang="ko-KR" altLang="en-US"/>
          </a:p>
        </p:txBody>
      </p:sp>
      <p:sp>
        <p:nvSpPr>
          <p:cNvPr id="9" name="Text 7"/>
          <p:cNvSpPr/>
          <p:nvPr/>
        </p:nvSpPr>
        <p:spPr>
          <a:xfrm>
            <a:off x="9410700" y="2743200"/>
            <a:ext cx="1695450" cy="333375"/>
          </a:xfrm>
          <a:prstGeom prst="rect">
            <a:avLst/>
          </a:prstGeom>
          <a:noFill/>
          <a:ln/>
        </p:spPr>
        <p:txBody>
          <a:bodyPr wrap="square" lIns="25400" tIns="25400" rIns="25400" bIns="25400" rtlCol="0" anchor="t">
            <a:normAutofit lnSpcReduction="10000"/>
          </a:bodyPr>
          <a:lstStyle/>
          <a:p>
            <a:pPr marL="0" indent="0" algn="l">
              <a:buNone/>
            </a:pPr>
            <a:r>
              <a:rPr lang="en-US" sz="1875" kern="0" spc="113" dirty="0">
                <a:solidFill>
                  <a:srgbClr val="6FE3D2"/>
                </a:solidFill>
                <a:latin typeface="Courier New" pitchFamily="34" charset="0"/>
                <a:ea typeface="Courier New" pitchFamily="34" charset="-122"/>
                <a:cs typeface="Courier New" pitchFamily="34" charset="-120"/>
              </a:rPr>
              <a:t>상태</a:t>
            </a:r>
            <a:endParaRPr lang="en-US" sz="1875" dirty="0"/>
          </a:p>
        </p:txBody>
      </p:sp>
      <p:sp>
        <p:nvSpPr>
          <p:cNvPr id="10" name="Text 8"/>
          <p:cNvSpPr/>
          <p:nvPr/>
        </p:nvSpPr>
        <p:spPr>
          <a:xfrm>
            <a:off x="11258550" y="2705100"/>
            <a:ext cx="4073147" cy="36195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AEFF7"/>
                </a:solidFill>
                <a:latin typeface="Helvetica" pitchFamily="34" charset="0"/>
                <a:ea typeface="Helvetica" pitchFamily="34" charset="-122"/>
                <a:cs typeface="Helvetica" pitchFamily="34" charset="-120"/>
              </a:rPr>
              <a:t>provider · EnvironmentProvider</a:t>
            </a:r>
            <a:endParaRPr lang="en-US" sz="2250" dirty="0"/>
          </a:p>
        </p:txBody>
      </p:sp>
      <p:sp>
        <p:nvSpPr>
          <p:cNvPr id="11" name="Shape 9"/>
          <p:cNvSpPr/>
          <p:nvPr/>
        </p:nvSpPr>
        <p:spPr>
          <a:xfrm>
            <a:off x="1047750" y="4000500"/>
            <a:ext cx="7829550" cy="9525"/>
          </a:xfrm>
          <a:prstGeom prst="rect">
            <a:avLst/>
          </a:prstGeom>
          <a:solidFill>
            <a:srgbClr val="1A2840"/>
          </a:solidFill>
          <a:ln/>
        </p:spPr>
        <p:txBody>
          <a:bodyPr/>
          <a:lstStyle/>
          <a:p>
            <a:endParaRPr lang="ko-KR" altLang="en-US"/>
          </a:p>
        </p:txBody>
      </p:sp>
      <p:sp>
        <p:nvSpPr>
          <p:cNvPr id="12" name="Text 10"/>
          <p:cNvSpPr/>
          <p:nvPr/>
        </p:nvSpPr>
        <p:spPr>
          <a:xfrm>
            <a:off x="1047750" y="3524250"/>
            <a:ext cx="1695450" cy="333375"/>
          </a:xfrm>
          <a:prstGeom prst="rect">
            <a:avLst/>
          </a:prstGeom>
          <a:noFill/>
          <a:ln/>
        </p:spPr>
        <p:txBody>
          <a:bodyPr wrap="square" lIns="25400" tIns="25400" rIns="25400" bIns="25400" rtlCol="0" anchor="t">
            <a:normAutofit lnSpcReduction="10000"/>
          </a:bodyPr>
          <a:lstStyle/>
          <a:p>
            <a:pPr marL="0" indent="0" algn="l">
              <a:buNone/>
            </a:pPr>
            <a:r>
              <a:rPr lang="en-US" sz="1875" kern="0" spc="113" dirty="0">
                <a:solidFill>
                  <a:srgbClr val="6FE3D2"/>
                </a:solidFill>
                <a:latin typeface="Courier New" pitchFamily="34" charset="0"/>
                <a:ea typeface="Courier New" pitchFamily="34" charset="-122"/>
                <a:cs typeface="Courier New" pitchFamily="34" charset="-120"/>
              </a:rPr>
              <a:t>센서</a:t>
            </a:r>
            <a:endParaRPr lang="en-US" sz="1875" dirty="0"/>
          </a:p>
        </p:txBody>
      </p:sp>
      <p:sp>
        <p:nvSpPr>
          <p:cNvPr id="13" name="Text 11"/>
          <p:cNvSpPr/>
          <p:nvPr/>
        </p:nvSpPr>
        <p:spPr>
          <a:xfrm>
            <a:off x="2895600" y="3409950"/>
            <a:ext cx="3800286" cy="457200"/>
          </a:xfrm>
          <a:prstGeom prst="rect">
            <a:avLst/>
          </a:prstGeom>
          <a:noFill/>
          <a:ln/>
        </p:spPr>
        <p:txBody>
          <a:bodyPr wrap="square" lIns="25400" tIns="25400" rIns="25400" bIns="25400" rtlCol="0" anchor="t">
            <a:normAutofit fontScale="92500"/>
          </a:bodyPr>
          <a:lstStyle/>
          <a:p>
            <a:pPr marL="0" indent="0" algn="l">
              <a:buNone/>
            </a:pPr>
            <a:r>
              <a:rPr lang="en-US" sz="2250" dirty="0">
                <a:solidFill>
                  <a:srgbClr val="EAEFF7"/>
                </a:solidFill>
                <a:latin typeface="Helvetica" pitchFamily="34" charset="0"/>
                <a:ea typeface="Helvetica" pitchFamily="34" charset="-122"/>
                <a:cs typeface="Helvetica" pitchFamily="34" charset="-120"/>
              </a:rPr>
              <a:t>sensors_plus (자기장, 가속도)</a:t>
            </a:r>
            <a:endParaRPr lang="en-US" sz="2250" dirty="0"/>
          </a:p>
        </p:txBody>
      </p:sp>
      <p:sp>
        <p:nvSpPr>
          <p:cNvPr id="14" name="Shape 12"/>
          <p:cNvSpPr/>
          <p:nvPr/>
        </p:nvSpPr>
        <p:spPr>
          <a:xfrm>
            <a:off x="9410700" y="4000500"/>
            <a:ext cx="7829550" cy="9525"/>
          </a:xfrm>
          <a:prstGeom prst="rect">
            <a:avLst/>
          </a:prstGeom>
          <a:solidFill>
            <a:srgbClr val="1A2840"/>
          </a:solidFill>
          <a:ln/>
        </p:spPr>
        <p:txBody>
          <a:bodyPr/>
          <a:lstStyle/>
          <a:p>
            <a:endParaRPr lang="ko-KR" altLang="en-US"/>
          </a:p>
        </p:txBody>
      </p:sp>
      <p:sp>
        <p:nvSpPr>
          <p:cNvPr id="15" name="Text 13"/>
          <p:cNvSpPr/>
          <p:nvPr/>
        </p:nvSpPr>
        <p:spPr>
          <a:xfrm>
            <a:off x="9410700" y="3448050"/>
            <a:ext cx="1695450" cy="333375"/>
          </a:xfrm>
          <a:prstGeom prst="rect">
            <a:avLst/>
          </a:prstGeom>
          <a:noFill/>
          <a:ln/>
        </p:spPr>
        <p:txBody>
          <a:bodyPr wrap="square" lIns="25400" tIns="25400" rIns="25400" bIns="25400" rtlCol="0" anchor="t">
            <a:normAutofit lnSpcReduction="10000"/>
          </a:bodyPr>
          <a:lstStyle/>
          <a:p>
            <a:pPr marL="0" indent="0" algn="l">
              <a:buNone/>
            </a:pPr>
            <a:r>
              <a:rPr lang="en-US" sz="1875" kern="0" spc="113" dirty="0">
                <a:solidFill>
                  <a:srgbClr val="6FE3D2"/>
                </a:solidFill>
                <a:latin typeface="Courier New" pitchFamily="34" charset="0"/>
                <a:ea typeface="Courier New" pitchFamily="34" charset="-122"/>
                <a:cs typeface="Courier New" pitchFamily="34" charset="-120"/>
              </a:rPr>
              <a:t>카메라</a:t>
            </a:r>
            <a:endParaRPr lang="en-US" sz="1875" dirty="0"/>
          </a:p>
        </p:txBody>
      </p:sp>
      <p:sp>
        <p:nvSpPr>
          <p:cNvPr id="16" name="Text 14"/>
          <p:cNvSpPr/>
          <p:nvPr/>
        </p:nvSpPr>
        <p:spPr>
          <a:xfrm>
            <a:off x="11258550" y="3409950"/>
            <a:ext cx="6324056" cy="36195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AEFF7"/>
                </a:solidFill>
                <a:latin typeface="Helvetica" pitchFamily="34" charset="0"/>
                <a:ea typeface="Helvetica" pitchFamily="34" charset="-122"/>
                <a:cs typeface="Helvetica" pitchFamily="34" charset="-120"/>
              </a:rPr>
              <a:t>camera + </a:t>
            </a:r>
            <a:r>
              <a:rPr lang="en-US" sz="2250" dirty="0" err="1">
                <a:solidFill>
                  <a:srgbClr val="EAEFF7"/>
                </a:solidFill>
                <a:latin typeface="Helvetica" pitchFamily="34" charset="0"/>
                <a:ea typeface="Helvetica" pitchFamily="34" charset="-122"/>
                <a:cs typeface="Helvetica" pitchFamily="34" charset="-120"/>
              </a:rPr>
              <a:t>permission_handler</a:t>
            </a:r>
            <a:r>
              <a:rPr lang="en-US" sz="2250" dirty="0">
                <a:solidFill>
                  <a:srgbClr val="EAEFF7"/>
                </a:solidFill>
                <a:latin typeface="Helvetica" pitchFamily="34" charset="0"/>
                <a:ea typeface="Helvetica" pitchFamily="34" charset="-122"/>
                <a:cs typeface="Helvetica" pitchFamily="34" charset="-120"/>
              </a:rPr>
              <a:t>(</a:t>
            </a:r>
            <a:r>
              <a:rPr lang="ko-KR" altLang="en-US" sz="2250" dirty="0">
                <a:solidFill>
                  <a:srgbClr val="EAEFF7"/>
                </a:solidFill>
                <a:latin typeface="Helvetica" pitchFamily="34" charset="0"/>
                <a:ea typeface="Helvetica" pitchFamily="34" charset="-122"/>
                <a:cs typeface="Helvetica" pitchFamily="34" charset="-120"/>
              </a:rPr>
              <a:t>카메라 권한 허가</a:t>
            </a:r>
            <a:r>
              <a:rPr lang="en-US" altLang="ko-KR" sz="2250" dirty="0">
                <a:solidFill>
                  <a:srgbClr val="EAEFF7"/>
                </a:solidFill>
                <a:latin typeface="Helvetica" pitchFamily="34" charset="0"/>
                <a:ea typeface="Helvetica" pitchFamily="34" charset="-122"/>
                <a:cs typeface="Helvetica" pitchFamily="34" charset="-120"/>
              </a:rPr>
              <a:t>)</a:t>
            </a:r>
            <a:endParaRPr lang="en-US" sz="2250" dirty="0"/>
          </a:p>
        </p:txBody>
      </p:sp>
      <p:sp>
        <p:nvSpPr>
          <p:cNvPr id="17" name="Shape 15"/>
          <p:cNvSpPr/>
          <p:nvPr/>
        </p:nvSpPr>
        <p:spPr>
          <a:xfrm>
            <a:off x="1047750" y="4791075"/>
            <a:ext cx="7829550" cy="9525"/>
          </a:xfrm>
          <a:prstGeom prst="rect">
            <a:avLst/>
          </a:prstGeom>
          <a:solidFill>
            <a:srgbClr val="1A2840"/>
          </a:solidFill>
          <a:ln/>
        </p:spPr>
        <p:txBody>
          <a:bodyPr/>
          <a:lstStyle/>
          <a:p>
            <a:endParaRPr lang="ko-KR" altLang="en-US"/>
          </a:p>
        </p:txBody>
      </p:sp>
      <p:sp>
        <p:nvSpPr>
          <p:cNvPr id="18" name="Text 16"/>
          <p:cNvSpPr/>
          <p:nvPr/>
        </p:nvSpPr>
        <p:spPr>
          <a:xfrm>
            <a:off x="1047750" y="4238625"/>
            <a:ext cx="1695450" cy="333375"/>
          </a:xfrm>
          <a:prstGeom prst="rect">
            <a:avLst/>
          </a:prstGeom>
          <a:noFill/>
          <a:ln/>
        </p:spPr>
        <p:txBody>
          <a:bodyPr wrap="square" lIns="25400" tIns="25400" rIns="25400" bIns="25400" rtlCol="0" anchor="t">
            <a:normAutofit lnSpcReduction="10000"/>
          </a:bodyPr>
          <a:lstStyle/>
          <a:p>
            <a:pPr marL="0" indent="0" algn="l">
              <a:buNone/>
            </a:pPr>
            <a:r>
              <a:rPr lang="en-US" sz="1875" kern="0" spc="113" dirty="0">
                <a:solidFill>
                  <a:srgbClr val="6FE3D2"/>
                </a:solidFill>
                <a:latin typeface="Courier New" pitchFamily="34" charset="0"/>
                <a:ea typeface="Courier New" pitchFamily="34" charset="-122"/>
                <a:cs typeface="Courier New" pitchFamily="34" charset="-120"/>
              </a:rPr>
              <a:t>저장</a:t>
            </a:r>
            <a:endParaRPr lang="en-US" sz="1875" dirty="0"/>
          </a:p>
        </p:txBody>
      </p:sp>
      <p:sp>
        <p:nvSpPr>
          <p:cNvPr id="19" name="Text 17"/>
          <p:cNvSpPr/>
          <p:nvPr/>
        </p:nvSpPr>
        <p:spPr>
          <a:xfrm>
            <a:off x="2895600" y="4200525"/>
            <a:ext cx="6362700" cy="361950"/>
          </a:xfrm>
          <a:prstGeom prst="rect">
            <a:avLst/>
          </a:prstGeom>
          <a:noFill/>
          <a:ln/>
        </p:spPr>
        <p:txBody>
          <a:bodyPr wrap="square" lIns="25400" tIns="25400" rIns="25400" bIns="25400" rtlCol="0" anchor="t">
            <a:normAutofit lnSpcReduction="10000"/>
          </a:bodyPr>
          <a:lstStyle/>
          <a:p>
            <a:pPr marL="0" indent="0" algn="l">
              <a:buNone/>
            </a:pPr>
            <a:r>
              <a:rPr lang="en-US" sz="2250" dirty="0" err="1">
                <a:solidFill>
                  <a:srgbClr val="EAEFF7"/>
                </a:solidFill>
                <a:latin typeface="Helvetica" pitchFamily="34" charset="0"/>
                <a:ea typeface="Helvetica" pitchFamily="34" charset="-122"/>
                <a:cs typeface="Helvetica" pitchFamily="34" charset="-120"/>
              </a:rPr>
              <a:t>shared_preferences</a:t>
            </a:r>
            <a:r>
              <a:rPr lang="en-US" sz="2250" dirty="0">
                <a:solidFill>
                  <a:srgbClr val="EAEFF7"/>
                </a:solidFill>
                <a:latin typeface="Helvetica" pitchFamily="34" charset="0"/>
                <a:ea typeface="Helvetica" pitchFamily="34" charset="-122"/>
                <a:cs typeface="Helvetica" pitchFamily="34" charset="-120"/>
              </a:rPr>
              <a:t>(</a:t>
            </a:r>
            <a:r>
              <a:rPr lang="ko-KR" altLang="en-US" sz="2250" dirty="0" err="1">
                <a:solidFill>
                  <a:srgbClr val="EAEFF7"/>
                </a:solidFill>
                <a:latin typeface="Helvetica" pitchFamily="34" charset="0"/>
                <a:ea typeface="Helvetica" pitchFamily="34" charset="-122"/>
                <a:cs typeface="Helvetica" pitchFamily="34" charset="-120"/>
              </a:rPr>
              <a:t>설정값</a:t>
            </a:r>
            <a:r>
              <a:rPr lang="ko-KR" altLang="en-US" sz="2250" dirty="0">
                <a:solidFill>
                  <a:srgbClr val="EAEFF7"/>
                </a:solidFill>
                <a:latin typeface="Helvetica" pitchFamily="34" charset="0"/>
                <a:ea typeface="Helvetica" pitchFamily="34" charset="-122"/>
                <a:cs typeface="Helvetica" pitchFamily="34" charset="-120"/>
              </a:rPr>
              <a:t> 저장을 위함</a:t>
            </a:r>
            <a:r>
              <a:rPr lang="en-US" altLang="ko-KR" sz="2250" dirty="0">
                <a:solidFill>
                  <a:srgbClr val="EAEFF7"/>
                </a:solidFill>
                <a:latin typeface="Helvetica" pitchFamily="34" charset="0"/>
                <a:ea typeface="Helvetica" pitchFamily="34" charset="-122"/>
                <a:cs typeface="Helvetica" pitchFamily="34" charset="-120"/>
              </a:rPr>
              <a:t>)</a:t>
            </a:r>
            <a:endParaRPr lang="en-US" sz="2250" dirty="0"/>
          </a:p>
        </p:txBody>
      </p:sp>
      <p:sp>
        <p:nvSpPr>
          <p:cNvPr id="20" name="Shape 18"/>
          <p:cNvSpPr/>
          <p:nvPr/>
        </p:nvSpPr>
        <p:spPr>
          <a:xfrm>
            <a:off x="9410700" y="4791075"/>
            <a:ext cx="7829550" cy="9525"/>
          </a:xfrm>
          <a:prstGeom prst="rect">
            <a:avLst/>
          </a:prstGeom>
          <a:solidFill>
            <a:srgbClr val="1A2840"/>
          </a:solidFill>
          <a:ln/>
        </p:spPr>
        <p:txBody>
          <a:bodyPr/>
          <a:lstStyle/>
          <a:p>
            <a:endParaRPr lang="ko-KR" altLang="en-US"/>
          </a:p>
        </p:txBody>
      </p:sp>
      <p:sp>
        <p:nvSpPr>
          <p:cNvPr id="21" name="Text 19"/>
          <p:cNvSpPr/>
          <p:nvPr/>
        </p:nvSpPr>
        <p:spPr>
          <a:xfrm>
            <a:off x="9410700" y="4314825"/>
            <a:ext cx="1695450" cy="333375"/>
          </a:xfrm>
          <a:prstGeom prst="rect">
            <a:avLst/>
          </a:prstGeom>
          <a:noFill/>
          <a:ln/>
        </p:spPr>
        <p:txBody>
          <a:bodyPr wrap="square" lIns="25400" tIns="25400" rIns="25400" bIns="25400" rtlCol="0" anchor="t">
            <a:normAutofit lnSpcReduction="10000"/>
          </a:bodyPr>
          <a:lstStyle/>
          <a:p>
            <a:pPr marL="0" indent="0" algn="l">
              <a:buNone/>
            </a:pPr>
            <a:r>
              <a:rPr lang="en-US" sz="1875" kern="0" spc="113" dirty="0">
                <a:solidFill>
                  <a:srgbClr val="6FE3D2"/>
                </a:solidFill>
                <a:latin typeface="Courier New" pitchFamily="34" charset="0"/>
                <a:ea typeface="Courier New" pitchFamily="34" charset="-122"/>
                <a:cs typeface="Courier New" pitchFamily="34" charset="-120"/>
              </a:rPr>
              <a:t>선택 AI</a:t>
            </a:r>
            <a:endParaRPr lang="en-US" sz="1875" dirty="0"/>
          </a:p>
        </p:txBody>
      </p:sp>
      <p:sp>
        <p:nvSpPr>
          <p:cNvPr id="22" name="Text 20"/>
          <p:cNvSpPr/>
          <p:nvPr/>
        </p:nvSpPr>
        <p:spPr>
          <a:xfrm>
            <a:off x="11258550" y="4200525"/>
            <a:ext cx="4134465" cy="457200"/>
          </a:xfrm>
          <a:prstGeom prst="rect">
            <a:avLst/>
          </a:prstGeom>
          <a:noFill/>
          <a:ln/>
        </p:spPr>
        <p:txBody>
          <a:bodyPr wrap="square" lIns="25400" tIns="25400" rIns="25400" bIns="25400" rtlCol="0" anchor="t">
            <a:normAutofit/>
          </a:bodyPr>
          <a:lstStyle/>
          <a:p>
            <a:pPr marL="0" indent="0" algn="l">
              <a:buNone/>
            </a:pPr>
            <a:r>
              <a:rPr lang="en-US" sz="2250" dirty="0">
                <a:solidFill>
                  <a:srgbClr val="EAEFF7"/>
                </a:solidFill>
                <a:latin typeface="Helvetica" pitchFamily="34" charset="0"/>
                <a:ea typeface="Helvetica" pitchFamily="34" charset="-122"/>
                <a:cs typeface="Helvetica" pitchFamily="34" charset="-120"/>
              </a:rPr>
              <a:t>Gemini API (요약 통계만)</a:t>
            </a:r>
            <a:endParaRPr lang="en-US" sz="2250" dirty="0"/>
          </a:p>
        </p:txBody>
      </p:sp>
      <p:sp>
        <p:nvSpPr>
          <p:cNvPr id="23" name="Shape 21"/>
          <p:cNvSpPr/>
          <p:nvPr/>
        </p:nvSpPr>
        <p:spPr>
          <a:xfrm>
            <a:off x="1047750" y="5581650"/>
            <a:ext cx="7829550" cy="9525"/>
          </a:xfrm>
          <a:prstGeom prst="rect">
            <a:avLst/>
          </a:prstGeom>
          <a:solidFill>
            <a:srgbClr val="1A2840"/>
          </a:solidFill>
          <a:ln/>
        </p:spPr>
        <p:txBody>
          <a:bodyPr/>
          <a:lstStyle/>
          <a:p>
            <a:endParaRPr lang="ko-KR" altLang="en-US"/>
          </a:p>
        </p:txBody>
      </p:sp>
      <p:sp>
        <p:nvSpPr>
          <p:cNvPr id="24" name="Text 22"/>
          <p:cNvSpPr/>
          <p:nvPr/>
        </p:nvSpPr>
        <p:spPr>
          <a:xfrm>
            <a:off x="1047750" y="5105400"/>
            <a:ext cx="1695450" cy="333375"/>
          </a:xfrm>
          <a:prstGeom prst="rect">
            <a:avLst/>
          </a:prstGeom>
          <a:noFill/>
          <a:ln/>
        </p:spPr>
        <p:txBody>
          <a:bodyPr wrap="square" lIns="25400" tIns="25400" rIns="25400" bIns="25400" rtlCol="0" anchor="t">
            <a:normAutofit lnSpcReduction="10000"/>
          </a:bodyPr>
          <a:lstStyle/>
          <a:p>
            <a:pPr marL="0" indent="0" algn="l">
              <a:buNone/>
            </a:pPr>
            <a:r>
              <a:rPr lang="en-US" sz="1875" kern="0" spc="113" dirty="0">
                <a:solidFill>
                  <a:srgbClr val="6FE3D2"/>
                </a:solidFill>
                <a:latin typeface="Courier New" pitchFamily="34" charset="0"/>
                <a:ea typeface="Courier New" pitchFamily="34" charset="-122"/>
                <a:cs typeface="Courier New" pitchFamily="34" charset="-120"/>
              </a:rPr>
              <a:t>신호처리</a:t>
            </a:r>
            <a:endParaRPr lang="en-US" sz="1875" dirty="0"/>
          </a:p>
        </p:txBody>
      </p:sp>
      <p:sp>
        <p:nvSpPr>
          <p:cNvPr id="25" name="Text 23"/>
          <p:cNvSpPr/>
          <p:nvPr/>
        </p:nvSpPr>
        <p:spPr>
          <a:xfrm>
            <a:off x="2895600" y="4991100"/>
            <a:ext cx="5096685" cy="457200"/>
          </a:xfrm>
          <a:prstGeom prst="rect">
            <a:avLst/>
          </a:prstGeom>
          <a:noFill/>
          <a:ln/>
        </p:spPr>
        <p:txBody>
          <a:bodyPr wrap="square" lIns="25400" tIns="25400" rIns="25400" bIns="25400" rtlCol="0" anchor="t">
            <a:normAutofit fontScale="92500"/>
          </a:bodyPr>
          <a:lstStyle/>
          <a:p>
            <a:pPr marL="0" indent="0" algn="l">
              <a:buNone/>
            </a:pPr>
            <a:r>
              <a:rPr lang="en-US" sz="2250" dirty="0">
                <a:solidFill>
                  <a:srgbClr val="EAEFF7"/>
                </a:solidFill>
                <a:latin typeface="Helvetica" pitchFamily="34" charset="0"/>
                <a:ea typeface="Helvetica" pitchFamily="34" charset="-122"/>
                <a:cs typeface="Helvetica" pitchFamily="34" charset="-120"/>
              </a:rPr>
              <a:t>자체 FFT · HPF · 이동평균 · ICNIRP UX</a:t>
            </a:r>
            <a:endParaRPr lang="en-US" sz="2250" dirty="0"/>
          </a:p>
        </p:txBody>
      </p:sp>
      <p:sp>
        <p:nvSpPr>
          <p:cNvPr id="26" name="Shape 24"/>
          <p:cNvSpPr/>
          <p:nvPr/>
        </p:nvSpPr>
        <p:spPr>
          <a:xfrm>
            <a:off x="9410700" y="5581650"/>
            <a:ext cx="7829550" cy="9525"/>
          </a:xfrm>
          <a:prstGeom prst="rect">
            <a:avLst/>
          </a:prstGeom>
          <a:solidFill>
            <a:srgbClr val="1A2840"/>
          </a:solidFill>
          <a:ln/>
        </p:spPr>
        <p:txBody>
          <a:bodyPr/>
          <a:lstStyle/>
          <a:p>
            <a:endParaRPr lang="ko-KR" altLang="en-US"/>
          </a:p>
        </p:txBody>
      </p:sp>
      <p:sp>
        <p:nvSpPr>
          <p:cNvPr id="27" name="Text 25"/>
          <p:cNvSpPr/>
          <p:nvPr/>
        </p:nvSpPr>
        <p:spPr>
          <a:xfrm>
            <a:off x="9410700" y="5029200"/>
            <a:ext cx="1695450" cy="333375"/>
          </a:xfrm>
          <a:prstGeom prst="rect">
            <a:avLst/>
          </a:prstGeom>
          <a:noFill/>
          <a:ln/>
        </p:spPr>
        <p:txBody>
          <a:bodyPr wrap="square" lIns="25400" tIns="25400" rIns="25400" bIns="25400" rtlCol="0" anchor="t">
            <a:normAutofit lnSpcReduction="10000"/>
          </a:bodyPr>
          <a:lstStyle/>
          <a:p>
            <a:pPr marL="0" indent="0" algn="l">
              <a:buNone/>
            </a:pPr>
            <a:r>
              <a:rPr lang="en-US" sz="1875" kern="0" spc="113" dirty="0">
                <a:solidFill>
                  <a:srgbClr val="6FE3D2"/>
                </a:solidFill>
                <a:latin typeface="Courier New" pitchFamily="34" charset="0"/>
                <a:ea typeface="Courier New" pitchFamily="34" charset="-122"/>
                <a:cs typeface="Courier New" pitchFamily="34" charset="-120"/>
              </a:rPr>
              <a:t>배포</a:t>
            </a:r>
            <a:endParaRPr lang="en-US" sz="1875" dirty="0"/>
          </a:p>
        </p:txBody>
      </p:sp>
      <p:sp>
        <p:nvSpPr>
          <p:cNvPr id="28" name="Text 26"/>
          <p:cNvSpPr/>
          <p:nvPr/>
        </p:nvSpPr>
        <p:spPr>
          <a:xfrm>
            <a:off x="11258550" y="4991100"/>
            <a:ext cx="4294656" cy="36195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AEFF7"/>
                </a:solidFill>
                <a:latin typeface="Helvetica" pitchFamily="34" charset="0"/>
                <a:ea typeface="Helvetica" pitchFamily="34" charset="-122"/>
                <a:cs typeface="Helvetica" pitchFamily="34" charset="-120"/>
              </a:rPr>
              <a:t>Android APK Release (46.5MB)</a:t>
            </a:r>
            <a:endParaRPr lang="en-US" sz="2250" dirty="0"/>
          </a:p>
        </p:txBody>
      </p:sp>
      <p:sp>
        <p:nvSpPr>
          <p:cNvPr id="29" name="Shape 27"/>
          <p:cNvSpPr/>
          <p:nvPr/>
        </p:nvSpPr>
        <p:spPr>
          <a:xfrm>
            <a:off x="1047750" y="6438901"/>
            <a:ext cx="16192500" cy="771525"/>
          </a:xfrm>
          <a:prstGeom prst="roundRect">
            <a:avLst>
              <a:gd name="adj" fmla="val 16667"/>
            </a:avLst>
          </a:prstGeom>
          <a:solidFill>
            <a:srgbClr val="0B1322"/>
          </a:solidFill>
          <a:ln w="9525">
            <a:solidFill>
              <a:srgbClr val="1F8B7A"/>
            </a:solidFill>
            <a:prstDash val="solid"/>
          </a:ln>
        </p:spPr>
        <p:txBody>
          <a:bodyPr/>
          <a:lstStyle/>
          <a:p>
            <a:endParaRPr lang="ko-KR" altLang="en-US"/>
          </a:p>
        </p:txBody>
      </p:sp>
      <p:sp>
        <p:nvSpPr>
          <p:cNvPr id="30" name="Text 28"/>
          <p:cNvSpPr/>
          <p:nvPr/>
        </p:nvSpPr>
        <p:spPr>
          <a:xfrm>
            <a:off x="1323975" y="6710364"/>
            <a:ext cx="2106513"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52" dirty="0">
                <a:solidFill>
                  <a:srgbClr val="6FE3D2"/>
                </a:solidFill>
                <a:latin typeface="Courier New" pitchFamily="34" charset="0"/>
                <a:ea typeface="Courier New" pitchFamily="34" charset="-122"/>
                <a:cs typeface="Courier New" pitchFamily="34" charset="-120"/>
              </a:rPr>
              <a:t>ARCHITECTURE</a:t>
            </a:r>
            <a:endParaRPr lang="en-US" sz="1800" dirty="0"/>
          </a:p>
        </p:txBody>
      </p:sp>
      <p:sp>
        <p:nvSpPr>
          <p:cNvPr id="31" name="Text 29"/>
          <p:cNvSpPr/>
          <p:nvPr/>
        </p:nvSpPr>
        <p:spPr>
          <a:xfrm>
            <a:off x="3544788" y="6667501"/>
            <a:ext cx="7341507" cy="38100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chemeClr val="bg1"/>
                </a:solidFill>
                <a:latin typeface="Courier New" pitchFamily="34" charset="0"/>
                <a:ea typeface="Courier New" pitchFamily="34" charset="-122"/>
                <a:cs typeface="Courier New" pitchFamily="34" charset="-120"/>
              </a:rPr>
              <a:t>센서 → Signal Processing → Provider → 4탭 UI</a:t>
            </a:r>
            <a:endParaRPr lang="en-US" sz="2175" b="1" dirty="0">
              <a:solidFill>
                <a:schemeClr val="bg1"/>
              </a:solidFill>
            </a:endParaRPr>
          </a:p>
        </p:txBody>
      </p:sp>
      <p:sp>
        <p:nvSpPr>
          <p:cNvPr id="39" name="Text 0">
            <a:extLst>
              <a:ext uri="{FF2B5EF4-FFF2-40B4-BE49-F238E27FC236}">
                <a16:creationId xmlns:a16="http://schemas.microsoft.com/office/drawing/2014/main" id="{A81C19A4-7F25-F2A1-4E44-844886FBC8E2}"/>
              </a:ext>
            </a:extLst>
          </p:cNvPr>
          <p:cNvSpPr/>
          <p:nvPr/>
        </p:nvSpPr>
        <p:spPr>
          <a:xfrm>
            <a:off x="1047750" y="771525"/>
            <a:ext cx="47252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kern="0" spc="390" dirty="0">
                <a:solidFill>
                  <a:schemeClr val="bg1"/>
                </a:solidFill>
                <a:latin typeface="Courier New" pitchFamily="34" charset="0"/>
                <a:ea typeface="Courier New" pitchFamily="34" charset="-122"/>
                <a:cs typeface="Courier New" pitchFamily="34" charset="-120"/>
              </a:rPr>
              <a:t>09</a:t>
            </a:r>
            <a:endParaRPr lang="en-US" sz="1950" dirty="0">
              <a:solidFill>
                <a:schemeClr val="bg1"/>
              </a:solidFill>
            </a:endParaRPr>
          </a:p>
        </p:txBody>
      </p:sp>
      <p:sp>
        <p:nvSpPr>
          <p:cNvPr id="41" name="Text 1">
            <a:extLst>
              <a:ext uri="{FF2B5EF4-FFF2-40B4-BE49-F238E27FC236}">
                <a16:creationId xmlns:a16="http://schemas.microsoft.com/office/drawing/2014/main" id="{53CD3DFC-73E6-D2E2-0E87-C37297123DC4}"/>
              </a:ext>
            </a:extLst>
          </p:cNvPr>
          <p:cNvSpPr/>
          <p:nvPr/>
        </p:nvSpPr>
        <p:spPr>
          <a:xfrm>
            <a:off x="1596479" y="762000"/>
            <a:ext cx="4388011" cy="342900"/>
          </a:xfrm>
          <a:prstGeom prst="rect">
            <a:avLst/>
          </a:prstGeom>
          <a:noFill/>
          <a:ln/>
        </p:spPr>
        <p:txBody>
          <a:bodyPr wrap="square" lIns="25400" tIns="25400" rIns="25400" bIns="25400" rtlCol="0" anchor="t">
            <a:normAutofit lnSpcReduction="10000"/>
          </a:bodyPr>
          <a:lstStyle/>
          <a:p>
            <a:pPr marL="0" indent="0" algn="l">
              <a:buNone/>
            </a:pPr>
            <a:r>
              <a:rPr lang="ko-KR" altLang="en-US" sz="1950" kern="0" spc="390" dirty="0">
                <a:solidFill>
                  <a:srgbClr val="6FE3D2"/>
                </a:solidFill>
                <a:latin typeface="Courier New" pitchFamily="34" charset="0"/>
                <a:ea typeface="Courier New" pitchFamily="34" charset="-122"/>
                <a:cs typeface="Courier New" pitchFamily="34" charset="-120"/>
              </a:rPr>
              <a:t>기술 스택</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C16"/>
        </a:solidFill>
        <a:effectLst/>
      </p:bgPr>
    </p:bg>
    <p:spTree>
      <p:nvGrpSpPr>
        <p:cNvPr id="1" name=""/>
        <p:cNvGrpSpPr/>
        <p:nvPr/>
      </p:nvGrpSpPr>
      <p:grpSpPr>
        <a:xfrm>
          <a:off x="0" y="0"/>
          <a:ext cx="0" cy="0"/>
          <a:chOff x="0" y="0"/>
          <a:chExt cx="0" cy="0"/>
        </a:xfrm>
      </p:grpSpPr>
      <p:sp>
        <p:nvSpPr>
          <p:cNvPr id="4" name="Text 2"/>
          <p:cNvSpPr/>
          <p:nvPr/>
        </p:nvSpPr>
        <p:spPr>
          <a:xfrm>
            <a:off x="1047750" y="1390650"/>
            <a:ext cx="16678275" cy="866775"/>
          </a:xfrm>
          <a:prstGeom prst="rect">
            <a:avLst/>
          </a:prstGeom>
          <a:noFill/>
          <a:ln/>
        </p:spPr>
        <p:txBody>
          <a:bodyPr wrap="square" lIns="25400" tIns="25400" rIns="25400" bIns="25400" rtlCol="0" anchor="t">
            <a:normAutofit/>
          </a:bodyPr>
          <a:lstStyle/>
          <a:p>
            <a:pPr marL="0" indent="0" algn="l">
              <a:buNone/>
            </a:pPr>
            <a:r>
              <a:rPr lang="ko-KR" altLang="en-US" sz="4500" b="1" kern="0" spc="-45" dirty="0">
                <a:solidFill>
                  <a:srgbClr val="EAEFF7"/>
                </a:solidFill>
                <a:latin typeface="Helvetica" pitchFamily="34" charset="0"/>
                <a:ea typeface="Helvetica" pitchFamily="34" charset="-122"/>
                <a:cs typeface="Helvetica" pitchFamily="34" charset="-120"/>
              </a:rPr>
              <a:t>어떠한 근거로 사용자들이 이 앱을 신뢰할까</a:t>
            </a:r>
            <a:r>
              <a:rPr lang="en-US" altLang="ko-KR" sz="4500" b="1" kern="0" spc="-45" dirty="0">
                <a:solidFill>
                  <a:srgbClr val="EAEFF7"/>
                </a:solidFill>
                <a:latin typeface="Helvetica" pitchFamily="34" charset="0"/>
                <a:ea typeface="Helvetica" pitchFamily="34" charset="-122"/>
                <a:cs typeface="Helvetica" pitchFamily="34" charset="-120"/>
              </a:rPr>
              <a:t>?</a:t>
            </a:r>
            <a:endParaRPr lang="en-US" sz="4500" dirty="0"/>
          </a:p>
        </p:txBody>
      </p:sp>
      <p:sp>
        <p:nvSpPr>
          <p:cNvPr id="6" name="Shape 4"/>
          <p:cNvSpPr/>
          <p:nvPr/>
        </p:nvSpPr>
        <p:spPr>
          <a:xfrm>
            <a:off x="1047751" y="3063180"/>
            <a:ext cx="7972425" cy="4147517"/>
          </a:xfrm>
          <a:prstGeom prst="roundRect">
            <a:avLst>
              <a:gd name="adj" fmla="val 5682"/>
            </a:avLst>
          </a:prstGeom>
          <a:solidFill>
            <a:srgbClr val="0E1626"/>
          </a:solidFill>
          <a:ln w="9525">
            <a:solidFill>
              <a:srgbClr val="1F8B7A"/>
            </a:solidFill>
            <a:prstDash val="solid"/>
          </a:ln>
        </p:spPr>
        <p:txBody>
          <a:bodyPr/>
          <a:lstStyle/>
          <a:p>
            <a:endParaRPr lang="ko-KR" altLang="en-US"/>
          </a:p>
        </p:txBody>
      </p:sp>
      <p:sp>
        <p:nvSpPr>
          <p:cNvPr id="7" name="Text 5"/>
          <p:cNvSpPr/>
          <p:nvPr/>
        </p:nvSpPr>
        <p:spPr>
          <a:xfrm>
            <a:off x="1343025" y="3320355"/>
            <a:ext cx="7603331" cy="390525"/>
          </a:xfrm>
          <a:prstGeom prst="rect">
            <a:avLst/>
          </a:prstGeom>
          <a:noFill/>
          <a:ln/>
        </p:spPr>
        <p:txBody>
          <a:bodyPr wrap="square" lIns="25400" tIns="25400" rIns="25400" bIns="25400" rtlCol="0" anchor="t">
            <a:normAutofit/>
          </a:bodyPr>
          <a:lstStyle/>
          <a:p>
            <a:pPr marL="0" indent="0" algn="l">
              <a:buNone/>
            </a:pPr>
            <a:r>
              <a:rPr lang="en-US" sz="1875" kern="0" spc="188" dirty="0">
                <a:solidFill>
                  <a:srgbClr val="6FE3D2"/>
                </a:solidFill>
                <a:latin typeface="Courier New" pitchFamily="34" charset="0"/>
                <a:ea typeface="Courier New" pitchFamily="34" charset="-122"/>
                <a:cs typeface="Courier New" pitchFamily="34" charset="-120"/>
              </a:rPr>
              <a:t>✓ </a:t>
            </a:r>
            <a:r>
              <a:rPr lang="ko-KR" altLang="en-US" sz="1875" kern="0" spc="188" dirty="0">
                <a:solidFill>
                  <a:srgbClr val="6FE3D2"/>
                </a:solidFill>
                <a:latin typeface="Courier New" pitchFamily="34" charset="0"/>
                <a:ea typeface="Courier New" pitchFamily="34" charset="-122"/>
                <a:cs typeface="Courier New" pitchFamily="34" charset="-120"/>
              </a:rPr>
              <a:t>보장하는 내용</a:t>
            </a:r>
            <a:endParaRPr lang="en-US" sz="1875" dirty="0"/>
          </a:p>
        </p:txBody>
      </p:sp>
      <p:sp>
        <p:nvSpPr>
          <p:cNvPr id="10" name="Text 8"/>
          <p:cNvSpPr/>
          <p:nvPr/>
        </p:nvSpPr>
        <p:spPr>
          <a:xfrm>
            <a:off x="1343024" y="3768997"/>
            <a:ext cx="7603331" cy="520974"/>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D7DFEE"/>
                </a:solidFill>
                <a:latin typeface="Helvetica" pitchFamily="34" charset="0"/>
                <a:ea typeface="Helvetica" pitchFamily="34" charset="-122"/>
                <a:cs typeface="Helvetica" pitchFamily="34" charset="-120"/>
              </a:rPr>
              <a:t>· 측정 한계·비계측기 성격을 앱 </a:t>
            </a:r>
            <a:r>
              <a:rPr lang="en-US" sz="2025" dirty="0" err="1">
                <a:solidFill>
                  <a:srgbClr val="D7DFEE"/>
                </a:solidFill>
                <a:latin typeface="Helvetica" pitchFamily="34" charset="0"/>
                <a:ea typeface="Helvetica" pitchFamily="34" charset="-122"/>
                <a:cs typeface="Helvetica" pitchFamily="34" charset="-120"/>
              </a:rPr>
              <a:t>안에서</a:t>
            </a:r>
            <a:r>
              <a:rPr lang="en-US" sz="2025" dirty="0">
                <a:solidFill>
                  <a:srgbClr val="D7DFEE"/>
                </a:solidFill>
                <a:latin typeface="Helvetica" pitchFamily="34" charset="0"/>
                <a:ea typeface="Helvetica" pitchFamily="34" charset="-122"/>
                <a:cs typeface="Helvetica" pitchFamily="34" charset="-120"/>
              </a:rPr>
              <a:t> </a:t>
            </a:r>
            <a:r>
              <a:rPr lang="ko-KR" altLang="en-US" sz="2025" dirty="0">
                <a:solidFill>
                  <a:srgbClr val="D7DFEE"/>
                </a:solidFill>
                <a:latin typeface="Helvetica" pitchFamily="34" charset="0"/>
                <a:ea typeface="Helvetica" pitchFamily="34" charset="-122"/>
                <a:cs typeface="Helvetica" pitchFamily="34" charset="-120"/>
              </a:rPr>
              <a:t>사전에 고지</a:t>
            </a:r>
            <a:endParaRPr lang="en-US" sz="2025" dirty="0"/>
          </a:p>
        </p:txBody>
      </p:sp>
      <p:sp>
        <p:nvSpPr>
          <p:cNvPr id="11" name="Shape 9"/>
          <p:cNvSpPr/>
          <p:nvPr/>
        </p:nvSpPr>
        <p:spPr>
          <a:xfrm>
            <a:off x="9267825" y="3063180"/>
            <a:ext cx="7972425" cy="4147517"/>
          </a:xfrm>
          <a:prstGeom prst="roundRect">
            <a:avLst>
              <a:gd name="adj" fmla="val 5682"/>
            </a:avLst>
          </a:prstGeom>
          <a:solidFill>
            <a:srgbClr val="0E1626"/>
          </a:solidFill>
          <a:ln w="9525">
            <a:solidFill>
              <a:srgbClr val="4A2730"/>
            </a:solidFill>
            <a:prstDash val="solid"/>
          </a:ln>
        </p:spPr>
        <p:txBody>
          <a:bodyPr/>
          <a:lstStyle/>
          <a:p>
            <a:endParaRPr lang="ko-KR" altLang="en-US"/>
          </a:p>
        </p:txBody>
      </p:sp>
      <p:sp>
        <p:nvSpPr>
          <p:cNvPr id="12" name="Text 10"/>
          <p:cNvSpPr/>
          <p:nvPr/>
        </p:nvSpPr>
        <p:spPr>
          <a:xfrm>
            <a:off x="9563100" y="3320355"/>
            <a:ext cx="7603331" cy="371475"/>
          </a:xfrm>
          <a:prstGeom prst="rect">
            <a:avLst/>
          </a:prstGeom>
          <a:noFill/>
          <a:ln/>
        </p:spPr>
        <p:txBody>
          <a:bodyPr wrap="square" lIns="25400" tIns="25400" rIns="25400" bIns="25400" rtlCol="0" anchor="t">
            <a:normAutofit/>
          </a:bodyPr>
          <a:lstStyle/>
          <a:p>
            <a:pPr marL="0" indent="0" algn="l">
              <a:buNone/>
            </a:pPr>
            <a:r>
              <a:rPr lang="en-US" sz="1875" kern="0" spc="188" dirty="0">
                <a:solidFill>
                  <a:srgbClr val="FF8A8E"/>
                </a:solidFill>
                <a:latin typeface="Courier New" pitchFamily="34" charset="0"/>
                <a:ea typeface="Courier New" pitchFamily="34" charset="-122"/>
                <a:cs typeface="Courier New" pitchFamily="34" charset="-120"/>
              </a:rPr>
              <a:t>✕ </a:t>
            </a:r>
            <a:r>
              <a:rPr lang="en-US" sz="1875" kern="0" spc="188" dirty="0" err="1">
                <a:solidFill>
                  <a:srgbClr val="FF8A8E"/>
                </a:solidFill>
                <a:latin typeface="Courier New" pitchFamily="34" charset="0"/>
                <a:ea typeface="Courier New" pitchFamily="34" charset="-122"/>
                <a:cs typeface="Courier New" pitchFamily="34" charset="-120"/>
              </a:rPr>
              <a:t>보장하지</a:t>
            </a:r>
            <a:r>
              <a:rPr lang="en-US" sz="1875" kern="0" spc="188" dirty="0">
                <a:solidFill>
                  <a:srgbClr val="FF8A8E"/>
                </a:solidFill>
                <a:latin typeface="Courier New" pitchFamily="34" charset="0"/>
                <a:ea typeface="Courier New" pitchFamily="34" charset="-122"/>
                <a:cs typeface="Courier New" pitchFamily="34" charset="-120"/>
              </a:rPr>
              <a:t> </a:t>
            </a:r>
            <a:r>
              <a:rPr lang="ko-KR" altLang="en-US" sz="1875" kern="0" spc="188" dirty="0">
                <a:solidFill>
                  <a:srgbClr val="FF8A8E"/>
                </a:solidFill>
                <a:latin typeface="Courier New" pitchFamily="34" charset="0"/>
                <a:ea typeface="Courier New" pitchFamily="34" charset="-122"/>
                <a:cs typeface="Courier New" pitchFamily="34" charset="-120"/>
              </a:rPr>
              <a:t>않는 내용</a:t>
            </a:r>
            <a:endParaRPr lang="en-US" sz="1875" dirty="0"/>
          </a:p>
        </p:txBody>
      </p:sp>
      <p:sp>
        <p:nvSpPr>
          <p:cNvPr id="13" name="Text 11"/>
          <p:cNvSpPr/>
          <p:nvPr/>
        </p:nvSpPr>
        <p:spPr>
          <a:xfrm>
            <a:off x="9563100" y="3806130"/>
            <a:ext cx="7603331" cy="39811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D7DFEE"/>
                </a:solidFill>
                <a:latin typeface="Helvetica" pitchFamily="34" charset="0"/>
                <a:ea typeface="Helvetica" pitchFamily="34" charset="-122"/>
                <a:cs typeface="Helvetica" pitchFamily="34" charset="-120"/>
              </a:rPr>
              <a:t>· EMF </a:t>
            </a:r>
            <a:r>
              <a:rPr lang="en-US" sz="2025" dirty="0" err="1">
                <a:solidFill>
                  <a:srgbClr val="D7DFEE"/>
                </a:solidFill>
                <a:latin typeface="Helvetica" pitchFamily="34" charset="0"/>
                <a:ea typeface="Helvetica" pitchFamily="34" charset="-122"/>
                <a:cs typeface="Helvetica" pitchFamily="34" charset="-120"/>
              </a:rPr>
              <a:t>수치의</a:t>
            </a:r>
            <a:r>
              <a:rPr lang="en-US" sz="2025" dirty="0">
                <a:solidFill>
                  <a:srgbClr val="D7DFEE"/>
                </a:solidFill>
                <a:latin typeface="Helvetica" pitchFamily="34" charset="0"/>
                <a:ea typeface="Helvetica" pitchFamily="34" charset="-122"/>
                <a:cs typeface="Helvetica" pitchFamily="34" charset="-120"/>
              </a:rPr>
              <a:t> </a:t>
            </a:r>
            <a:r>
              <a:rPr lang="ko-KR" altLang="en-US" sz="2025" dirty="0">
                <a:solidFill>
                  <a:srgbClr val="D7DFEE"/>
                </a:solidFill>
                <a:latin typeface="Helvetica" pitchFamily="34" charset="0"/>
                <a:ea typeface="Helvetica" pitchFamily="34" charset="-122"/>
                <a:cs typeface="Helvetica" pitchFamily="34" charset="-120"/>
              </a:rPr>
              <a:t>절대적 정확도</a:t>
            </a:r>
            <a:endParaRPr lang="en-US" sz="2025" dirty="0"/>
          </a:p>
        </p:txBody>
      </p:sp>
      <p:sp>
        <p:nvSpPr>
          <p:cNvPr id="14" name="Text 12"/>
          <p:cNvSpPr/>
          <p:nvPr/>
        </p:nvSpPr>
        <p:spPr>
          <a:xfrm>
            <a:off x="9563100" y="4289971"/>
            <a:ext cx="7603331" cy="39811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D7DFEE"/>
                </a:solidFill>
                <a:latin typeface="Helvetica" pitchFamily="34" charset="0"/>
                <a:ea typeface="Helvetica" pitchFamily="34" charset="-122"/>
                <a:cs typeface="Helvetica" pitchFamily="34" charset="-120"/>
              </a:rPr>
              <a:t>· 낮은 Score = 학업·건강 </a:t>
            </a:r>
            <a:r>
              <a:rPr lang="en-US" sz="2025" dirty="0" err="1">
                <a:solidFill>
                  <a:srgbClr val="D7DFEE"/>
                </a:solidFill>
                <a:latin typeface="Helvetica" pitchFamily="34" charset="0"/>
                <a:ea typeface="Helvetica" pitchFamily="34" charset="-122"/>
                <a:cs typeface="Helvetica" pitchFamily="34" charset="-120"/>
              </a:rPr>
              <a:t>불리</a:t>
            </a:r>
            <a:r>
              <a:rPr lang="en-US" sz="2025" dirty="0">
                <a:solidFill>
                  <a:srgbClr val="D7DFEE"/>
                </a:solidFill>
                <a:latin typeface="Helvetica" pitchFamily="34" charset="0"/>
                <a:ea typeface="Helvetica" pitchFamily="34" charset="-122"/>
                <a:cs typeface="Helvetica" pitchFamily="34" charset="-120"/>
              </a:rPr>
              <a:t> </a:t>
            </a:r>
            <a:r>
              <a:rPr lang="en-US" sz="2025" dirty="0" err="1">
                <a:solidFill>
                  <a:srgbClr val="D7DFEE"/>
                </a:solidFill>
                <a:latin typeface="Helvetica" pitchFamily="34" charset="0"/>
                <a:ea typeface="Helvetica" pitchFamily="34" charset="-122"/>
                <a:cs typeface="Helvetica" pitchFamily="34" charset="-120"/>
              </a:rPr>
              <a:t>인과</a:t>
            </a:r>
            <a:r>
              <a:rPr lang="ko-KR" altLang="en-US" sz="2025" dirty="0">
                <a:solidFill>
                  <a:srgbClr val="D7DFEE"/>
                </a:solidFill>
                <a:latin typeface="Helvetica" pitchFamily="34" charset="0"/>
                <a:ea typeface="Helvetica" pitchFamily="34" charset="-122"/>
                <a:cs typeface="Helvetica" pitchFamily="34" charset="-120"/>
              </a:rPr>
              <a:t>성이 정확하게 증명되지 않음</a:t>
            </a:r>
            <a:endParaRPr lang="en-US" sz="2025" dirty="0"/>
          </a:p>
        </p:txBody>
      </p:sp>
      <p:sp>
        <p:nvSpPr>
          <p:cNvPr id="15" name="Text 13"/>
          <p:cNvSpPr/>
          <p:nvPr/>
        </p:nvSpPr>
        <p:spPr>
          <a:xfrm>
            <a:off x="9563100" y="4773811"/>
            <a:ext cx="7603331" cy="39811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025" dirty="0">
                <a:solidFill>
                  <a:srgbClr val="D7DFEE"/>
                </a:solidFill>
                <a:latin typeface="Helvetica" pitchFamily="34" charset="0"/>
                <a:ea typeface="Helvetica" pitchFamily="34" charset="-122"/>
                <a:cs typeface="Helvetica" pitchFamily="34" charset="-120"/>
              </a:rPr>
              <a:t>· </a:t>
            </a:r>
            <a:r>
              <a:rPr lang="en-US" sz="2025" dirty="0" err="1">
                <a:solidFill>
                  <a:srgbClr val="D7DFEE"/>
                </a:solidFill>
                <a:latin typeface="Helvetica" pitchFamily="34" charset="0"/>
                <a:ea typeface="Helvetica" pitchFamily="34" charset="-122"/>
                <a:cs typeface="Helvetica" pitchFamily="34" charset="-120"/>
              </a:rPr>
              <a:t>AR·맵</a:t>
            </a:r>
            <a:r>
              <a:rPr lang="en-US" sz="2025" dirty="0">
                <a:solidFill>
                  <a:srgbClr val="D7DFEE"/>
                </a:solidFill>
                <a:latin typeface="Helvetica" pitchFamily="34" charset="0"/>
                <a:ea typeface="Helvetica" pitchFamily="34" charset="-122"/>
                <a:cs typeface="Helvetica" pitchFamily="34" charset="-120"/>
              </a:rPr>
              <a:t> </a:t>
            </a:r>
            <a:r>
              <a:rPr lang="en-US" sz="2025" dirty="0" err="1">
                <a:solidFill>
                  <a:srgbClr val="D7DFEE"/>
                </a:solidFill>
                <a:latin typeface="Helvetica" pitchFamily="34" charset="0"/>
                <a:ea typeface="Helvetica" pitchFamily="34" charset="-122"/>
                <a:cs typeface="Helvetica" pitchFamily="34" charset="-120"/>
              </a:rPr>
              <a:t>위치의</a:t>
            </a:r>
            <a:r>
              <a:rPr lang="en-US" sz="2025" dirty="0">
                <a:solidFill>
                  <a:srgbClr val="D7DFEE"/>
                </a:solidFill>
                <a:latin typeface="Helvetica" pitchFamily="34" charset="0"/>
                <a:ea typeface="Helvetica" pitchFamily="34" charset="-122"/>
                <a:cs typeface="Helvetica" pitchFamily="34" charset="-120"/>
              </a:rPr>
              <a:t> </a:t>
            </a:r>
            <a:r>
              <a:rPr lang="en-US" sz="2025" dirty="0" err="1">
                <a:solidFill>
                  <a:srgbClr val="D7DFEE"/>
                </a:solidFill>
                <a:latin typeface="Helvetica" pitchFamily="34" charset="0"/>
                <a:ea typeface="Helvetica" pitchFamily="34" charset="-122"/>
                <a:cs typeface="Helvetica" pitchFamily="34" charset="-120"/>
              </a:rPr>
              <a:t>정밀도</a:t>
            </a:r>
            <a:r>
              <a:rPr lang="en-US" sz="2025" dirty="0">
                <a:solidFill>
                  <a:srgbClr val="D7DFEE"/>
                </a:solidFill>
                <a:latin typeface="Helvetica" pitchFamily="34" charset="0"/>
                <a:ea typeface="Helvetica" pitchFamily="34" charset="-122"/>
                <a:cs typeface="Helvetica" pitchFamily="34" charset="-120"/>
              </a:rPr>
              <a:t> (GPS</a:t>
            </a:r>
            <a:r>
              <a:rPr lang="ko-KR" altLang="en-US" sz="2025" dirty="0">
                <a:solidFill>
                  <a:srgbClr val="D7DFEE"/>
                </a:solidFill>
                <a:latin typeface="Helvetica" pitchFamily="34" charset="0"/>
                <a:ea typeface="Helvetica" pitchFamily="34" charset="-122"/>
                <a:cs typeface="Helvetica" pitchFamily="34" charset="-120"/>
              </a:rPr>
              <a:t>를 사용하지 않음</a:t>
            </a:r>
            <a:r>
              <a:rPr lang="en-US" altLang="ko-KR" sz="2025" dirty="0">
                <a:solidFill>
                  <a:srgbClr val="D7DFEE"/>
                </a:solidFill>
                <a:latin typeface="Helvetica" pitchFamily="34" charset="0"/>
                <a:ea typeface="Helvetica" pitchFamily="34" charset="-122"/>
                <a:cs typeface="Helvetica" pitchFamily="34" charset="-120"/>
              </a:rPr>
              <a:t>)</a:t>
            </a:r>
            <a:endParaRPr lang="en-US" sz="2025" dirty="0"/>
          </a:p>
        </p:txBody>
      </p:sp>
      <p:sp>
        <p:nvSpPr>
          <p:cNvPr id="22" name="Text 0">
            <a:extLst>
              <a:ext uri="{FF2B5EF4-FFF2-40B4-BE49-F238E27FC236}">
                <a16:creationId xmlns:a16="http://schemas.microsoft.com/office/drawing/2014/main" id="{7F138269-4215-1E79-F033-927D0752C77E}"/>
              </a:ext>
            </a:extLst>
          </p:cNvPr>
          <p:cNvSpPr/>
          <p:nvPr/>
        </p:nvSpPr>
        <p:spPr>
          <a:xfrm>
            <a:off x="1047750" y="771525"/>
            <a:ext cx="47252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kern="0" spc="390" dirty="0">
                <a:solidFill>
                  <a:schemeClr val="bg1"/>
                </a:solidFill>
                <a:latin typeface="Courier New" pitchFamily="34" charset="0"/>
                <a:cs typeface="Courier New" pitchFamily="34" charset="-120"/>
              </a:rPr>
              <a:t>10</a:t>
            </a:r>
            <a:endParaRPr lang="en-US" sz="1950" dirty="0">
              <a:solidFill>
                <a:schemeClr val="bg1"/>
              </a:solidFill>
            </a:endParaRPr>
          </a:p>
        </p:txBody>
      </p:sp>
      <p:sp>
        <p:nvSpPr>
          <p:cNvPr id="24" name="Text 1">
            <a:extLst>
              <a:ext uri="{FF2B5EF4-FFF2-40B4-BE49-F238E27FC236}">
                <a16:creationId xmlns:a16="http://schemas.microsoft.com/office/drawing/2014/main" id="{09094A2E-C2BA-CBD1-9092-592BC915954A}"/>
              </a:ext>
            </a:extLst>
          </p:cNvPr>
          <p:cNvSpPr/>
          <p:nvPr/>
        </p:nvSpPr>
        <p:spPr>
          <a:xfrm>
            <a:off x="1596479" y="762000"/>
            <a:ext cx="4388011" cy="342900"/>
          </a:xfrm>
          <a:prstGeom prst="rect">
            <a:avLst/>
          </a:prstGeom>
          <a:noFill/>
          <a:ln/>
        </p:spPr>
        <p:txBody>
          <a:bodyPr wrap="square" lIns="25400" tIns="25400" rIns="25400" bIns="25400" rtlCol="0" anchor="t">
            <a:normAutofit lnSpcReduction="10000"/>
          </a:bodyPr>
          <a:lstStyle/>
          <a:p>
            <a:pPr marL="0" indent="0" algn="l">
              <a:buNone/>
            </a:pPr>
            <a:r>
              <a:rPr lang="ko-KR" altLang="en-US" sz="1950" kern="0" spc="390" dirty="0">
                <a:solidFill>
                  <a:srgbClr val="6FE3D2"/>
                </a:solidFill>
                <a:latin typeface="Courier New" pitchFamily="34" charset="0"/>
                <a:cs typeface="Courier New" pitchFamily="34" charset="-120"/>
              </a:rPr>
              <a:t>신뢰성</a:t>
            </a:r>
            <a:endParaRPr lang="en-US" sz="1950" dirty="0"/>
          </a:p>
        </p:txBody>
      </p:sp>
      <p:sp>
        <p:nvSpPr>
          <p:cNvPr id="31" name="Text 8">
            <a:extLst>
              <a:ext uri="{FF2B5EF4-FFF2-40B4-BE49-F238E27FC236}">
                <a16:creationId xmlns:a16="http://schemas.microsoft.com/office/drawing/2014/main" id="{D34F9645-18E5-67FD-BE61-3F3431B58013}"/>
              </a:ext>
            </a:extLst>
          </p:cNvPr>
          <p:cNvSpPr/>
          <p:nvPr/>
        </p:nvSpPr>
        <p:spPr>
          <a:xfrm>
            <a:off x="1343025" y="4353441"/>
            <a:ext cx="7603331" cy="970007"/>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D7DFEE"/>
                </a:solidFill>
                <a:latin typeface="Helvetica" pitchFamily="34" charset="0"/>
                <a:ea typeface="Helvetica" pitchFamily="34" charset="-122"/>
                <a:cs typeface="Helvetica" pitchFamily="34" charset="-120"/>
              </a:rPr>
              <a:t>· </a:t>
            </a:r>
            <a:r>
              <a:rPr lang="ko-KR" altLang="en-US" sz="2025" dirty="0">
                <a:solidFill>
                  <a:srgbClr val="D7DFEE"/>
                </a:solidFill>
                <a:latin typeface="Helvetica" pitchFamily="34" charset="0"/>
                <a:ea typeface="Helvetica" pitchFamily="34" charset="-122"/>
                <a:cs typeface="Helvetica" pitchFamily="34" charset="-120"/>
              </a:rPr>
              <a:t>세계보건기구 산하 암 연구소에서 휴대전화 전자파를 </a:t>
            </a:r>
            <a:endParaRPr lang="en-US" altLang="ko-KR" sz="2025" dirty="0">
              <a:solidFill>
                <a:srgbClr val="D7DFEE"/>
              </a:solidFill>
              <a:latin typeface="Helvetica" pitchFamily="34" charset="0"/>
              <a:ea typeface="Helvetica" pitchFamily="34" charset="-122"/>
              <a:cs typeface="Helvetica" pitchFamily="34" charset="-120"/>
            </a:endParaRPr>
          </a:p>
          <a:p>
            <a:pPr marL="0" indent="0" algn="l">
              <a:lnSpc>
                <a:spcPct val="140000"/>
              </a:lnSpc>
              <a:buNone/>
            </a:pPr>
            <a:r>
              <a:rPr lang="ko-KR" altLang="en-US" sz="2025" dirty="0">
                <a:solidFill>
                  <a:srgbClr val="D7DFEE"/>
                </a:solidFill>
                <a:latin typeface="Helvetica" pitchFamily="34" charset="0"/>
                <a:ea typeface="Helvetica" pitchFamily="34" charset="-122"/>
                <a:cs typeface="Helvetica" pitchFamily="34" charset="-120"/>
              </a:rPr>
              <a:t>암 유발 그룹 중 하나로 분류</a:t>
            </a:r>
            <a:endParaRPr lang="en-US" sz="2025" dirty="0"/>
          </a:p>
        </p:txBody>
      </p:sp>
      <p:sp>
        <p:nvSpPr>
          <p:cNvPr id="34" name="Text 8">
            <a:extLst>
              <a:ext uri="{FF2B5EF4-FFF2-40B4-BE49-F238E27FC236}">
                <a16:creationId xmlns:a16="http://schemas.microsoft.com/office/drawing/2014/main" id="{571283F7-A8A9-1C15-B2D5-1A6E4BCAA688}"/>
              </a:ext>
            </a:extLst>
          </p:cNvPr>
          <p:cNvSpPr/>
          <p:nvPr/>
        </p:nvSpPr>
        <p:spPr>
          <a:xfrm>
            <a:off x="1343025" y="5354063"/>
            <a:ext cx="7603331" cy="1786966"/>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D7DFEE"/>
                </a:solidFill>
                <a:latin typeface="Helvetica" pitchFamily="34" charset="0"/>
                <a:ea typeface="Helvetica" pitchFamily="34" charset="-122"/>
                <a:cs typeface="Helvetica" pitchFamily="34" charset="-120"/>
              </a:rPr>
              <a:t>· </a:t>
            </a:r>
            <a:r>
              <a:rPr lang="ko-KR" altLang="en-US" sz="2025" dirty="0">
                <a:solidFill>
                  <a:srgbClr val="D7DFEE"/>
                </a:solidFill>
                <a:latin typeface="Helvetica" pitchFamily="34" charset="0"/>
                <a:ea typeface="Helvetica" pitchFamily="34" charset="-122"/>
                <a:cs typeface="Helvetica" pitchFamily="34" charset="-120"/>
              </a:rPr>
              <a:t>대한청소년과학회에서는 발달중인 소아청소년에게 미세한 전자파를 장기적으로 노출시키면 수면 장애 및 기억력 감퇴가</a:t>
            </a:r>
            <a:endParaRPr lang="en-US" altLang="ko-KR" sz="2025" dirty="0">
              <a:solidFill>
                <a:srgbClr val="D7DFEE"/>
              </a:solidFill>
              <a:latin typeface="Helvetica" pitchFamily="34" charset="0"/>
              <a:ea typeface="Helvetica" pitchFamily="34" charset="-122"/>
              <a:cs typeface="Helvetica" pitchFamily="34" charset="-120"/>
            </a:endParaRPr>
          </a:p>
          <a:p>
            <a:pPr marL="0" indent="0" algn="l">
              <a:lnSpc>
                <a:spcPct val="140000"/>
              </a:lnSpc>
              <a:buNone/>
            </a:pPr>
            <a:r>
              <a:rPr lang="ko-KR" altLang="en-US" sz="2025" dirty="0">
                <a:solidFill>
                  <a:srgbClr val="D7DFEE"/>
                </a:solidFill>
                <a:latin typeface="Helvetica" pitchFamily="34" charset="0"/>
                <a:ea typeface="Helvetica" pitchFamily="34" charset="-122"/>
                <a:cs typeface="Helvetica" pitchFamily="34" charset="-120"/>
              </a:rPr>
              <a:t>발생할 수 있다고 경고</a:t>
            </a:r>
            <a:endParaRPr lang="en-US" sz="20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C16"/>
        </a:solidFill>
        <a:effectLst/>
      </p:bgPr>
    </p:bg>
    <p:spTree>
      <p:nvGrpSpPr>
        <p:cNvPr id="1" name=""/>
        <p:cNvGrpSpPr/>
        <p:nvPr/>
      </p:nvGrpSpPr>
      <p:grpSpPr>
        <a:xfrm>
          <a:off x="0" y="0"/>
          <a:ext cx="0" cy="0"/>
          <a:chOff x="0" y="0"/>
          <a:chExt cx="0" cy="0"/>
        </a:xfrm>
      </p:grpSpPr>
      <p:sp>
        <p:nvSpPr>
          <p:cNvPr id="4" name="Text 2"/>
          <p:cNvSpPr/>
          <p:nvPr/>
        </p:nvSpPr>
        <p:spPr>
          <a:xfrm>
            <a:off x="1047750" y="1390650"/>
            <a:ext cx="16678275" cy="952500"/>
          </a:xfrm>
          <a:prstGeom prst="rect">
            <a:avLst/>
          </a:prstGeom>
          <a:noFill/>
          <a:ln/>
        </p:spPr>
        <p:txBody>
          <a:bodyPr wrap="square" lIns="25400" tIns="25400" rIns="25400" bIns="25400" rtlCol="0" anchor="t">
            <a:normAutofit/>
          </a:bodyPr>
          <a:lstStyle/>
          <a:p>
            <a:pPr marL="0" indent="0" algn="l">
              <a:buNone/>
            </a:pPr>
            <a:r>
              <a:rPr lang="ko-KR" altLang="en-US" sz="4950" b="1" kern="0" spc="-49" dirty="0">
                <a:solidFill>
                  <a:srgbClr val="EAEFF7"/>
                </a:solidFill>
                <a:latin typeface="Helvetica" pitchFamily="34" charset="0"/>
                <a:ea typeface="Helvetica" pitchFamily="34" charset="-122"/>
                <a:cs typeface="Helvetica" pitchFamily="34" charset="-120"/>
              </a:rPr>
              <a:t>한계점</a:t>
            </a:r>
            <a:endParaRPr lang="en-US" sz="4950" dirty="0"/>
          </a:p>
        </p:txBody>
      </p:sp>
      <p:sp>
        <p:nvSpPr>
          <p:cNvPr id="5" name="Shape 3"/>
          <p:cNvSpPr/>
          <p:nvPr/>
        </p:nvSpPr>
        <p:spPr>
          <a:xfrm>
            <a:off x="1047750" y="2724150"/>
            <a:ext cx="7905750" cy="849511"/>
          </a:xfrm>
          <a:prstGeom prst="roundRect">
            <a:avLst>
              <a:gd name="adj" fmla="val 14576"/>
            </a:avLst>
          </a:prstGeom>
          <a:solidFill>
            <a:srgbClr val="0E1626"/>
          </a:solidFill>
          <a:ln w="9525">
            <a:solidFill>
              <a:srgbClr val="213049"/>
            </a:solidFill>
            <a:prstDash val="solid"/>
          </a:ln>
        </p:spPr>
        <p:txBody>
          <a:bodyPr/>
          <a:lstStyle/>
          <a:p>
            <a:endParaRPr lang="ko-KR" altLang="en-US"/>
          </a:p>
        </p:txBody>
      </p:sp>
      <p:sp>
        <p:nvSpPr>
          <p:cNvPr id="6" name="Text 4"/>
          <p:cNvSpPr/>
          <p:nvPr/>
        </p:nvSpPr>
        <p:spPr>
          <a:xfrm>
            <a:off x="1323975" y="2962275"/>
            <a:ext cx="37355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FF8A8E"/>
                </a:solidFill>
                <a:latin typeface="Courier New" pitchFamily="34" charset="0"/>
                <a:ea typeface="Courier New" pitchFamily="34" charset="-122"/>
                <a:cs typeface="Courier New" pitchFamily="34" charset="-120"/>
              </a:rPr>
              <a:t>01</a:t>
            </a:r>
            <a:endParaRPr lang="en-US" sz="1950" dirty="0"/>
          </a:p>
        </p:txBody>
      </p:sp>
      <p:sp>
        <p:nvSpPr>
          <p:cNvPr id="7" name="Text 5"/>
          <p:cNvSpPr/>
          <p:nvPr/>
        </p:nvSpPr>
        <p:spPr>
          <a:xfrm>
            <a:off x="1811834" y="2962275"/>
            <a:ext cx="5417374"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ko-KR" altLang="en-US" sz="2100" b="1" dirty="0">
                <a:solidFill>
                  <a:srgbClr val="EAEFF7"/>
                </a:solidFill>
                <a:latin typeface="Helvetica" pitchFamily="34" charset="0"/>
                <a:cs typeface="Helvetica" pitchFamily="34" charset="-120"/>
              </a:rPr>
              <a:t>스마트폰 센서의 한계로 정밀측정 불가</a:t>
            </a:r>
            <a:endParaRPr lang="en-US" sz="2100" dirty="0"/>
          </a:p>
        </p:txBody>
      </p:sp>
      <p:sp>
        <p:nvSpPr>
          <p:cNvPr id="8" name="Shape 6"/>
          <p:cNvSpPr/>
          <p:nvPr/>
        </p:nvSpPr>
        <p:spPr>
          <a:xfrm>
            <a:off x="9334500" y="2724150"/>
            <a:ext cx="7905750" cy="849511"/>
          </a:xfrm>
          <a:prstGeom prst="roundRect">
            <a:avLst>
              <a:gd name="adj" fmla="val 14576"/>
            </a:avLst>
          </a:prstGeom>
          <a:solidFill>
            <a:srgbClr val="0E1626"/>
          </a:solidFill>
          <a:ln w="9525">
            <a:solidFill>
              <a:srgbClr val="213049"/>
            </a:solidFill>
            <a:prstDash val="solid"/>
          </a:ln>
        </p:spPr>
        <p:txBody>
          <a:bodyPr/>
          <a:lstStyle/>
          <a:p>
            <a:endParaRPr lang="ko-KR" altLang="en-US"/>
          </a:p>
        </p:txBody>
      </p:sp>
      <p:sp>
        <p:nvSpPr>
          <p:cNvPr id="9" name="Text 7"/>
          <p:cNvSpPr/>
          <p:nvPr/>
        </p:nvSpPr>
        <p:spPr>
          <a:xfrm>
            <a:off x="9610725" y="2962275"/>
            <a:ext cx="37355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FF8A8E"/>
                </a:solidFill>
                <a:latin typeface="Courier New" pitchFamily="34" charset="0"/>
                <a:ea typeface="Courier New" pitchFamily="34" charset="-122"/>
                <a:cs typeface="Courier New" pitchFamily="34" charset="-120"/>
              </a:rPr>
              <a:t>02</a:t>
            </a:r>
            <a:endParaRPr lang="en-US" sz="1950" dirty="0"/>
          </a:p>
        </p:txBody>
      </p:sp>
      <p:sp>
        <p:nvSpPr>
          <p:cNvPr id="10" name="Text 8"/>
          <p:cNvSpPr/>
          <p:nvPr/>
        </p:nvSpPr>
        <p:spPr>
          <a:xfrm>
            <a:off x="10077576" y="2902250"/>
            <a:ext cx="6965098"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ko-KR" altLang="en-US" sz="2100" b="1">
                <a:solidFill>
                  <a:srgbClr val="EAEFF7"/>
                </a:solidFill>
                <a:latin typeface="Helvetica" pitchFamily="34" charset="0"/>
                <a:cs typeface="Helvetica" pitchFamily="34" charset="-120"/>
              </a:rPr>
              <a:t>스마트폰 센서의 한계에 의하여 넓은 범위를 측정하지 못함</a:t>
            </a:r>
            <a:endParaRPr lang="en-US" sz="2100" dirty="0"/>
          </a:p>
        </p:txBody>
      </p:sp>
      <p:sp>
        <p:nvSpPr>
          <p:cNvPr id="11" name="Shape 9"/>
          <p:cNvSpPr/>
          <p:nvPr/>
        </p:nvSpPr>
        <p:spPr>
          <a:xfrm>
            <a:off x="1047750" y="3764161"/>
            <a:ext cx="7905750" cy="849511"/>
          </a:xfrm>
          <a:prstGeom prst="roundRect">
            <a:avLst>
              <a:gd name="adj" fmla="val 14576"/>
            </a:avLst>
          </a:prstGeom>
          <a:solidFill>
            <a:srgbClr val="0E1626"/>
          </a:solidFill>
          <a:ln w="9525">
            <a:solidFill>
              <a:srgbClr val="213049"/>
            </a:solidFill>
            <a:prstDash val="solid"/>
          </a:ln>
        </p:spPr>
        <p:txBody>
          <a:bodyPr/>
          <a:lstStyle/>
          <a:p>
            <a:endParaRPr lang="ko-KR" altLang="en-US"/>
          </a:p>
        </p:txBody>
      </p:sp>
      <p:sp>
        <p:nvSpPr>
          <p:cNvPr id="12" name="Text 10"/>
          <p:cNvSpPr/>
          <p:nvPr/>
        </p:nvSpPr>
        <p:spPr>
          <a:xfrm>
            <a:off x="1323975" y="4002286"/>
            <a:ext cx="37355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FF8A8E"/>
                </a:solidFill>
                <a:latin typeface="Courier New" pitchFamily="34" charset="0"/>
                <a:ea typeface="Courier New" pitchFamily="34" charset="-122"/>
                <a:cs typeface="Courier New" pitchFamily="34" charset="-120"/>
              </a:rPr>
              <a:t>03</a:t>
            </a:r>
            <a:endParaRPr lang="en-US" sz="1950" dirty="0"/>
          </a:p>
        </p:txBody>
      </p:sp>
      <p:sp>
        <p:nvSpPr>
          <p:cNvPr id="13" name="Text 11"/>
          <p:cNvSpPr/>
          <p:nvPr/>
        </p:nvSpPr>
        <p:spPr>
          <a:xfrm>
            <a:off x="1811834" y="3951004"/>
            <a:ext cx="6992532"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dirty="0">
                <a:solidFill>
                  <a:srgbClr val="EAEFF7"/>
                </a:solidFill>
                <a:latin typeface="Helvetica" pitchFamily="34" charset="0"/>
                <a:ea typeface="Helvetica" pitchFamily="34" charset="-122"/>
                <a:cs typeface="Helvetica" pitchFamily="34" charset="-120"/>
              </a:rPr>
              <a:t>위치 추정 </a:t>
            </a:r>
            <a:r>
              <a:rPr lang="en-US" sz="2100" b="1" dirty="0" err="1">
                <a:solidFill>
                  <a:srgbClr val="EAEFF7"/>
                </a:solidFill>
                <a:latin typeface="Helvetica" pitchFamily="34" charset="0"/>
                <a:ea typeface="Helvetica" pitchFamily="34" charset="-122"/>
                <a:cs typeface="Helvetica" pitchFamily="34" charset="-120"/>
              </a:rPr>
              <a:t>오차</a:t>
            </a:r>
            <a:r>
              <a:rPr lang="en-US" sz="2100" b="1" dirty="0">
                <a:solidFill>
                  <a:srgbClr val="EAEFF7"/>
                </a:solidFill>
                <a:latin typeface="Helvetica" pitchFamily="34" charset="0"/>
                <a:ea typeface="Helvetica" pitchFamily="34" charset="-122"/>
                <a:cs typeface="Helvetica" pitchFamily="34" charset="-120"/>
              </a:rPr>
              <a:t> </a:t>
            </a:r>
            <a:r>
              <a:rPr lang="en-US" sz="2100" b="1" dirty="0">
                <a:solidFill>
                  <a:srgbClr val="D7DFEE"/>
                </a:solidFill>
                <a:latin typeface="Helvetica" pitchFamily="34" charset="0"/>
                <a:ea typeface="Helvetica" pitchFamily="34" charset="-122"/>
                <a:cs typeface="Helvetica" pitchFamily="34" charset="-120"/>
              </a:rPr>
              <a:t>- GPS</a:t>
            </a:r>
            <a:r>
              <a:rPr lang="ko-KR" altLang="en-US" sz="2100" b="1" dirty="0">
                <a:solidFill>
                  <a:srgbClr val="D7DFEE"/>
                </a:solidFill>
                <a:latin typeface="Helvetica" pitchFamily="34" charset="0"/>
                <a:ea typeface="Helvetica" pitchFamily="34" charset="-122"/>
                <a:cs typeface="Helvetica" pitchFamily="34" charset="-120"/>
              </a:rPr>
              <a:t>로 정밀하게 측정하지 않음</a:t>
            </a:r>
            <a:endParaRPr lang="en-US" sz="2100" dirty="0"/>
          </a:p>
        </p:txBody>
      </p:sp>
      <p:sp>
        <p:nvSpPr>
          <p:cNvPr id="14" name="Shape 12"/>
          <p:cNvSpPr/>
          <p:nvPr/>
        </p:nvSpPr>
        <p:spPr>
          <a:xfrm>
            <a:off x="9334500" y="3764161"/>
            <a:ext cx="7905750" cy="849511"/>
          </a:xfrm>
          <a:prstGeom prst="roundRect">
            <a:avLst>
              <a:gd name="adj" fmla="val 14576"/>
            </a:avLst>
          </a:prstGeom>
          <a:solidFill>
            <a:srgbClr val="0E1626"/>
          </a:solidFill>
          <a:ln w="9525">
            <a:solidFill>
              <a:srgbClr val="213049"/>
            </a:solidFill>
            <a:prstDash val="solid"/>
          </a:ln>
        </p:spPr>
        <p:txBody>
          <a:bodyPr/>
          <a:lstStyle/>
          <a:p>
            <a:endParaRPr lang="ko-KR" altLang="en-US"/>
          </a:p>
        </p:txBody>
      </p:sp>
      <p:sp>
        <p:nvSpPr>
          <p:cNvPr id="15" name="Text 13"/>
          <p:cNvSpPr/>
          <p:nvPr/>
        </p:nvSpPr>
        <p:spPr>
          <a:xfrm>
            <a:off x="9610725" y="4002286"/>
            <a:ext cx="37355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FF8A8E"/>
                </a:solidFill>
                <a:latin typeface="Courier New" pitchFamily="34" charset="0"/>
                <a:ea typeface="Courier New" pitchFamily="34" charset="-122"/>
                <a:cs typeface="Courier New" pitchFamily="34" charset="-120"/>
              </a:rPr>
              <a:t>04</a:t>
            </a:r>
            <a:endParaRPr lang="en-US" sz="1950" dirty="0"/>
          </a:p>
        </p:txBody>
      </p:sp>
      <p:sp>
        <p:nvSpPr>
          <p:cNvPr id="19" name="Text 17"/>
          <p:cNvSpPr/>
          <p:nvPr/>
        </p:nvSpPr>
        <p:spPr>
          <a:xfrm>
            <a:off x="10116001" y="3914775"/>
            <a:ext cx="6992532"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dirty="0">
                <a:solidFill>
                  <a:schemeClr val="bg1"/>
                </a:solidFill>
                <a:latin typeface="Helvetica" pitchFamily="34" charset="0"/>
                <a:ea typeface="Helvetica" pitchFamily="34" charset="-122"/>
                <a:cs typeface="Helvetica" pitchFamily="34" charset="-120"/>
              </a:rPr>
              <a:t>Score </a:t>
            </a:r>
            <a:r>
              <a:rPr lang="en-US" sz="2100" b="1" dirty="0" err="1">
                <a:solidFill>
                  <a:schemeClr val="bg1"/>
                </a:solidFill>
                <a:latin typeface="Helvetica" pitchFamily="34" charset="0"/>
                <a:ea typeface="Helvetica" pitchFamily="34" charset="-122"/>
                <a:cs typeface="Helvetica" pitchFamily="34" charset="-120"/>
              </a:rPr>
              <a:t>가중치</a:t>
            </a:r>
            <a:r>
              <a:rPr lang="en-US" sz="2100" b="1" dirty="0">
                <a:solidFill>
                  <a:schemeClr val="bg1"/>
                </a:solidFill>
                <a:latin typeface="Helvetica" pitchFamily="34" charset="0"/>
                <a:ea typeface="Helvetica" pitchFamily="34" charset="-122"/>
                <a:cs typeface="Helvetica" pitchFamily="34" charset="-120"/>
              </a:rPr>
              <a:t> – </a:t>
            </a:r>
            <a:r>
              <a:rPr lang="ko-KR" altLang="en-US" sz="2100" b="1" dirty="0">
                <a:solidFill>
                  <a:schemeClr val="bg1"/>
                </a:solidFill>
                <a:latin typeface="Helvetica" pitchFamily="34" charset="0"/>
                <a:ea typeface="Helvetica" pitchFamily="34" charset="-122"/>
                <a:cs typeface="Helvetica" pitchFamily="34" charset="-120"/>
              </a:rPr>
              <a:t>기기 별로 기준 값이 달라서 오차 발생</a:t>
            </a:r>
            <a:endParaRPr lang="en-US" sz="2100" b="1" dirty="0">
              <a:solidFill>
                <a:schemeClr val="bg1"/>
              </a:solidFill>
            </a:endParaRPr>
          </a:p>
        </p:txBody>
      </p:sp>
      <p:sp>
        <p:nvSpPr>
          <p:cNvPr id="32" name="Text 0">
            <a:extLst>
              <a:ext uri="{FF2B5EF4-FFF2-40B4-BE49-F238E27FC236}">
                <a16:creationId xmlns:a16="http://schemas.microsoft.com/office/drawing/2014/main" id="{81F3E0C9-F480-E93D-C7B0-4C04CC93C18A}"/>
              </a:ext>
            </a:extLst>
          </p:cNvPr>
          <p:cNvSpPr/>
          <p:nvPr/>
        </p:nvSpPr>
        <p:spPr>
          <a:xfrm>
            <a:off x="1047750" y="771525"/>
            <a:ext cx="47252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kern="0" spc="390" dirty="0">
                <a:solidFill>
                  <a:schemeClr val="bg1"/>
                </a:solidFill>
                <a:latin typeface="Courier New" pitchFamily="34" charset="0"/>
                <a:cs typeface="Courier New" pitchFamily="34" charset="-120"/>
              </a:rPr>
              <a:t>11</a:t>
            </a:r>
            <a:endParaRPr lang="en-US" sz="1950" dirty="0">
              <a:solidFill>
                <a:schemeClr val="bg1"/>
              </a:solidFill>
            </a:endParaRPr>
          </a:p>
        </p:txBody>
      </p:sp>
      <p:sp>
        <p:nvSpPr>
          <p:cNvPr id="34" name="Text 1">
            <a:extLst>
              <a:ext uri="{FF2B5EF4-FFF2-40B4-BE49-F238E27FC236}">
                <a16:creationId xmlns:a16="http://schemas.microsoft.com/office/drawing/2014/main" id="{7B222D8F-F4A0-5459-D298-7620593D7BBE}"/>
              </a:ext>
            </a:extLst>
          </p:cNvPr>
          <p:cNvSpPr/>
          <p:nvPr/>
        </p:nvSpPr>
        <p:spPr>
          <a:xfrm>
            <a:off x="1596479" y="762000"/>
            <a:ext cx="4388011" cy="342900"/>
          </a:xfrm>
          <a:prstGeom prst="rect">
            <a:avLst/>
          </a:prstGeom>
          <a:noFill/>
          <a:ln/>
        </p:spPr>
        <p:txBody>
          <a:bodyPr wrap="square" lIns="25400" tIns="25400" rIns="25400" bIns="25400" rtlCol="0" anchor="t">
            <a:normAutofit lnSpcReduction="10000"/>
          </a:bodyPr>
          <a:lstStyle/>
          <a:p>
            <a:pPr marL="0" indent="0" algn="l">
              <a:buNone/>
            </a:pPr>
            <a:r>
              <a:rPr lang="ko-KR" altLang="en-US" sz="1950" kern="0" spc="390" dirty="0">
                <a:solidFill>
                  <a:srgbClr val="6FE3D2"/>
                </a:solidFill>
                <a:latin typeface="Courier New" pitchFamily="34" charset="0"/>
                <a:cs typeface="Courier New" pitchFamily="34" charset="-120"/>
              </a:rPr>
              <a:t>한계점</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C16"/>
        </a:solidFill>
        <a:effectLst/>
      </p:bgPr>
    </p:bg>
    <p:spTree>
      <p:nvGrpSpPr>
        <p:cNvPr id="1" name=""/>
        <p:cNvGrpSpPr/>
        <p:nvPr/>
      </p:nvGrpSpPr>
      <p:grpSpPr>
        <a:xfrm>
          <a:off x="0" y="0"/>
          <a:ext cx="0" cy="0"/>
          <a:chOff x="0" y="0"/>
          <a:chExt cx="0" cy="0"/>
        </a:xfrm>
      </p:grpSpPr>
      <p:sp>
        <p:nvSpPr>
          <p:cNvPr id="4" name="Text 2"/>
          <p:cNvSpPr/>
          <p:nvPr/>
        </p:nvSpPr>
        <p:spPr>
          <a:xfrm>
            <a:off x="1047750" y="1390650"/>
            <a:ext cx="16678275" cy="952500"/>
          </a:xfrm>
          <a:prstGeom prst="rect">
            <a:avLst/>
          </a:prstGeom>
          <a:noFill/>
          <a:ln/>
        </p:spPr>
        <p:txBody>
          <a:bodyPr wrap="square" lIns="25400" tIns="25400" rIns="25400" bIns="25400" rtlCol="0" anchor="t">
            <a:normAutofit/>
          </a:bodyPr>
          <a:lstStyle/>
          <a:p>
            <a:pPr marL="0" indent="0" algn="l">
              <a:buNone/>
            </a:pPr>
            <a:r>
              <a:rPr lang="ko-KR" altLang="en-US" sz="4950" b="1" kern="0" spc="-49" dirty="0">
                <a:solidFill>
                  <a:srgbClr val="EAEFF7"/>
                </a:solidFill>
                <a:latin typeface="Helvetica" pitchFamily="34" charset="0"/>
                <a:ea typeface="Helvetica" pitchFamily="34" charset="-122"/>
                <a:cs typeface="Helvetica" pitchFamily="34" charset="-120"/>
              </a:rPr>
              <a:t>보완점 소개</a:t>
            </a:r>
            <a:endParaRPr lang="en-US" sz="4950" dirty="0"/>
          </a:p>
        </p:txBody>
      </p:sp>
      <p:sp>
        <p:nvSpPr>
          <p:cNvPr id="5" name="Shape 3"/>
          <p:cNvSpPr/>
          <p:nvPr/>
        </p:nvSpPr>
        <p:spPr>
          <a:xfrm>
            <a:off x="1047750" y="2724150"/>
            <a:ext cx="5257800" cy="1744861"/>
          </a:xfrm>
          <a:prstGeom prst="roundRect">
            <a:avLst>
              <a:gd name="adj" fmla="val 7642"/>
            </a:avLst>
          </a:prstGeom>
          <a:solidFill>
            <a:srgbClr val="0E1626"/>
          </a:solidFill>
          <a:ln w="9525">
            <a:solidFill>
              <a:srgbClr val="213049"/>
            </a:solidFill>
            <a:prstDash val="solid"/>
          </a:ln>
        </p:spPr>
        <p:txBody>
          <a:bodyPr/>
          <a:lstStyle/>
          <a:p>
            <a:endParaRPr lang="ko-KR" altLang="en-US"/>
          </a:p>
        </p:txBody>
      </p:sp>
      <p:sp>
        <p:nvSpPr>
          <p:cNvPr id="6" name="Text 4"/>
          <p:cNvSpPr/>
          <p:nvPr/>
        </p:nvSpPr>
        <p:spPr>
          <a:xfrm>
            <a:off x="1323975" y="3000375"/>
            <a:ext cx="4846511" cy="32385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FE3D2"/>
                </a:solidFill>
                <a:latin typeface="Courier New" pitchFamily="34" charset="0"/>
                <a:ea typeface="Courier New" pitchFamily="34" charset="-122"/>
                <a:cs typeface="Courier New" pitchFamily="34" charset="-120"/>
              </a:rPr>
              <a:t>정확도</a:t>
            </a:r>
            <a:endParaRPr lang="en-US" sz="1800" dirty="0"/>
          </a:p>
        </p:txBody>
      </p:sp>
      <p:sp>
        <p:nvSpPr>
          <p:cNvPr id="7" name="Text 5"/>
          <p:cNvSpPr/>
          <p:nvPr/>
        </p:nvSpPr>
        <p:spPr>
          <a:xfrm>
            <a:off x="1323975" y="3419475"/>
            <a:ext cx="4846511" cy="81141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ko-KR" altLang="en-US" sz="2100" dirty="0">
                <a:solidFill>
                  <a:srgbClr val="D7DFEE"/>
                </a:solidFill>
                <a:latin typeface="Helvetica" pitchFamily="34" charset="0"/>
                <a:ea typeface="Helvetica" pitchFamily="34" charset="-122"/>
                <a:cs typeface="Helvetica" pitchFamily="34" charset="-120"/>
              </a:rPr>
              <a:t>하드웨어 장비를 추가 연결하여 </a:t>
            </a:r>
            <a:endParaRPr lang="en-US" altLang="ko-KR" sz="2100" dirty="0">
              <a:solidFill>
                <a:srgbClr val="D7DFEE"/>
              </a:solidFill>
              <a:latin typeface="Helvetica" pitchFamily="34" charset="0"/>
              <a:ea typeface="Helvetica" pitchFamily="34" charset="-122"/>
              <a:cs typeface="Helvetica" pitchFamily="34" charset="-120"/>
            </a:endParaRPr>
          </a:p>
          <a:p>
            <a:pPr marL="0" indent="0" algn="l">
              <a:lnSpc>
                <a:spcPct val="145000"/>
              </a:lnSpc>
              <a:buNone/>
            </a:pPr>
            <a:r>
              <a:rPr lang="en-US" sz="2100" dirty="0" err="1">
                <a:solidFill>
                  <a:srgbClr val="D7DFEE"/>
                </a:solidFill>
                <a:latin typeface="Helvetica" pitchFamily="34" charset="0"/>
                <a:ea typeface="Helvetica" pitchFamily="34" charset="-122"/>
                <a:cs typeface="Helvetica" pitchFamily="34" charset="-120"/>
              </a:rPr>
              <a:t>보정</a:t>
            </a:r>
            <a:r>
              <a:rPr lang="en-US" sz="2100" dirty="0">
                <a:solidFill>
                  <a:srgbClr val="D7DFEE"/>
                </a:solidFill>
                <a:latin typeface="Helvetica" pitchFamily="34" charset="0"/>
                <a:ea typeface="Helvetica" pitchFamily="34" charset="-122"/>
                <a:cs typeface="Helvetica" pitchFamily="34" charset="-120"/>
              </a:rPr>
              <a:t> 강화</a:t>
            </a:r>
            <a:endParaRPr lang="en-US" sz="2100" dirty="0"/>
          </a:p>
        </p:txBody>
      </p:sp>
      <p:sp>
        <p:nvSpPr>
          <p:cNvPr id="11" name="Shape 9"/>
          <p:cNvSpPr/>
          <p:nvPr/>
        </p:nvSpPr>
        <p:spPr>
          <a:xfrm>
            <a:off x="6515100" y="2695575"/>
            <a:ext cx="5257800" cy="1744861"/>
          </a:xfrm>
          <a:prstGeom prst="roundRect">
            <a:avLst>
              <a:gd name="adj" fmla="val 7642"/>
            </a:avLst>
          </a:prstGeom>
          <a:solidFill>
            <a:srgbClr val="0E1626"/>
          </a:solidFill>
          <a:ln w="9525">
            <a:solidFill>
              <a:srgbClr val="213049"/>
            </a:solidFill>
            <a:prstDash val="solid"/>
          </a:ln>
        </p:spPr>
        <p:txBody>
          <a:bodyPr/>
          <a:lstStyle/>
          <a:p>
            <a:endParaRPr lang="ko-KR" altLang="en-US"/>
          </a:p>
        </p:txBody>
      </p:sp>
      <p:sp>
        <p:nvSpPr>
          <p:cNvPr id="12" name="Text 10"/>
          <p:cNvSpPr/>
          <p:nvPr/>
        </p:nvSpPr>
        <p:spPr>
          <a:xfrm>
            <a:off x="6791325" y="2971800"/>
            <a:ext cx="4846511"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6FE3D2"/>
                </a:solidFill>
                <a:latin typeface="Courier New" pitchFamily="34" charset="0"/>
                <a:ea typeface="Courier New" pitchFamily="34" charset="-122"/>
                <a:cs typeface="Courier New" pitchFamily="34" charset="-120"/>
              </a:rPr>
              <a:t>UI</a:t>
            </a:r>
            <a:endParaRPr lang="en-US" sz="1800" dirty="0"/>
          </a:p>
        </p:txBody>
      </p:sp>
      <p:sp>
        <p:nvSpPr>
          <p:cNvPr id="13" name="Text 11"/>
          <p:cNvSpPr/>
          <p:nvPr/>
        </p:nvSpPr>
        <p:spPr>
          <a:xfrm>
            <a:off x="6791325" y="3362325"/>
            <a:ext cx="4846511" cy="991961"/>
          </a:xfrm>
          <a:prstGeom prst="rect">
            <a:avLst/>
          </a:prstGeom>
          <a:noFill/>
          <a:ln/>
        </p:spPr>
        <p:txBody>
          <a:bodyPr wrap="square" lIns="25400" tIns="25400" rIns="25400" bIns="25400" rtlCol="0" anchor="t">
            <a:normAutofit/>
          </a:bodyPr>
          <a:lstStyle/>
          <a:p>
            <a:pPr marL="0" indent="0" algn="l">
              <a:lnSpc>
                <a:spcPct val="145000"/>
              </a:lnSpc>
              <a:buNone/>
            </a:pPr>
            <a:r>
              <a:rPr lang="ko-KR" altLang="en-US" sz="2100" dirty="0">
                <a:solidFill>
                  <a:srgbClr val="D7DFEE"/>
                </a:solidFill>
                <a:latin typeface="Helvetica" pitchFamily="34" charset="0"/>
                <a:cs typeface="Helvetica" pitchFamily="34" charset="-120"/>
              </a:rPr>
              <a:t>탑 다운 형식의 </a:t>
            </a:r>
            <a:r>
              <a:rPr lang="en-US" altLang="ko-KR" sz="2100" dirty="0">
                <a:solidFill>
                  <a:srgbClr val="D7DFEE"/>
                </a:solidFill>
                <a:latin typeface="Helvetica" pitchFamily="34" charset="0"/>
                <a:cs typeface="Helvetica" pitchFamily="34" charset="-120"/>
              </a:rPr>
              <a:t>3D </a:t>
            </a:r>
            <a:r>
              <a:rPr lang="ko-KR" altLang="en-US" sz="2100" dirty="0" err="1">
                <a:solidFill>
                  <a:srgbClr val="D7DFEE"/>
                </a:solidFill>
                <a:latin typeface="Helvetica" pitchFamily="34" charset="0"/>
                <a:cs typeface="Helvetica" pitchFamily="34" charset="-120"/>
              </a:rPr>
              <a:t>맵을</a:t>
            </a:r>
            <a:r>
              <a:rPr lang="ko-KR" altLang="en-US" sz="2100" dirty="0">
                <a:solidFill>
                  <a:srgbClr val="D7DFEE"/>
                </a:solidFill>
                <a:latin typeface="Helvetica" pitchFamily="34" charset="0"/>
                <a:cs typeface="Helvetica" pitchFamily="34" charset="-120"/>
              </a:rPr>
              <a:t> 유저 친화적으로</a:t>
            </a:r>
            <a:endParaRPr lang="en-US" altLang="ko-KR" sz="2100" dirty="0">
              <a:solidFill>
                <a:srgbClr val="D7DFEE"/>
              </a:solidFill>
              <a:latin typeface="Helvetica" pitchFamily="34" charset="0"/>
              <a:cs typeface="Helvetica" pitchFamily="34" charset="-120"/>
            </a:endParaRPr>
          </a:p>
          <a:p>
            <a:pPr marL="0" indent="0" algn="l">
              <a:lnSpc>
                <a:spcPct val="145000"/>
              </a:lnSpc>
              <a:buNone/>
            </a:pPr>
            <a:r>
              <a:rPr lang="ko-KR" altLang="en-US" sz="2100" dirty="0">
                <a:solidFill>
                  <a:srgbClr val="D7DFEE"/>
                </a:solidFill>
                <a:latin typeface="Helvetica" pitchFamily="34" charset="0"/>
                <a:cs typeface="Helvetica" pitchFamily="34" charset="-120"/>
              </a:rPr>
              <a:t>디자인</a:t>
            </a:r>
            <a:endParaRPr lang="en-US" altLang="ko-KR" sz="2100" dirty="0">
              <a:solidFill>
                <a:srgbClr val="D7DFEE"/>
              </a:solidFill>
              <a:latin typeface="Helvetica" pitchFamily="34" charset="0"/>
              <a:cs typeface="Helvetica" pitchFamily="34" charset="-120"/>
            </a:endParaRPr>
          </a:p>
          <a:p>
            <a:pPr marL="0" indent="0" algn="l">
              <a:lnSpc>
                <a:spcPct val="145000"/>
              </a:lnSpc>
              <a:buNone/>
            </a:pPr>
            <a:endParaRPr lang="en-US" sz="2100" dirty="0"/>
          </a:p>
        </p:txBody>
      </p:sp>
      <p:sp>
        <p:nvSpPr>
          <p:cNvPr id="14" name="Shape 12"/>
          <p:cNvSpPr/>
          <p:nvPr/>
        </p:nvSpPr>
        <p:spPr>
          <a:xfrm>
            <a:off x="1047750" y="4678561"/>
            <a:ext cx="5257800" cy="1358205"/>
          </a:xfrm>
          <a:prstGeom prst="roundRect">
            <a:avLst>
              <a:gd name="adj" fmla="val 9818"/>
            </a:avLst>
          </a:prstGeom>
          <a:solidFill>
            <a:srgbClr val="0E1626"/>
          </a:solidFill>
          <a:ln w="9525">
            <a:solidFill>
              <a:srgbClr val="213049"/>
            </a:solidFill>
            <a:prstDash val="solid"/>
          </a:ln>
        </p:spPr>
        <p:txBody>
          <a:bodyPr/>
          <a:lstStyle/>
          <a:p>
            <a:endParaRPr lang="ko-KR" altLang="en-US"/>
          </a:p>
        </p:txBody>
      </p:sp>
      <p:sp>
        <p:nvSpPr>
          <p:cNvPr id="15" name="Text 13"/>
          <p:cNvSpPr/>
          <p:nvPr/>
        </p:nvSpPr>
        <p:spPr>
          <a:xfrm>
            <a:off x="1323975" y="4954786"/>
            <a:ext cx="4846511" cy="32385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FE3D2"/>
                </a:solidFill>
                <a:latin typeface="Courier New" pitchFamily="34" charset="0"/>
                <a:ea typeface="Courier New" pitchFamily="34" charset="-122"/>
                <a:cs typeface="Courier New" pitchFamily="34" charset="-120"/>
              </a:rPr>
              <a:t>프라이버시</a:t>
            </a:r>
            <a:endParaRPr lang="en-US" sz="1800" dirty="0"/>
          </a:p>
        </p:txBody>
      </p:sp>
      <p:sp>
        <p:nvSpPr>
          <p:cNvPr id="16" name="Text 14"/>
          <p:cNvSpPr/>
          <p:nvPr/>
        </p:nvSpPr>
        <p:spPr>
          <a:xfrm>
            <a:off x="1323975" y="5373886"/>
            <a:ext cx="4846511" cy="42475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D7DFEE"/>
                </a:solidFill>
                <a:latin typeface="Helvetica" pitchFamily="34" charset="0"/>
                <a:ea typeface="Helvetica" pitchFamily="34" charset="-122"/>
                <a:cs typeface="Helvetica" pitchFamily="34" charset="-120"/>
              </a:rPr>
              <a:t>AI </a:t>
            </a:r>
            <a:r>
              <a:rPr lang="ko-KR" altLang="en-US" sz="2100" dirty="0">
                <a:solidFill>
                  <a:srgbClr val="D7DFEE"/>
                </a:solidFill>
                <a:latin typeface="Helvetica" pitchFamily="34" charset="0"/>
                <a:ea typeface="Helvetica" pitchFamily="34" charset="-122"/>
                <a:cs typeface="Helvetica" pitchFamily="34" charset="-120"/>
              </a:rPr>
              <a:t>인사이트 내용을 로컬 </a:t>
            </a:r>
            <a:r>
              <a:rPr lang="en-US" altLang="ko-KR" sz="2100" dirty="0">
                <a:solidFill>
                  <a:srgbClr val="D7DFEE"/>
                </a:solidFill>
                <a:latin typeface="Helvetica" pitchFamily="34" charset="0"/>
                <a:ea typeface="Helvetica" pitchFamily="34" charset="-122"/>
                <a:cs typeface="Helvetica" pitchFamily="34" charset="-120"/>
              </a:rPr>
              <a:t>AI</a:t>
            </a:r>
            <a:r>
              <a:rPr lang="ko-KR" altLang="en-US" sz="2100" dirty="0">
                <a:solidFill>
                  <a:srgbClr val="D7DFEE"/>
                </a:solidFill>
                <a:latin typeface="Helvetica" pitchFamily="34" charset="0"/>
                <a:ea typeface="Helvetica" pitchFamily="34" charset="-122"/>
                <a:cs typeface="Helvetica" pitchFamily="34" charset="-120"/>
              </a:rPr>
              <a:t>로 대체</a:t>
            </a:r>
            <a:endParaRPr lang="en-US" sz="2100" dirty="0"/>
          </a:p>
        </p:txBody>
      </p:sp>
      <p:sp>
        <p:nvSpPr>
          <p:cNvPr id="17" name="Shape 15"/>
          <p:cNvSpPr/>
          <p:nvPr/>
        </p:nvSpPr>
        <p:spPr>
          <a:xfrm>
            <a:off x="6515100" y="4678561"/>
            <a:ext cx="5257800" cy="1358205"/>
          </a:xfrm>
          <a:prstGeom prst="roundRect">
            <a:avLst>
              <a:gd name="adj" fmla="val 9818"/>
            </a:avLst>
          </a:prstGeom>
          <a:solidFill>
            <a:srgbClr val="0E1626"/>
          </a:solidFill>
          <a:ln w="9525">
            <a:solidFill>
              <a:srgbClr val="213049"/>
            </a:solidFill>
            <a:prstDash val="solid"/>
          </a:ln>
        </p:spPr>
        <p:txBody>
          <a:bodyPr/>
          <a:lstStyle/>
          <a:p>
            <a:endParaRPr lang="ko-KR" altLang="en-US"/>
          </a:p>
        </p:txBody>
      </p:sp>
      <p:sp>
        <p:nvSpPr>
          <p:cNvPr id="18" name="Text 16"/>
          <p:cNvSpPr/>
          <p:nvPr/>
        </p:nvSpPr>
        <p:spPr>
          <a:xfrm>
            <a:off x="6791325" y="4954786"/>
            <a:ext cx="4846511" cy="32385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FE3D2"/>
                </a:solidFill>
                <a:latin typeface="Courier New" pitchFamily="34" charset="0"/>
                <a:ea typeface="Courier New" pitchFamily="34" charset="-122"/>
                <a:cs typeface="Courier New" pitchFamily="34" charset="-120"/>
              </a:rPr>
              <a:t>설명력</a:t>
            </a:r>
            <a:endParaRPr lang="en-US" sz="1800" dirty="0"/>
          </a:p>
        </p:txBody>
      </p:sp>
      <p:sp>
        <p:nvSpPr>
          <p:cNvPr id="19" name="Text 17"/>
          <p:cNvSpPr/>
          <p:nvPr/>
        </p:nvSpPr>
        <p:spPr>
          <a:xfrm>
            <a:off x="6791325" y="5373886"/>
            <a:ext cx="4846511" cy="42475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D7DFEE"/>
                </a:solidFill>
                <a:latin typeface="Helvetica" pitchFamily="34" charset="0"/>
                <a:ea typeface="Helvetica" pitchFamily="34" charset="-122"/>
                <a:cs typeface="Helvetica" pitchFamily="34" charset="-120"/>
              </a:rPr>
              <a:t>「왜 점수가 떨어졌는지」 </a:t>
            </a:r>
            <a:r>
              <a:rPr lang="en-US" sz="2100" dirty="0" err="1">
                <a:solidFill>
                  <a:srgbClr val="D7DFEE"/>
                </a:solidFill>
                <a:latin typeface="Helvetica" pitchFamily="34" charset="0"/>
                <a:ea typeface="Helvetica" pitchFamily="34" charset="-122"/>
                <a:cs typeface="Helvetica" pitchFamily="34" charset="-120"/>
              </a:rPr>
              <a:t>요인</a:t>
            </a:r>
            <a:r>
              <a:rPr lang="en-US" sz="2100" dirty="0">
                <a:solidFill>
                  <a:srgbClr val="D7DFEE"/>
                </a:solidFill>
                <a:latin typeface="Helvetica" pitchFamily="34" charset="0"/>
                <a:ea typeface="Helvetica" pitchFamily="34" charset="-122"/>
                <a:cs typeface="Helvetica" pitchFamily="34" charset="-120"/>
              </a:rPr>
              <a:t> 분</a:t>
            </a:r>
            <a:r>
              <a:rPr lang="ko-KR" altLang="en-US" sz="2100" dirty="0">
                <a:solidFill>
                  <a:srgbClr val="D7DFEE"/>
                </a:solidFill>
                <a:latin typeface="Helvetica" pitchFamily="34" charset="0"/>
                <a:ea typeface="Helvetica" pitchFamily="34" charset="-122"/>
                <a:cs typeface="Helvetica" pitchFamily="34" charset="-120"/>
              </a:rPr>
              <a:t>석</a:t>
            </a:r>
            <a:r>
              <a:rPr lang="en-US" sz="2100" dirty="0">
                <a:solidFill>
                  <a:srgbClr val="D7DFEE"/>
                </a:solidFill>
                <a:latin typeface="Helvetica" pitchFamily="34" charset="0"/>
                <a:ea typeface="Helvetica" pitchFamily="34" charset="-122"/>
                <a:cs typeface="Helvetica" pitchFamily="34" charset="-120"/>
              </a:rPr>
              <a:t> UI </a:t>
            </a:r>
            <a:r>
              <a:rPr lang="ko-KR" altLang="en-US" sz="2100" dirty="0">
                <a:solidFill>
                  <a:srgbClr val="D7DFEE"/>
                </a:solidFill>
                <a:latin typeface="Helvetica" pitchFamily="34" charset="0"/>
                <a:ea typeface="Helvetica" pitchFamily="34" charset="-122"/>
                <a:cs typeface="Helvetica" pitchFamily="34" charset="-120"/>
              </a:rPr>
              <a:t>추가</a:t>
            </a:r>
            <a:endParaRPr lang="en-US" sz="2100" dirty="0"/>
          </a:p>
        </p:txBody>
      </p:sp>
      <p:sp>
        <p:nvSpPr>
          <p:cNvPr id="20" name="Shape 18"/>
          <p:cNvSpPr/>
          <p:nvPr/>
        </p:nvSpPr>
        <p:spPr>
          <a:xfrm>
            <a:off x="11982450" y="2740372"/>
            <a:ext cx="5257800" cy="1358205"/>
          </a:xfrm>
          <a:prstGeom prst="roundRect">
            <a:avLst>
              <a:gd name="adj" fmla="val 9818"/>
            </a:avLst>
          </a:prstGeom>
          <a:solidFill>
            <a:srgbClr val="0E1626"/>
          </a:solidFill>
          <a:ln w="9525">
            <a:solidFill>
              <a:srgbClr val="213049"/>
            </a:solidFill>
            <a:prstDash val="solid"/>
          </a:ln>
        </p:spPr>
        <p:txBody>
          <a:bodyPr/>
          <a:lstStyle/>
          <a:p>
            <a:endParaRPr lang="ko-KR" altLang="en-US"/>
          </a:p>
        </p:txBody>
      </p:sp>
      <p:sp>
        <p:nvSpPr>
          <p:cNvPr id="21" name="Text 19"/>
          <p:cNvSpPr/>
          <p:nvPr/>
        </p:nvSpPr>
        <p:spPr>
          <a:xfrm>
            <a:off x="12258675" y="3016597"/>
            <a:ext cx="4846511" cy="32385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FE3D2"/>
                </a:solidFill>
                <a:latin typeface="Courier New" pitchFamily="34" charset="0"/>
                <a:ea typeface="Courier New" pitchFamily="34" charset="-122"/>
                <a:cs typeface="Courier New" pitchFamily="34" charset="-120"/>
              </a:rPr>
              <a:t>플랫폼</a:t>
            </a:r>
            <a:endParaRPr lang="en-US" sz="1800" dirty="0"/>
          </a:p>
        </p:txBody>
      </p:sp>
      <p:sp>
        <p:nvSpPr>
          <p:cNvPr id="22" name="Text 20"/>
          <p:cNvSpPr/>
          <p:nvPr/>
        </p:nvSpPr>
        <p:spPr>
          <a:xfrm>
            <a:off x="12258675" y="3435697"/>
            <a:ext cx="4846511" cy="42475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D7DFEE"/>
                </a:solidFill>
                <a:latin typeface="Helvetica" pitchFamily="34" charset="0"/>
                <a:ea typeface="Helvetica" pitchFamily="34" charset="-122"/>
                <a:cs typeface="Helvetica" pitchFamily="34" charset="-120"/>
              </a:rPr>
              <a:t>APK</a:t>
            </a:r>
            <a:r>
              <a:rPr lang="ko-KR" altLang="en-US" sz="2100" dirty="0">
                <a:solidFill>
                  <a:srgbClr val="D7DFEE"/>
                </a:solidFill>
                <a:latin typeface="Helvetica" pitchFamily="34" charset="0"/>
                <a:ea typeface="Helvetica" pitchFamily="34" charset="-122"/>
                <a:cs typeface="Helvetica" pitchFamily="34" charset="-120"/>
              </a:rPr>
              <a:t>에 이은 </a:t>
            </a:r>
            <a:r>
              <a:rPr lang="en-US" sz="2100" dirty="0">
                <a:solidFill>
                  <a:srgbClr val="D7DFEE"/>
                </a:solidFill>
                <a:latin typeface="Helvetica" pitchFamily="34" charset="0"/>
                <a:ea typeface="Helvetica" pitchFamily="34" charset="-122"/>
                <a:cs typeface="Helvetica" pitchFamily="34" charset="-120"/>
              </a:rPr>
              <a:t>iOS IPA 빌드</a:t>
            </a:r>
            <a:endParaRPr lang="en-US" sz="2100" dirty="0"/>
          </a:p>
        </p:txBody>
      </p:sp>
      <p:sp>
        <p:nvSpPr>
          <p:cNvPr id="26" name="Text 0">
            <a:extLst>
              <a:ext uri="{FF2B5EF4-FFF2-40B4-BE49-F238E27FC236}">
                <a16:creationId xmlns:a16="http://schemas.microsoft.com/office/drawing/2014/main" id="{3CD13987-7A8B-F688-ED9B-7B9635D09BAD}"/>
              </a:ext>
            </a:extLst>
          </p:cNvPr>
          <p:cNvSpPr/>
          <p:nvPr/>
        </p:nvSpPr>
        <p:spPr>
          <a:xfrm>
            <a:off x="1047750" y="771525"/>
            <a:ext cx="47252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kern="0" spc="390" dirty="0">
                <a:solidFill>
                  <a:schemeClr val="bg1"/>
                </a:solidFill>
                <a:latin typeface="Courier New" pitchFamily="34" charset="0"/>
                <a:cs typeface="Courier New" pitchFamily="34" charset="-120"/>
              </a:rPr>
              <a:t>12</a:t>
            </a:r>
            <a:endParaRPr lang="en-US" sz="1950" dirty="0">
              <a:solidFill>
                <a:schemeClr val="bg1"/>
              </a:solidFill>
            </a:endParaRPr>
          </a:p>
        </p:txBody>
      </p:sp>
      <p:sp>
        <p:nvSpPr>
          <p:cNvPr id="28" name="Text 1">
            <a:extLst>
              <a:ext uri="{FF2B5EF4-FFF2-40B4-BE49-F238E27FC236}">
                <a16:creationId xmlns:a16="http://schemas.microsoft.com/office/drawing/2014/main" id="{3A4A80C8-F1FD-6DDD-5E54-68625F4CD303}"/>
              </a:ext>
            </a:extLst>
          </p:cNvPr>
          <p:cNvSpPr/>
          <p:nvPr/>
        </p:nvSpPr>
        <p:spPr>
          <a:xfrm>
            <a:off x="1596479" y="762000"/>
            <a:ext cx="4388011" cy="342900"/>
          </a:xfrm>
          <a:prstGeom prst="rect">
            <a:avLst/>
          </a:prstGeom>
          <a:noFill/>
          <a:ln/>
        </p:spPr>
        <p:txBody>
          <a:bodyPr wrap="square" lIns="25400" tIns="25400" rIns="25400" bIns="25400" rtlCol="0" anchor="t">
            <a:normAutofit lnSpcReduction="10000"/>
          </a:bodyPr>
          <a:lstStyle/>
          <a:p>
            <a:pPr marL="0" indent="0" algn="l">
              <a:buNone/>
            </a:pPr>
            <a:r>
              <a:rPr lang="ko-KR" altLang="en-US" sz="1950" kern="0" spc="390" dirty="0">
                <a:solidFill>
                  <a:srgbClr val="6FE3D2"/>
                </a:solidFill>
                <a:latin typeface="Courier New" pitchFamily="34" charset="0"/>
                <a:cs typeface="Courier New" pitchFamily="34" charset="-120"/>
              </a:rPr>
              <a:t>보완점</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200297"/>
            <a:ext cx="18288000" cy="10287000"/>
          </a:xfrm>
          <a:prstGeom prst="rect">
            <a:avLst/>
          </a:prstGeom>
          <a:solidFill>
            <a:srgbClr val="0C1730"/>
          </a:solidFill>
          <a:ln/>
        </p:spPr>
        <p:txBody>
          <a:bodyPr/>
          <a:lstStyle/>
          <a:p>
            <a:endParaRPr lang="ko-KR" altLang="en-US"/>
          </a:p>
        </p:txBody>
      </p:sp>
      <p:sp>
        <p:nvSpPr>
          <p:cNvPr id="5" name="Text 3"/>
          <p:cNvSpPr/>
          <p:nvPr/>
        </p:nvSpPr>
        <p:spPr>
          <a:xfrm>
            <a:off x="1047750" y="1390650"/>
            <a:ext cx="16678275" cy="952500"/>
          </a:xfrm>
          <a:prstGeom prst="rect">
            <a:avLst/>
          </a:prstGeom>
          <a:noFill/>
          <a:ln/>
        </p:spPr>
        <p:txBody>
          <a:bodyPr wrap="square" lIns="25400" tIns="25400" rIns="25400" bIns="25400" rtlCol="0" anchor="t">
            <a:normAutofit/>
          </a:bodyPr>
          <a:lstStyle/>
          <a:p>
            <a:pPr marL="0" indent="0" algn="l">
              <a:buNone/>
            </a:pPr>
            <a:r>
              <a:rPr lang="en-US" sz="4950" b="1" kern="0" spc="-49" dirty="0" err="1">
                <a:solidFill>
                  <a:srgbClr val="EAEFF7"/>
                </a:solidFill>
                <a:latin typeface="Helvetica" pitchFamily="34" charset="0"/>
                <a:ea typeface="Helvetica" pitchFamily="34" charset="-122"/>
                <a:cs typeface="Helvetica" pitchFamily="34" charset="-120"/>
              </a:rPr>
              <a:t>확장</a:t>
            </a:r>
            <a:r>
              <a:rPr lang="en-US" sz="4950" b="1" kern="0" spc="-49" dirty="0">
                <a:solidFill>
                  <a:srgbClr val="EAEFF7"/>
                </a:solidFill>
                <a:latin typeface="Helvetica" pitchFamily="34" charset="0"/>
                <a:ea typeface="Helvetica" pitchFamily="34" charset="-122"/>
                <a:cs typeface="Helvetica" pitchFamily="34" charset="-120"/>
              </a:rPr>
              <a:t> </a:t>
            </a:r>
            <a:r>
              <a:rPr lang="en-US" sz="4950" b="1" kern="0" spc="-49" dirty="0" err="1">
                <a:solidFill>
                  <a:srgbClr val="EAEFF7"/>
                </a:solidFill>
                <a:latin typeface="Helvetica" pitchFamily="34" charset="0"/>
                <a:ea typeface="Helvetica" pitchFamily="34" charset="-122"/>
                <a:cs typeface="Helvetica" pitchFamily="34" charset="-120"/>
              </a:rPr>
              <a:t>가능성</a:t>
            </a:r>
            <a:r>
              <a:rPr lang="en-US" sz="4950" b="1" kern="0" spc="-49" dirty="0">
                <a:solidFill>
                  <a:srgbClr val="EAEFF7"/>
                </a:solidFill>
                <a:latin typeface="Helvetica" pitchFamily="34" charset="0"/>
                <a:ea typeface="Helvetica" pitchFamily="34" charset="-122"/>
                <a:cs typeface="Helvetica" pitchFamily="34" charset="-120"/>
              </a:rPr>
              <a:t> </a:t>
            </a:r>
            <a:r>
              <a:rPr lang="ko-KR" altLang="en-US" sz="4950" b="1" kern="0" spc="-49" dirty="0">
                <a:solidFill>
                  <a:srgbClr val="EAEFF7"/>
                </a:solidFill>
                <a:latin typeface="Helvetica" pitchFamily="34" charset="0"/>
                <a:ea typeface="Helvetica" pitchFamily="34" charset="-122"/>
                <a:cs typeface="Helvetica" pitchFamily="34" charset="-120"/>
              </a:rPr>
              <a:t>및 </a:t>
            </a:r>
            <a:r>
              <a:rPr lang="en-US" altLang="ko-KR" sz="4950" b="1" kern="0" spc="-49" dirty="0">
                <a:solidFill>
                  <a:srgbClr val="EAEFF7"/>
                </a:solidFill>
                <a:latin typeface="Helvetica" pitchFamily="34" charset="0"/>
                <a:ea typeface="Helvetica" pitchFamily="34" charset="-122"/>
                <a:cs typeface="Helvetica" pitchFamily="34" charset="-120"/>
              </a:rPr>
              <a:t>Q&amp;A </a:t>
            </a:r>
            <a:r>
              <a:rPr lang="ko-KR" altLang="en-US" sz="4950" b="1" kern="0" spc="-49" dirty="0">
                <a:solidFill>
                  <a:srgbClr val="EAEFF7"/>
                </a:solidFill>
                <a:latin typeface="Helvetica" pitchFamily="34" charset="0"/>
                <a:ea typeface="Helvetica" pitchFamily="34" charset="-122"/>
                <a:cs typeface="Helvetica" pitchFamily="34" charset="-120"/>
              </a:rPr>
              <a:t>진행</a:t>
            </a:r>
            <a:endParaRPr lang="en-US" sz="4950" dirty="0"/>
          </a:p>
        </p:txBody>
      </p:sp>
      <p:sp>
        <p:nvSpPr>
          <p:cNvPr id="6" name="Shape 4"/>
          <p:cNvSpPr/>
          <p:nvPr/>
        </p:nvSpPr>
        <p:spPr>
          <a:xfrm>
            <a:off x="1047750" y="2686050"/>
            <a:ext cx="7953375" cy="2319933"/>
          </a:xfrm>
          <a:prstGeom prst="roundRect">
            <a:avLst>
              <a:gd name="adj" fmla="val 5748"/>
            </a:avLst>
          </a:prstGeom>
          <a:solidFill>
            <a:srgbClr val="0E1626"/>
          </a:solidFill>
          <a:ln w="9525">
            <a:solidFill>
              <a:srgbClr val="213049"/>
            </a:solidFill>
            <a:prstDash val="solid"/>
          </a:ln>
        </p:spPr>
        <p:txBody>
          <a:bodyPr/>
          <a:lstStyle/>
          <a:p>
            <a:endParaRPr lang="ko-KR" altLang="en-US"/>
          </a:p>
        </p:txBody>
      </p:sp>
      <p:sp>
        <p:nvSpPr>
          <p:cNvPr id="7" name="Text 5"/>
          <p:cNvSpPr/>
          <p:nvPr/>
        </p:nvSpPr>
        <p:spPr>
          <a:xfrm>
            <a:off x="1362075" y="2962275"/>
            <a:ext cx="7544467" cy="32385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err="1">
                <a:solidFill>
                  <a:srgbClr val="6FE3D2"/>
                </a:solidFill>
                <a:latin typeface="Courier New" pitchFamily="34" charset="0"/>
                <a:ea typeface="Courier New" pitchFamily="34" charset="-122"/>
                <a:cs typeface="Courier New" pitchFamily="34" charset="-120"/>
              </a:rPr>
              <a:t>수직</a:t>
            </a:r>
            <a:r>
              <a:rPr lang="en-US" sz="1800" kern="0" spc="180" dirty="0">
                <a:solidFill>
                  <a:srgbClr val="6FE3D2"/>
                </a:solidFill>
                <a:latin typeface="Courier New" pitchFamily="34" charset="0"/>
                <a:ea typeface="Courier New" pitchFamily="34" charset="-122"/>
                <a:cs typeface="Courier New" pitchFamily="34" charset="-120"/>
              </a:rPr>
              <a:t> </a:t>
            </a:r>
            <a:r>
              <a:rPr lang="ko-KR" altLang="en-US" sz="1800" kern="0" spc="180" dirty="0">
                <a:solidFill>
                  <a:srgbClr val="6FE3D2"/>
                </a:solidFill>
                <a:latin typeface="Courier New" pitchFamily="34" charset="0"/>
                <a:ea typeface="Courier New" pitchFamily="34" charset="-122"/>
                <a:cs typeface="Courier New" pitchFamily="34" charset="-120"/>
              </a:rPr>
              <a:t>확장성</a:t>
            </a:r>
            <a:r>
              <a:rPr lang="en-US" altLang="ko-KR" sz="1800" kern="0" spc="180" dirty="0">
                <a:solidFill>
                  <a:srgbClr val="6FE3D2"/>
                </a:solidFill>
                <a:latin typeface="Courier New" pitchFamily="34" charset="0"/>
                <a:ea typeface="Courier New" pitchFamily="34" charset="-122"/>
                <a:cs typeface="Courier New" pitchFamily="34" charset="-120"/>
              </a:rPr>
              <a:t>(</a:t>
            </a:r>
            <a:r>
              <a:rPr lang="ko-KR" altLang="en-US" sz="1800" kern="0" spc="180" dirty="0">
                <a:solidFill>
                  <a:srgbClr val="6FE3D2"/>
                </a:solidFill>
                <a:latin typeface="Courier New" pitchFamily="34" charset="0"/>
                <a:ea typeface="Courier New" pitchFamily="34" charset="-122"/>
                <a:cs typeface="Courier New" pitchFamily="34" charset="-120"/>
              </a:rPr>
              <a:t>기능 심화</a:t>
            </a:r>
            <a:r>
              <a:rPr lang="en-US" altLang="ko-KR" sz="1800" kern="0" spc="180" dirty="0">
                <a:solidFill>
                  <a:srgbClr val="6FE3D2"/>
                </a:solidFill>
                <a:latin typeface="Courier New" pitchFamily="34" charset="0"/>
                <a:ea typeface="Courier New" pitchFamily="34" charset="-122"/>
                <a:cs typeface="Courier New" pitchFamily="34" charset="-120"/>
              </a:rPr>
              <a:t>)</a:t>
            </a:r>
            <a:endParaRPr lang="en-US" sz="1800" dirty="0"/>
          </a:p>
        </p:txBody>
      </p:sp>
      <p:sp>
        <p:nvSpPr>
          <p:cNvPr id="8" name="Text 6"/>
          <p:cNvSpPr/>
          <p:nvPr/>
        </p:nvSpPr>
        <p:spPr>
          <a:xfrm>
            <a:off x="1362074" y="3552944"/>
            <a:ext cx="7544467"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D7DFEE"/>
                </a:solidFill>
                <a:latin typeface="Helvetica" pitchFamily="34" charset="0"/>
                <a:ea typeface="Helvetica" pitchFamily="34" charset="-122"/>
                <a:cs typeface="Helvetica" pitchFamily="34" charset="-120"/>
              </a:rPr>
              <a:t>· </a:t>
            </a:r>
            <a:r>
              <a:rPr lang="ko-KR" altLang="en-US" sz="2100" dirty="0">
                <a:solidFill>
                  <a:srgbClr val="D7DFEE"/>
                </a:solidFill>
                <a:latin typeface="Helvetica" pitchFamily="34" charset="0"/>
                <a:ea typeface="Helvetica" pitchFamily="34" charset="-122"/>
                <a:cs typeface="Helvetica" pitchFamily="34" charset="-120"/>
              </a:rPr>
              <a:t>여러 유저들의 현재 </a:t>
            </a:r>
            <a:r>
              <a:rPr lang="en-US" sz="2100" dirty="0">
                <a:solidFill>
                  <a:srgbClr val="D7DFEE"/>
                </a:solidFill>
                <a:latin typeface="Helvetica" pitchFamily="34" charset="0"/>
                <a:ea typeface="Helvetica" pitchFamily="34" charset="-122"/>
                <a:cs typeface="Helvetica" pitchFamily="34" charset="-120"/>
              </a:rPr>
              <a:t>Focus Score</a:t>
            </a:r>
            <a:r>
              <a:rPr lang="ko-KR" altLang="en-US" sz="2100" dirty="0">
                <a:solidFill>
                  <a:srgbClr val="D7DFEE"/>
                </a:solidFill>
                <a:latin typeface="Helvetica" pitchFamily="34" charset="0"/>
                <a:ea typeface="Helvetica" pitchFamily="34" charset="-122"/>
                <a:cs typeface="Helvetica" pitchFamily="34" charset="-120"/>
              </a:rPr>
              <a:t>를 확인</a:t>
            </a:r>
            <a:r>
              <a:rPr lang="en-US" altLang="ko-KR" sz="2100" dirty="0">
                <a:solidFill>
                  <a:srgbClr val="D7DFEE"/>
                </a:solidFill>
                <a:latin typeface="Helvetica" pitchFamily="34" charset="0"/>
                <a:ea typeface="Helvetica" pitchFamily="34" charset="-122"/>
                <a:cs typeface="Helvetica" pitchFamily="34" charset="-120"/>
              </a:rPr>
              <a:t>/ </a:t>
            </a:r>
            <a:r>
              <a:rPr lang="ko-KR" altLang="en-US" sz="2100" dirty="0">
                <a:solidFill>
                  <a:srgbClr val="D7DFEE"/>
                </a:solidFill>
                <a:latin typeface="Helvetica" pitchFamily="34" charset="0"/>
                <a:ea typeface="Helvetica" pitchFamily="34" charset="-122"/>
                <a:cs typeface="Helvetica" pitchFamily="34" charset="-120"/>
              </a:rPr>
              <a:t>개인의 </a:t>
            </a:r>
            <a:r>
              <a:rPr lang="en-US" sz="2100" dirty="0" err="1">
                <a:solidFill>
                  <a:srgbClr val="D7DFEE"/>
                </a:solidFill>
                <a:latin typeface="Helvetica" pitchFamily="34" charset="0"/>
                <a:ea typeface="Helvetica" pitchFamily="34" charset="-122"/>
                <a:cs typeface="Helvetica" pitchFamily="34" charset="-120"/>
              </a:rPr>
              <a:t>주간</a:t>
            </a:r>
            <a:r>
              <a:rPr lang="en-US" sz="2100" dirty="0">
                <a:solidFill>
                  <a:srgbClr val="D7DFEE"/>
                </a:solidFill>
                <a:latin typeface="Helvetica" pitchFamily="34" charset="0"/>
                <a:ea typeface="Helvetica" pitchFamily="34" charset="-122"/>
                <a:cs typeface="Helvetica" pitchFamily="34" charset="-120"/>
              </a:rPr>
              <a:t> 리포트</a:t>
            </a:r>
            <a:endParaRPr lang="en-US" sz="2100" dirty="0"/>
          </a:p>
        </p:txBody>
      </p:sp>
      <p:sp>
        <p:nvSpPr>
          <p:cNvPr id="10" name="Text 8"/>
          <p:cNvSpPr/>
          <p:nvPr/>
        </p:nvSpPr>
        <p:spPr>
          <a:xfrm>
            <a:off x="1362075" y="4047291"/>
            <a:ext cx="7544467"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D7DFEE"/>
                </a:solidFill>
                <a:latin typeface="Helvetica" pitchFamily="34" charset="0"/>
                <a:ea typeface="Helvetica" pitchFamily="34" charset="-122"/>
                <a:cs typeface="Helvetica" pitchFamily="34" charset="-120"/>
              </a:rPr>
              <a:t>· 집중 모드 ↔ Android</a:t>
            </a:r>
            <a:r>
              <a:rPr lang="ko-KR" altLang="en-US" sz="2100" dirty="0">
                <a:solidFill>
                  <a:srgbClr val="D7DFEE"/>
                </a:solidFill>
                <a:latin typeface="Helvetica" pitchFamily="34" charset="0"/>
                <a:ea typeface="Helvetica" pitchFamily="34" charset="-122"/>
                <a:cs typeface="Helvetica" pitchFamily="34" charset="-120"/>
              </a:rPr>
              <a:t>의</a:t>
            </a:r>
            <a:r>
              <a:rPr lang="en-US" sz="2100" dirty="0">
                <a:solidFill>
                  <a:srgbClr val="D7DFEE"/>
                </a:solidFill>
                <a:latin typeface="Helvetica" pitchFamily="34" charset="0"/>
                <a:ea typeface="Helvetica" pitchFamily="34" charset="-122"/>
                <a:cs typeface="Helvetica" pitchFamily="34" charset="-120"/>
              </a:rPr>
              <a:t> </a:t>
            </a:r>
            <a:r>
              <a:rPr lang="en-US" sz="2100" dirty="0" err="1">
                <a:solidFill>
                  <a:srgbClr val="D7DFEE"/>
                </a:solidFill>
                <a:latin typeface="Helvetica" pitchFamily="34" charset="0"/>
                <a:ea typeface="Helvetica" pitchFamily="34" charset="-122"/>
                <a:cs typeface="Helvetica" pitchFamily="34" charset="-120"/>
              </a:rPr>
              <a:t>방해금지</a:t>
            </a:r>
            <a:r>
              <a:rPr lang="en-US" sz="2100" dirty="0">
                <a:solidFill>
                  <a:srgbClr val="D7DFEE"/>
                </a:solidFill>
                <a:latin typeface="Helvetica" pitchFamily="34" charset="0"/>
                <a:ea typeface="Helvetica" pitchFamily="34" charset="-122"/>
                <a:cs typeface="Helvetica" pitchFamily="34" charset="-120"/>
              </a:rPr>
              <a:t> </a:t>
            </a:r>
            <a:r>
              <a:rPr lang="ko-KR" altLang="en-US" sz="2100" dirty="0">
                <a:solidFill>
                  <a:srgbClr val="D7DFEE"/>
                </a:solidFill>
                <a:latin typeface="Helvetica" pitchFamily="34" charset="0"/>
                <a:ea typeface="Helvetica" pitchFamily="34" charset="-122"/>
                <a:cs typeface="Helvetica" pitchFamily="34" charset="-120"/>
              </a:rPr>
              <a:t>모드와 </a:t>
            </a:r>
            <a:r>
              <a:rPr lang="en-US" sz="2100" dirty="0" err="1">
                <a:solidFill>
                  <a:srgbClr val="D7DFEE"/>
                </a:solidFill>
                <a:latin typeface="Helvetica" pitchFamily="34" charset="0"/>
                <a:ea typeface="Helvetica" pitchFamily="34" charset="-122"/>
                <a:cs typeface="Helvetica" pitchFamily="34" charset="-120"/>
              </a:rPr>
              <a:t>연동</a:t>
            </a:r>
            <a:endParaRPr lang="en-US" sz="2100" dirty="0"/>
          </a:p>
        </p:txBody>
      </p:sp>
      <p:sp>
        <p:nvSpPr>
          <p:cNvPr id="11" name="Shape 9"/>
          <p:cNvSpPr/>
          <p:nvPr/>
        </p:nvSpPr>
        <p:spPr>
          <a:xfrm>
            <a:off x="9286875" y="2686050"/>
            <a:ext cx="7953375" cy="2319933"/>
          </a:xfrm>
          <a:prstGeom prst="roundRect">
            <a:avLst>
              <a:gd name="adj" fmla="val 5748"/>
            </a:avLst>
          </a:prstGeom>
          <a:solidFill>
            <a:srgbClr val="0E1626"/>
          </a:solidFill>
          <a:ln w="9525">
            <a:solidFill>
              <a:srgbClr val="213049"/>
            </a:solidFill>
            <a:prstDash val="solid"/>
          </a:ln>
        </p:spPr>
        <p:txBody>
          <a:bodyPr/>
          <a:lstStyle/>
          <a:p>
            <a:endParaRPr lang="ko-KR" altLang="en-US"/>
          </a:p>
        </p:txBody>
      </p:sp>
      <p:sp>
        <p:nvSpPr>
          <p:cNvPr id="12" name="Text 10"/>
          <p:cNvSpPr/>
          <p:nvPr/>
        </p:nvSpPr>
        <p:spPr>
          <a:xfrm>
            <a:off x="9601200" y="2962275"/>
            <a:ext cx="7544467" cy="323850"/>
          </a:xfrm>
          <a:prstGeom prst="rect">
            <a:avLst/>
          </a:prstGeom>
          <a:noFill/>
          <a:ln/>
        </p:spPr>
        <p:txBody>
          <a:bodyPr wrap="square" lIns="25400" tIns="25400" rIns="25400" bIns="25400" rtlCol="0" anchor="t">
            <a:normAutofit lnSpcReduction="10000"/>
          </a:bodyPr>
          <a:lstStyle/>
          <a:p>
            <a:pPr marL="0" indent="0" algn="l">
              <a:buNone/>
            </a:pPr>
            <a:r>
              <a:rPr lang="en-US" sz="1800" kern="0" spc="180" dirty="0">
                <a:solidFill>
                  <a:srgbClr val="6FE3D2"/>
                </a:solidFill>
                <a:latin typeface="Courier New" pitchFamily="34" charset="0"/>
                <a:ea typeface="Courier New" pitchFamily="34" charset="-122"/>
                <a:cs typeface="Courier New" pitchFamily="34" charset="-120"/>
              </a:rPr>
              <a:t>수</a:t>
            </a:r>
            <a:r>
              <a:rPr lang="ko-KR" altLang="en-US" sz="1800" kern="0" spc="180" dirty="0">
                <a:solidFill>
                  <a:srgbClr val="6FE3D2"/>
                </a:solidFill>
                <a:latin typeface="Courier New" pitchFamily="34" charset="0"/>
                <a:ea typeface="Courier New" pitchFamily="34" charset="-122"/>
                <a:cs typeface="Courier New" pitchFamily="34" charset="-120"/>
              </a:rPr>
              <a:t>평 확장성</a:t>
            </a:r>
            <a:r>
              <a:rPr lang="en-US" altLang="ko-KR" sz="1800" kern="0" spc="180" dirty="0">
                <a:solidFill>
                  <a:srgbClr val="6FE3D2"/>
                </a:solidFill>
                <a:latin typeface="Courier New" pitchFamily="34" charset="0"/>
                <a:ea typeface="Courier New" pitchFamily="34" charset="-122"/>
                <a:cs typeface="Courier New" pitchFamily="34" charset="-120"/>
              </a:rPr>
              <a:t>(</a:t>
            </a:r>
            <a:r>
              <a:rPr lang="ko-KR" altLang="en-US" sz="1800" kern="0" spc="180" dirty="0">
                <a:solidFill>
                  <a:srgbClr val="6FE3D2"/>
                </a:solidFill>
                <a:latin typeface="Courier New" pitchFamily="34" charset="0"/>
                <a:ea typeface="Courier New" pitchFamily="34" charset="-122"/>
                <a:cs typeface="Courier New" pitchFamily="34" charset="-120"/>
              </a:rPr>
              <a:t>현재 기능 활용</a:t>
            </a:r>
            <a:r>
              <a:rPr lang="en-US" sz="1800" kern="0" spc="180" dirty="0">
                <a:solidFill>
                  <a:srgbClr val="6FE3D2"/>
                </a:solidFill>
                <a:latin typeface="Courier New" pitchFamily="34" charset="0"/>
                <a:ea typeface="Courier New" pitchFamily="34" charset="-122"/>
                <a:cs typeface="Courier New" pitchFamily="34" charset="-120"/>
              </a:rPr>
              <a:t>)</a:t>
            </a:r>
            <a:endParaRPr lang="en-US" sz="1800" dirty="0"/>
          </a:p>
        </p:txBody>
      </p:sp>
      <p:sp>
        <p:nvSpPr>
          <p:cNvPr id="15" name="Text 13"/>
          <p:cNvSpPr/>
          <p:nvPr/>
        </p:nvSpPr>
        <p:spPr>
          <a:xfrm>
            <a:off x="9601199" y="3841611"/>
            <a:ext cx="7544467"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D7DFEE"/>
                </a:solidFill>
                <a:latin typeface="Helvetica" pitchFamily="34" charset="0"/>
                <a:ea typeface="Helvetica" pitchFamily="34" charset="-122"/>
                <a:cs typeface="Helvetica" pitchFamily="34" charset="-120"/>
              </a:rPr>
              <a:t>· 시설용 익명 환경 맵 · 좌석 추천</a:t>
            </a:r>
            <a:endParaRPr lang="en-US" sz="2100" dirty="0"/>
          </a:p>
        </p:txBody>
      </p:sp>
      <p:sp>
        <p:nvSpPr>
          <p:cNvPr id="18" name="Text 16"/>
          <p:cNvSpPr/>
          <p:nvPr/>
        </p:nvSpPr>
        <p:spPr>
          <a:xfrm>
            <a:off x="7377884" y="7542501"/>
            <a:ext cx="3532231" cy="1526453"/>
          </a:xfrm>
          <a:prstGeom prst="rect">
            <a:avLst/>
          </a:prstGeom>
          <a:noFill/>
          <a:ln/>
        </p:spPr>
        <p:txBody>
          <a:bodyPr wrap="square" lIns="25400" tIns="25400" rIns="25400" bIns="25400" rtlCol="0" anchor="t">
            <a:normAutofit/>
          </a:bodyPr>
          <a:lstStyle/>
          <a:p>
            <a:pPr marL="0" indent="0" algn="l">
              <a:buNone/>
            </a:pPr>
            <a:r>
              <a:rPr lang="en-US" sz="9600" b="1" kern="0" spc="-40" dirty="0">
                <a:solidFill>
                  <a:srgbClr val="EAEFF7"/>
                </a:solidFill>
                <a:latin typeface="Helvetica" pitchFamily="34" charset="0"/>
                <a:ea typeface="Helvetica" pitchFamily="34" charset="-122"/>
                <a:cs typeface="Helvetica" pitchFamily="34" charset="-120"/>
              </a:rPr>
              <a:t>Q &amp; A </a:t>
            </a:r>
            <a:endParaRPr lang="en-US" sz="9600" dirty="0"/>
          </a:p>
        </p:txBody>
      </p:sp>
      <p:sp>
        <p:nvSpPr>
          <p:cNvPr id="23" name="Text 0">
            <a:extLst>
              <a:ext uri="{FF2B5EF4-FFF2-40B4-BE49-F238E27FC236}">
                <a16:creationId xmlns:a16="http://schemas.microsoft.com/office/drawing/2014/main" id="{6C5F1E1E-5E18-6DF8-37C5-8FED3E71849C}"/>
              </a:ext>
            </a:extLst>
          </p:cNvPr>
          <p:cNvSpPr/>
          <p:nvPr/>
        </p:nvSpPr>
        <p:spPr>
          <a:xfrm>
            <a:off x="1047750" y="771525"/>
            <a:ext cx="47252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kern="0" spc="390" dirty="0">
                <a:solidFill>
                  <a:schemeClr val="bg1"/>
                </a:solidFill>
                <a:latin typeface="Courier New" pitchFamily="34" charset="0"/>
                <a:cs typeface="Courier New" pitchFamily="34" charset="-120"/>
              </a:rPr>
              <a:t>13</a:t>
            </a:r>
          </a:p>
        </p:txBody>
      </p:sp>
      <p:sp>
        <p:nvSpPr>
          <p:cNvPr id="25" name="Text 1">
            <a:extLst>
              <a:ext uri="{FF2B5EF4-FFF2-40B4-BE49-F238E27FC236}">
                <a16:creationId xmlns:a16="http://schemas.microsoft.com/office/drawing/2014/main" id="{5CEBDFEC-AC45-C3F3-DB52-7C101D0C06A3}"/>
              </a:ext>
            </a:extLst>
          </p:cNvPr>
          <p:cNvSpPr/>
          <p:nvPr/>
        </p:nvSpPr>
        <p:spPr>
          <a:xfrm>
            <a:off x="1596479" y="762000"/>
            <a:ext cx="4388011" cy="342900"/>
          </a:xfrm>
          <a:prstGeom prst="rect">
            <a:avLst/>
          </a:prstGeom>
          <a:noFill/>
          <a:ln/>
        </p:spPr>
        <p:txBody>
          <a:bodyPr wrap="square" lIns="25400" tIns="25400" rIns="25400" bIns="25400" rtlCol="0" anchor="t">
            <a:normAutofit lnSpcReduction="10000"/>
          </a:bodyPr>
          <a:lstStyle/>
          <a:p>
            <a:pPr marL="0" indent="0" algn="l">
              <a:buNone/>
            </a:pPr>
            <a:r>
              <a:rPr lang="ko-KR" altLang="en-US" sz="1950" kern="0" spc="390" dirty="0">
                <a:solidFill>
                  <a:srgbClr val="6FE3D2"/>
                </a:solidFill>
                <a:latin typeface="Courier New" pitchFamily="34" charset="0"/>
                <a:cs typeface="Courier New" pitchFamily="34" charset="-120"/>
              </a:rPr>
              <a:t>확장 가능성</a:t>
            </a:r>
            <a:endParaRPr lang="en-US" sz="1950" dirty="0"/>
          </a:p>
        </p:txBody>
      </p:sp>
      <p:sp>
        <p:nvSpPr>
          <p:cNvPr id="26" name="Text 16">
            <a:extLst>
              <a:ext uri="{FF2B5EF4-FFF2-40B4-BE49-F238E27FC236}">
                <a16:creationId xmlns:a16="http://schemas.microsoft.com/office/drawing/2014/main" id="{3173CF9F-949A-A48E-9574-9D88592A32FC}"/>
              </a:ext>
            </a:extLst>
          </p:cNvPr>
          <p:cNvSpPr/>
          <p:nvPr/>
        </p:nvSpPr>
        <p:spPr>
          <a:xfrm>
            <a:off x="4170453" y="5499179"/>
            <a:ext cx="10432868" cy="1526453"/>
          </a:xfrm>
          <a:prstGeom prst="rect">
            <a:avLst/>
          </a:prstGeom>
          <a:noFill/>
          <a:ln/>
        </p:spPr>
        <p:txBody>
          <a:bodyPr wrap="square" lIns="25400" tIns="25400" rIns="25400" bIns="25400" rtlCol="0" anchor="t">
            <a:normAutofit/>
          </a:bodyPr>
          <a:lstStyle/>
          <a:p>
            <a:pPr marL="0" indent="0" algn="l">
              <a:buNone/>
            </a:pPr>
            <a:r>
              <a:rPr lang="ko-KR" altLang="en-US" sz="9600" b="1" kern="0" spc="-40" dirty="0">
                <a:solidFill>
                  <a:srgbClr val="EAEFF7"/>
                </a:solidFill>
                <a:latin typeface="Helvetica" pitchFamily="34" charset="0"/>
                <a:ea typeface="Helvetica" pitchFamily="34" charset="-122"/>
                <a:cs typeface="Helvetica" pitchFamily="34" charset="-120"/>
              </a:rPr>
              <a:t>발표 마치겠습니다</a:t>
            </a:r>
            <a:r>
              <a:rPr lang="en-US" altLang="ko-KR" sz="9600" b="1" kern="0" spc="-40" dirty="0">
                <a:solidFill>
                  <a:srgbClr val="EAEFF7"/>
                </a:solidFill>
                <a:latin typeface="Helvetica" pitchFamily="34" charset="0"/>
                <a:ea typeface="Helvetica" pitchFamily="34" charset="-122"/>
                <a:cs typeface="Helvetica" pitchFamily="34" charset="-120"/>
              </a:rPr>
              <a:t>.</a:t>
            </a:r>
            <a:endParaRPr lang="en-US" sz="9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TotalTime>
  <Words>1796</Words>
  <Application>Microsoft Office PowerPoint</Application>
  <PresentationFormat>사용자 지정</PresentationFormat>
  <Paragraphs>210</Paragraphs>
  <Slides>13</Slides>
  <Notes>13</Notes>
  <HiddenSlides>0</HiddenSlides>
  <MMClips>2</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13</vt:i4>
      </vt:variant>
    </vt:vector>
  </HeadingPairs>
  <TitlesOfParts>
    <vt:vector size="17" baseType="lpstr">
      <vt:lpstr>Arial</vt:lpstr>
      <vt:lpstr>Courier New</vt:lpstr>
      <vt:lpstr>Helvetica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박종혁</cp:lastModifiedBy>
  <cp:revision>5</cp:revision>
  <dcterms:created xsi:type="dcterms:W3CDTF">2026-06-14T07:41:22Z</dcterms:created>
  <dcterms:modified xsi:type="dcterms:W3CDTF">2026-06-14T13:51:09Z</dcterms:modified>
</cp:coreProperties>
</file>